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3"/>
  </p:notesMasterIdLst>
  <p:sldIdLst>
    <p:sldId id="2146848385" r:id="rId5"/>
    <p:sldId id="257" r:id="rId6"/>
    <p:sldId id="2146848405" r:id="rId7"/>
    <p:sldId id="2146848403" r:id="rId8"/>
    <p:sldId id="281" r:id="rId9"/>
    <p:sldId id="259" r:id="rId10"/>
    <p:sldId id="260" r:id="rId11"/>
    <p:sldId id="2146848429" r:id="rId12"/>
    <p:sldId id="2146848430" r:id="rId13"/>
    <p:sldId id="2146848431" r:id="rId14"/>
    <p:sldId id="2146848432" r:id="rId15"/>
    <p:sldId id="2146848434" r:id="rId16"/>
    <p:sldId id="2146848435" r:id="rId17"/>
    <p:sldId id="2146848436" r:id="rId18"/>
    <p:sldId id="2146848406" r:id="rId19"/>
    <p:sldId id="261" r:id="rId20"/>
    <p:sldId id="262" r:id="rId21"/>
    <p:sldId id="264" r:id="rId22"/>
    <p:sldId id="2146848407" r:id="rId23"/>
    <p:sldId id="2146848408" r:id="rId24"/>
    <p:sldId id="2146848409" r:id="rId25"/>
    <p:sldId id="2146848411" r:id="rId26"/>
    <p:sldId id="2146848412" r:id="rId27"/>
    <p:sldId id="2146848413" r:id="rId28"/>
    <p:sldId id="2146848414" r:id="rId29"/>
    <p:sldId id="352" r:id="rId30"/>
    <p:sldId id="2146848415" r:id="rId31"/>
    <p:sldId id="2146848416" r:id="rId32"/>
    <p:sldId id="2146848417" r:id="rId33"/>
    <p:sldId id="288" r:id="rId34"/>
    <p:sldId id="353" r:id="rId35"/>
    <p:sldId id="356" r:id="rId36"/>
    <p:sldId id="293" r:id="rId37"/>
    <p:sldId id="2146848418" r:id="rId38"/>
    <p:sldId id="2146848419" r:id="rId39"/>
    <p:sldId id="2146848420" r:id="rId40"/>
    <p:sldId id="2146848421" r:id="rId41"/>
    <p:sldId id="2146848422" r:id="rId42"/>
    <p:sldId id="2146848423" r:id="rId43"/>
    <p:sldId id="2146848424" r:id="rId44"/>
    <p:sldId id="2146848425" r:id="rId45"/>
    <p:sldId id="2146848426" r:id="rId46"/>
    <p:sldId id="2146848427" r:id="rId47"/>
    <p:sldId id="303" r:id="rId48"/>
    <p:sldId id="360" r:id="rId49"/>
    <p:sldId id="2146848428" r:id="rId50"/>
    <p:sldId id="282" r:id="rId51"/>
    <p:sldId id="271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  <a:srgbClr val="303030"/>
    <a:srgbClr val="E15C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2"/>
    <p:restoredTop sz="94648"/>
  </p:normalViewPr>
  <p:slideViewPr>
    <p:cSldViewPr snapToGrid="0">
      <p:cViewPr varScale="1">
        <p:scale>
          <a:sx n="103" d="100"/>
          <a:sy n="103" d="100"/>
        </p:scale>
        <p:origin x="81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48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4EAA0-24A3-ED10-3252-9C497892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BF068-C920-E5AC-C9D2-A30A7D064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A8423-EA99-F16C-B5CF-19542711B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729DB-E259-5907-0ACB-267BFCCB6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12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148CE-927E-3962-FD2F-2168E882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9EB21-83F0-146F-8097-1BFEE560B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00D15-464B-8BCF-9157-A5CBAF1CF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D021E-534D-4F3C-C946-8F276E1B57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52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88CED-C1C7-694B-B50A-AADD51C15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AB5D7-CE14-5301-7A61-E93A3728E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67F77-98AC-6154-DE8E-217A63D59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2E3D9-3B70-E8FC-F583-42FAC17AE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7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0985-77F6-97A2-EA33-1E3BA5DD1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E0009-D31D-33C3-BA6B-AF0D26552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3081D-C63E-EC48-C3FC-0DAD0AEC7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85E88-EFEB-B2E9-205E-779F320EE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8AD90-E37D-6A0E-84CC-55F6EF57F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1765A-6F78-6799-D616-14B67CC92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0A361-69FD-C40D-9B6A-F19CFAC0C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775A4-7A6F-D89B-5672-7DBBB9253D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82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17C02-96CE-A33E-1DC5-DE0BD236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32173-5B93-1837-3BE9-10D18162D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5C018-0F3A-8FF8-C971-4E4A19682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5AACF-5C72-E4B5-6B54-57F11B091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28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AE2CD-91B6-089A-AA3B-300E05D4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22FAE-7AF9-32E8-71BA-518B14797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6CBBB-1DB2-7146-4596-C52D3DB4A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37AF5-675F-8F8B-FFC3-B2BCB9F0F0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62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C9B14-659C-0818-977D-96C69009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E9A10-5777-C14A-F89B-094007902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EBF90-AAAD-D733-81CC-ED8090699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06DBC-10BC-AA0B-8F95-0E6F321AB9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9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D2542-0A07-F994-1B50-789C191DA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19952-7CF9-A317-2DCC-3A476C61C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F50B2-220F-DCE2-7FA8-1E25B8227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5952C-02B9-32B4-4643-BD83FBECEC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6E47-83B9-5AFB-DE7C-74B11718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67851-29AA-F67E-8A70-26C977594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D5E4C-1828-00E5-EAAD-78B9212E8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CFF20-4FAE-7EFF-0512-6398484801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762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84193-E4C3-863E-0830-B65C5B4F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2DA7A-8663-95DA-10ED-22BC8BB20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15168D-5E6A-A392-A271-B2EA034AC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CD11E-D68D-ABD1-D4CD-2A76522DCB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79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1FD79-C0F4-93FD-74F3-14D3F323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4DEC3-8B8F-7C33-0A45-79F0982FA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7F1FA-D662-D313-B120-BCA24F7F3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C3908-24B1-DF40-FAB4-EDFB4BC56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15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DB3C1-61B7-8831-0054-F35D2AFF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2EDE1-4A7B-0950-074A-3C123824A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D6D85-72BC-9C94-009F-15BE26E1C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10354-9B1B-4B34-74BB-EBA8BB49C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345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36E0E-453E-E4BB-E716-5C4DD05E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B85CD-B641-F727-9F1A-0A28B6BD3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CCE30-365D-0928-D613-AEE9F42B3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BB4B7-8572-0D7F-372B-66C5A381F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499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62853-8A47-0A18-2872-BC61267E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5DBF0-4431-0061-7601-BC7D80D46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DE459-E891-0039-8B33-969EF356D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CAD17-98A6-C3B9-319D-01CCE17A9E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114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C54D-F9B7-0C81-68B3-EF8023851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24C18-3F1D-E131-FFF0-D3DC0B4CA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21496-ED6F-8DD9-8FD3-BE2351B87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B4F40-02CE-1A2D-B950-4B67EA0C4E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49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61C8-877E-3C3F-91C8-3685D99F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D003A-B7BC-7920-6853-64CE52F6B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69851-4B43-F241-3871-26BF83A6A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0D265-834B-B615-4E98-84AEAAA8A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947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BB6D-C3CE-31FA-364D-E98C57161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436E1-4717-3C39-8207-1447C7B99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84253-E0AF-7838-5B07-99F2B3021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15A2C-E38A-B635-1E3B-2F0F8E2E51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334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98FD5-139B-1773-104A-71168203F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19B2C-7E34-CDFF-0FD5-AD4CAE515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5C7E2-7811-EDD2-1E58-0A4AD51CB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22523-9897-2D32-A3F7-2E76F1A5B9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27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E57ED-5F7A-4A87-C203-CBCFD264A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929652-5780-3CBB-5EE4-0359A7C4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3571B-7664-19F3-581A-863430D74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D422D-9A06-154E-271D-5CD35D6169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194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6FC47-6D13-4CE7-1C0A-3C6E72A93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969FF-9C9B-BBA9-7900-4782B1766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EFA82-4886-E113-BE0A-95293D779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2C781-DA42-A619-CB7B-C4FEB85636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970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F6D05-F76E-4050-A74C-A125FD38A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7D4E1-8157-C0C0-A86C-B111B7F67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4128A-C8D9-A5A3-DF9A-5B49131D0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479CF-5BB2-E19D-EBCE-501CD4F327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031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EC4E-8875-225E-421E-8AFECF04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8BA48-E4D5-928F-9B9F-6E017D3C9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1B054-023B-1091-D64F-89A502A12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DD09B-3F41-7443-1BF6-677D2DAD22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67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15D57-6F2E-7622-5683-724E046F5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2031A-2D28-43D3-2ADE-1F2F4188B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488DA-EB08-CFE6-46DF-439D726F6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1836D-A32A-1452-5E7C-E63E83E3BC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586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779B-FBAF-2D63-0233-8CFDE6D4E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0B7A4-4E04-19A1-5CCC-0289423E6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18814-B5D8-7E74-CFA1-105E3A588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C1782-545B-95C4-6264-BD23B8898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987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32CCF-FAD8-2416-2D04-1273274C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8852F-F677-CCA1-DCAE-5376F5D41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22692-0671-D2F3-048F-3021686A6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45DC4-B88E-74CF-37C6-A0D0CD1F3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336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B5505-C56E-BB4D-55AF-B9FC09AC0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44537-FAA4-7BF5-B8F4-49F78480C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D7599-996F-CF70-EA3C-EC3F49DC3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537AC-0693-F596-EA3F-6DB3F8F810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8970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E2628-313C-C972-0C7C-99BB1A42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CFBCE-8D8F-3276-0FF6-8B9C99B4C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28871-53F9-8F39-C110-3BF25E7F3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6484B-656B-6E47-D3CA-3335CA5B6B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865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884F-A51E-1BC8-DED1-704DDAE2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DE890-624D-B6AC-6B15-D296A24D3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38F0C-51DC-51D5-9B89-7229B69DA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D2CF7-5663-FA9A-11BC-ADC31BFE5B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927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22AA-2FCB-3718-A5F0-93CC18CA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43DBD-98AD-2D5C-1337-06ED284B9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DFFA4-9B92-EE53-7CE4-51EF2A88D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C70B1-C7D6-9CE0-2C53-5593A78E1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461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1CA24-2888-FFD9-ABF5-B4DE1F2CB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05AE9B-628B-154C-CC6B-073389080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322D0-F93A-D558-2A16-DEF08535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4943C-FA30-254A-E70D-3710A850F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041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C74BC-B10E-C232-051B-716D0C811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DAE613-B5E3-140C-BBE4-B603C5EB5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274502-FE05-29CE-A9A0-A22A8BD9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EFC3-7612-49A0-A901-8DF5B27F5792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48B9BA-2E93-5968-9F3F-C2CAA88EB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1CA021-AB8C-8600-BDAE-F0481546A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A8C5D-6781-4BBA-97F1-88794B4C8FD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715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88525" y="0"/>
            <a:ext cx="5555615" cy="5143500"/>
          </a:xfrm>
          <a:custGeom>
            <a:avLst/>
            <a:gdLst/>
            <a:ahLst/>
            <a:cxnLst/>
            <a:rect l="l" t="t" r="r" b="b"/>
            <a:pathLst>
              <a:path w="5555615" h="5143500">
                <a:moveTo>
                  <a:pt x="55553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5555399" y="0"/>
                </a:lnTo>
                <a:lnTo>
                  <a:pt x="55553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1523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nacio-reyes-vazquez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javiplaz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nreyesvazquez/github-actions-edem-2026/blob/main/mi-peli.yaml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actions/reference/workflows-and-actions/events-that-trigger-workflow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actions/reference/workflows-and-actions/contexts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ACE3B-831C-01BE-E42D-7058B8EF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B3DFFBB3-5D07-49B6-74C6-383C77AD5CC2}"/>
              </a:ext>
            </a:extLst>
          </p:cNvPr>
          <p:cNvSpPr/>
          <p:nvPr/>
        </p:nvSpPr>
        <p:spPr>
          <a:xfrm>
            <a:off x="457201" y="2714897"/>
            <a:ext cx="2944678" cy="1492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3600" dirty="0">
                <a:solidFill>
                  <a:schemeClr val="bg1"/>
                </a:solidFill>
              </a:rPr>
              <a:t>GitHub </a:t>
            </a:r>
            <a:r>
              <a:rPr lang="es-ES" sz="3600" dirty="0" err="1">
                <a:solidFill>
                  <a:schemeClr val="bg1"/>
                </a:solidFill>
              </a:rPr>
              <a:t>Actions</a:t>
            </a:r>
            <a:r>
              <a:rPr lang="es-ES" sz="3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BE174E8-A15E-96D5-87E3-79EAF6F54833}"/>
              </a:ext>
            </a:extLst>
          </p:cNvPr>
          <p:cNvSpPr/>
          <p:nvPr/>
        </p:nvSpPr>
        <p:spPr>
          <a:xfrm>
            <a:off x="457200" y="4429397"/>
            <a:ext cx="5486400" cy="18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elegraf, Inter, sans-serif"/>
                <a:ea typeface="Telegraf, Inter, sans-serif"/>
              </a:rPr>
              <a:t>Ignacio Reyes Vázquez, Javier Plaza </a:t>
            </a:r>
            <a:r>
              <a:rPr lang="en-US" sz="1300" dirty="0" err="1">
                <a:solidFill>
                  <a:srgbClr val="FFFFFF"/>
                </a:solidFill>
                <a:latin typeface="Telegraf, Inter, sans-serif"/>
                <a:ea typeface="Telegraf, Inter, sans-serif"/>
              </a:rPr>
              <a:t>Rosique</a:t>
            </a:r>
            <a:endParaRPr lang="en-US" sz="1300" dirty="0">
              <a:latin typeface="Telegraf, Inter, sans-serif"/>
              <a:ea typeface="Telegraf, Inter, sans-serif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5A0E940-E574-DB23-4348-58EE28068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756" y="1288469"/>
            <a:ext cx="3580855" cy="965274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0FC6B119-C59B-36D5-E3F7-9F30859A42F3}"/>
              </a:ext>
            </a:extLst>
          </p:cNvPr>
          <p:cNvSpPr/>
          <p:nvPr/>
        </p:nvSpPr>
        <p:spPr>
          <a:xfrm>
            <a:off x="456452" y="2571750"/>
            <a:ext cx="5486400" cy="3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300" dirty="0" err="1">
                <a:solidFill>
                  <a:srgbClr val="FFFFFF"/>
                </a:solidFill>
                <a:latin typeface="Telegraf"/>
                <a:ea typeface="Telegraf, Inter, sans-serif"/>
              </a:rPr>
              <a:t>Bloque</a:t>
            </a:r>
            <a:r>
              <a:rPr lang="en-US" sz="1300" dirty="0">
                <a:solidFill>
                  <a:srgbClr val="FFFFFF"/>
                </a:solidFill>
                <a:latin typeface="Telegraf"/>
                <a:ea typeface="Telegraf, Inter, sans-serif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Telegraf"/>
                <a:ea typeface="Telegraf, Inter, sans-serif"/>
              </a:rPr>
              <a:t>Fundamentos</a:t>
            </a:r>
            <a:r>
              <a:rPr lang="en-US" sz="1300" dirty="0">
                <a:solidFill>
                  <a:srgbClr val="FFFFFF"/>
                </a:solidFill>
                <a:latin typeface="Telegraf"/>
                <a:ea typeface="Telegraf, Inter, sans-serif"/>
              </a:rPr>
              <a:t>: Git Actions, Docker y SQL</a:t>
            </a:r>
          </a:p>
          <a:p>
            <a:pPr>
              <a:spcAft>
                <a:spcPts val="200"/>
              </a:spcAft>
            </a:pPr>
            <a:endParaRPr lang="en-US" sz="1300" dirty="0">
              <a:solidFill>
                <a:srgbClr val="FFFFFF"/>
              </a:solidFill>
              <a:latin typeface="Telegraf"/>
              <a:ea typeface="Telegraf, Inter, sans-serif"/>
            </a:endParaRPr>
          </a:p>
        </p:txBody>
      </p:sp>
      <p:pic>
        <p:nvPicPr>
          <p:cNvPr id="11" name="Imagen 11">
            <a:extLst>
              <a:ext uri="{FF2B5EF4-FFF2-40B4-BE49-F238E27FC236}">
                <a16:creationId xmlns:a16="http://schemas.microsoft.com/office/drawing/2014/main" id="{232C6874-17A7-EC11-0EC6-71322BBDD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146" r="324" b="40322"/>
          <a:stretch>
            <a:fillRect/>
          </a:stretch>
        </p:blipFill>
        <p:spPr>
          <a:xfrm>
            <a:off x="456452" y="375883"/>
            <a:ext cx="1672468" cy="43163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F98CF2-2D8D-E9FE-A3C1-02247D6721C7}"/>
              </a:ext>
            </a:extLst>
          </p:cNvPr>
          <p:cNvCxnSpPr/>
          <p:nvPr/>
        </p:nvCxnSpPr>
        <p:spPr>
          <a:xfrm flipV="1">
            <a:off x="458196" y="4314499"/>
            <a:ext cx="875763" cy="6439"/>
          </a:xfrm>
          <a:prstGeom prst="straightConnector1">
            <a:avLst/>
          </a:prstGeom>
          <a:ln w="12700">
            <a:solidFill>
              <a:srgbClr val="E15C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4">
            <a:extLst>
              <a:ext uri="{FF2B5EF4-FFF2-40B4-BE49-F238E27FC236}">
                <a16:creationId xmlns:a16="http://schemas.microsoft.com/office/drawing/2014/main" id="{B0000870-533C-C77D-67C1-AAD9F527FCDA}"/>
              </a:ext>
            </a:extLst>
          </p:cNvPr>
          <p:cNvSpPr/>
          <p:nvPr/>
        </p:nvSpPr>
        <p:spPr>
          <a:xfrm>
            <a:off x="6068785" y="374471"/>
            <a:ext cx="2705100" cy="53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200"/>
              </a:spcAft>
            </a:pPr>
            <a:r>
              <a:rPr lang="en-US" sz="1000" dirty="0">
                <a:solidFill>
                  <a:schemeClr val="bg1"/>
                </a:solidFill>
                <a:latin typeface="Telegraf"/>
                <a:ea typeface="Telegraf, Inter, sans-serif"/>
              </a:rPr>
              <a:t>MÁSTER EN IA, BIG DATA Y CLOUD</a:t>
            </a:r>
            <a:endParaRPr lang="en-US" sz="1000" dirty="0">
              <a:solidFill>
                <a:schemeClr val="bg1"/>
              </a:solidFill>
              <a:latin typeface="Telegraf"/>
              <a:ea typeface="Calibri" panose="020F0502020204030204"/>
              <a:cs typeface="Calibri" panose="020F0502020204030204"/>
            </a:endParaRPr>
          </a:p>
          <a:p>
            <a:pPr algn="r">
              <a:spcAft>
                <a:spcPts val="200"/>
              </a:spcAft>
            </a:pPr>
            <a:r>
              <a:rPr lang="en-US" sz="1000" dirty="0">
                <a:solidFill>
                  <a:schemeClr val="bg1"/>
                </a:solidFill>
                <a:latin typeface="Telegraf"/>
                <a:ea typeface="Telegraf, Inter, sans-serif"/>
              </a:rPr>
              <a:t>8ª EDICIÓN - 2026/2027</a:t>
            </a:r>
          </a:p>
        </p:txBody>
      </p:sp>
    </p:spTree>
    <p:extLst>
      <p:ext uri="{BB962C8B-B14F-4D97-AF65-F5344CB8AC3E}">
        <p14:creationId xmlns:p14="http://schemas.microsoft.com/office/powerpoint/2010/main" val="3845280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207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03030"/>
                </a:solidFill>
                <a:latin typeface="Telegraf"/>
                <a:ea typeface="Telegraf, Inter, sans-serif"/>
                <a:cs typeface="Telegraf, Inter, sans-serif" pitchFamily="34" charset="-120"/>
              </a:rPr>
              <a:t>Ignacio Reyes Vázquez</a:t>
            </a:r>
            <a:endParaRPr lang="en-US" sz="3600" dirty="0">
              <a:solidFill>
                <a:srgbClr val="303030"/>
              </a:solidFill>
              <a:latin typeface="Telegraf"/>
              <a:ea typeface="Telegraf, Inter, sans-serif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83280" y="1276301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Cloud Data Architect</a:t>
            </a:r>
            <a:endParaRPr lang="en-US" sz="1800" dirty="0">
              <a:solidFill>
                <a:srgbClr val="303030"/>
              </a:solidFill>
              <a:latin typeface="Telegraf, Inter, sans-serif"/>
              <a:ea typeface="Telegraf, Inter, sans-serif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83280" y="1642061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89B7"/>
                </a:solidFill>
                <a:latin typeface="Telegraf, Inter, sans-serif"/>
              </a:rPr>
              <a:t>BBVA Technology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053541"/>
            <a:ext cx="45720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82541" y="2190702"/>
            <a:ext cx="5303520" cy="213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>
              <a:buClr>
                <a:schemeClr val="dk1"/>
              </a:buClr>
              <a:buSzPts val="2000"/>
            </a:pPr>
            <a:r>
              <a:rPr lang="en-US" sz="1300" dirty="0" err="1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Máster</a:t>
            </a: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 </a:t>
            </a:r>
            <a:r>
              <a:rPr lang="en-US" sz="1300" dirty="0" err="1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en</a:t>
            </a: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 Project Management (UNIR) 2024-2025</a:t>
            </a:r>
          </a:p>
          <a:p>
            <a:pPr marL="101600">
              <a:buClr>
                <a:schemeClr val="dk1"/>
              </a:buClr>
              <a:buSzPts val="2000"/>
            </a:pPr>
            <a:r>
              <a:rPr lang="en-US" sz="1300" dirty="0" err="1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Máster</a:t>
            </a: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 </a:t>
            </a:r>
            <a:r>
              <a:rPr lang="en-US" sz="1300" dirty="0" err="1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en</a:t>
            </a: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 Data Analytics para la </a:t>
            </a:r>
            <a:r>
              <a:rPr lang="en-US" sz="1300" dirty="0" err="1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Empresa</a:t>
            </a: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 (EDEM) 2023-2024</a:t>
            </a:r>
          </a:p>
          <a:p>
            <a:pPr marL="101600">
              <a:buClr>
                <a:schemeClr val="dk1"/>
              </a:buClr>
              <a:buSzPts val="2000"/>
            </a:pP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Administración y </a:t>
            </a:r>
            <a:r>
              <a:rPr lang="en-US" sz="1300" dirty="0" err="1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Dirección</a:t>
            </a: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 de </a:t>
            </a:r>
            <a:r>
              <a:rPr lang="en-US" sz="1300" dirty="0" err="1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Empresas</a:t>
            </a: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, </a:t>
            </a:r>
            <a:r>
              <a:rPr lang="en-US" sz="1300" dirty="0" err="1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especializado</a:t>
            </a: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 </a:t>
            </a:r>
            <a:r>
              <a:rPr lang="en-US" sz="1300" dirty="0" err="1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en</a:t>
            </a: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 Business Intelligence (UPV) 2019-2023</a:t>
            </a:r>
          </a:p>
          <a:p>
            <a:pPr marL="10160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US" sz="1300" dirty="0">
              <a:solidFill>
                <a:srgbClr val="475569"/>
              </a:solidFill>
              <a:ea typeface="Telegraf, Inter, sans-serif" pitchFamily="34" charset="-122"/>
              <a:sym typeface="Candara"/>
            </a:endParaRPr>
          </a:p>
          <a:p>
            <a:pPr marL="10160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Data Scientist (Beca de </a:t>
            </a:r>
            <a:r>
              <a:rPr lang="en-US" sz="1300" dirty="0" err="1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Colaboración</a:t>
            </a: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 UPV) 2022-2023</a:t>
            </a:r>
          </a:p>
          <a:p>
            <a:pPr marL="10160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Cloud Data Scientist/Data Engineer (NTT DATA) 2023-2024</a:t>
            </a:r>
          </a:p>
          <a:p>
            <a:pPr marL="101600">
              <a:buClr>
                <a:schemeClr val="dk1"/>
              </a:buClr>
              <a:buSzPts val="2000"/>
            </a:pP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</a:rPr>
              <a:t>Cloud Data Architect (BBVA TECHNOLOGY) 2024-Act.</a:t>
            </a:r>
          </a:p>
          <a:p>
            <a:pPr marL="101600">
              <a:buClr>
                <a:schemeClr val="dk1"/>
              </a:buClr>
              <a:buSzPts val="2000"/>
            </a:pPr>
            <a:endParaRPr lang="en-US" sz="1300" dirty="0">
              <a:solidFill>
                <a:srgbClr val="475569"/>
              </a:solidFill>
              <a:ea typeface="Telegraf, Inter, sans-serif" pitchFamily="34" charset="-122"/>
              <a:sym typeface="Candara"/>
              <a:hlinkClick r:id="rId3"/>
            </a:endParaRPr>
          </a:p>
          <a:p>
            <a:pPr marL="101600">
              <a:buClr>
                <a:schemeClr val="dk1"/>
              </a:buClr>
              <a:buSzPts val="2000"/>
            </a:pPr>
            <a:r>
              <a:rPr lang="en-US" sz="1300" dirty="0" err="1">
                <a:solidFill>
                  <a:srgbClr val="475569"/>
                </a:solidFill>
                <a:ea typeface="Telegraf, Inter, sans-serif" pitchFamily="34" charset="-122"/>
                <a:sym typeface="Candara"/>
                <a:hlinkClick r:id="rId3"/>
              </a:rPr>
              <a:t>Linkedin</a:t>
            </a:r>
            <a:r>
              <a:rPr lang="en-US" sz="1300" dirty="0">
                <a:solidFill>
                  <a:srgbClr val="475569"/>
                </a:solidFill>
                <a:ea typeface="Telegraf, Inter, sans-serif" pitchFamily="34" charset="-122"/>
                <a:sym typeface="Candara"/>
                <a:hlinkClick r:id="rId3"/>
              </a:rPr>
              <a:t>: </a:t>
            </a:r>
            <a:r>
              <a:rPr lang="es-ES" sz="1300" dirty="0" err="1">
                <a:solidFill>
                  <a:srgbClr val="475569"/>
                </a:solidFill>
                <a:ea typeface="Telegraf, Inter, sans-serif" pitchFamily="34" charset="-122"/>
                <a:hlinkClick r:id="rId3"/>
              </a:rPr>
              <a:t>www.linkedin.com</a:t>
            </a:r>
            <a:r>
              <a:rPr lang="es-ES" sz="1300" dirty="0">
                <a:solidFill>
                  <a:srgbClr val="475569"/>
                </a:solidFill>
                <a:ea typeface="Telegraf, Inter, sans-serif" pitchFamily="34" charset="-122"/>
                <a:hlinkClick r:id="rId3"/>
              </a:rPr>
              <a:t>/in/</a:t>
            </a:r>
            <a:r>
              <a:rPr lang="es-ES" sz="1300" dirty="0" err="1">
                <a:solidFill>
                  <a:srgbClr val="475569"/>
                </a:solidFill>
                <a:ea typeface="Telegraf, Inter, sans-serif" pitchFamily="34" charset="-122"/>
                <a:hlinkClick r:id="rId3"/>
              </a:rPr>
              <a:t>ignacio</a:t>
            </a:r>
            <a:r>
              <a:rPr lang="es-ES" sz="1300" dirty="0">
                <a:solidFill>
                  <a:srgbClr val="475569"/>
                </a:solidFill>
                <a:ea typeface="Telegraf, Inter, sans-serif" pitchFamily="34" charset="-122"/>
                <a:hlinkClick r:id="rId3"/>
              </a:rPr>
              <a:t>-reyes-vazquez</a:t>
            </a:r>
            <a:endParaRPr lang="en-US" sz="1300" dirty="0">
              <a:solidFill>
                <a:srgbClr val="475569"/>
              </a:solidFill>
              <a:ea typeface="Telegraf, Inter, sans-serif" pitchFamily="34" charset="-122"/>
              <a:sym typeface="Candara"/>
            </a:endParaRPr>
          </a:p>
          <a:p>
            <a:pPr marL="101600">
              <a:buClr>
                <a:schemeClr val="dk1"/>
              </a:buClr>
              <a:buSzPts val="2000"/>
            </a:pPr>
            <a:endParaRPr lang="en-US" sz="1300" dirty="0">
              <a:solidFill>
                <a:srgbClr val="475569"/>
              </a:solidFill>
              <a:ea typeface="Telegraf, Inter, sans-serif" pitchFamily="34" charset="-122"/>
              <a:sym typeface="Candara"/>
            </a:endParaRPr>
          </a:p>
          <a:p>
            <a:pPr marL="101600">
              <a:buClr>
                <a:schemeClr val="dk1"/>
              </a:buClr>
              <a:buSzPts val="2000"/>
            </a:pPr>
            <a:endParaRPr lang="en-US" sz="1300" dirty="0">
              <a:solidFill>
                <a:srgbClr val="475569"/>
              </a:solidFill>
              <a:ea typeface="Telegraf, Inter, sans-serif" pitchFamily="34" charset="-122"/>
              <a:sym typeface="Candara"/>
            </a:endParaRPr>
          </a:p>
          <a:p>
            <a:pPr>
              <a:spcAft>
                <a:spcPts val="400"/>
              </a:spcAft>
            </a:pPr>
            <a:endParaRPr lang="en-US" sz="1300" dirty="0">
              <a:solidFill>
                <a:srgbClr val="475569"/>
              </a:solidFill>
              <a:ea typeface="Telegraf, Inter, sans-serif" pitchFamily="34" charset="-122"/>
              <a:sym typeface="Candara"/>
            </a:endParaRPr>
          </a:p>
          <a:p>
            <a:pPr>
              <a:spcAft>
                <a:spcPts val="400"/>
              </a:spcAft>
            </a:pPr>
            <a:endParaRPr lang="en-US" sz="1300" dirty="0">
              <a:solidFill>
                <a:srgbClr val="475569"/>
              </a:solidFill>
              <a:latin typeface="Telegraf, Inter, sans-serif"/>
              <a:ea typeface="Calibri"/>
              <a:cs typeface="Calibri"/>
            </a:endParaRPr>
          </a:p>
        </p:txBody>
      </p:sp>
      <p:pic>
        <p:nvPicPr>
          <p:cNvPr id="10" name="Image 0" descr="/home/claude/edem_az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02</a:t>
            </a:r>
            <a:endParaRPr lang="en-US" sz="900"/>
          </a:p>
        </p:txBody>
      </p:sp>
      <p:pic>
        <p:nvPicPr>
          <p:cNvPr id="2" name="Google Shape;76;p10" title="Foto Curriculum.jpeg">
            <a:extLst>
              <a:ext uri="{FF2B5EF4-FFF2-40B4-BE49-F238E27FC236}">
                <a16:creationId xmlns:a16="http://schemas.microsoft.com/office/drawing/2014/main" id="{1F6B16BB-CCEE-2013-B878-28DA75AF70E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765" t="4872" r="7366" b="4226"/>
          <a:stretch/>
        </p:blipFill>
        <p:spPr>
          <a:xfrm>
            <a:off x="754380" y="1276301"/>
            <a:ext cx="2216636" cy="2326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17AD2-BA29-68BE-6978-E61A58FC4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A6CADE3-6634-E43B-2452-4002D9F6C53D}"/>
              </a:ext>
            </a:extLst>
          </p:cNvPr>
          <p:cNvSpPr/>
          <p:nvPr/>
        </p:nvSpPr>
        <p:spPr>
          <a:xfrm>
            <a:off x="457200" y="4207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03030"/>
                </a:solidFill>
                <a:latin typeface="Telegraf"/>
                <a:ea typeface="Telegraf, Inter, sans-serif"/>
                <a:cs typeface="Telegraf, Inter, sans-serif" pitchFamily="34" charset="-120"/>
              </a:rPr>
              <a:t>Javier Plaza </a:t>
            </a:r>
            <a:r>
              <a:rPr lang="en-US" sz="3600" b="1" dirty="0" err="1">
                <a:solidFill>
                  <a:srgbClr val="303030"/>
                </a:solidFill>
                <a:latin typeface="Telegraf"/>
                <a:ea typeface="Telegraf, Inter, sans-serif"/>
                <a:cs typeface="Telegraf, Inter, sans-serif" pitchFamily="34" charset="-120"/>
              </a:rPr>
              <a:t>Rosique</a:t>
            </a:r>
            <a:endParaRPr lang="en-US" sz="3600" dirty="0">
              <a:solidFill>
                <a:srgbClr val="303030"/>
              </a:solidFill>
              <a:latin typeface="Telegraf"/>
              <a:ea typeface="Telegraf, Inter, sans-serif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83BAFF-4F0C-6AAB-8462-AC5F72321015}"/>
              </a:ext>
            </a:extLst>
          </p:cNvPr>
          <p:cNvSpPr/>
          <p:nvPr/>
        </p:nvSpPr>
        <p:spPr>
          <a:xfrm>
            <a:off x="3383280" y="1276301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D</a:t>
            </a:r>
            <a:r>
              <a:rPr lang="en-US" sz="18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ata Engineer</a:t>
            </a:r>
            <a:endParaRPr lang="en-US" sz="1800" dirty="0">
              <a:solidFill>
                <a:srgbClr val="303030"/>
              </a:solidFill>
              <a:latin typeface="Telegraf, Inter, sans-serif"/>
              <a:ea typeface="Telegraf, Inter, sans-serif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493CB1B-C35A-F57A-307D-920EFC2B9558}"/>
              </a:ext>
            </a:extLst>
          </p:cNvPr>
          <p:cNvSpPr/>
          <p:nvPr/>
        </p:nvSpPr>
        <p:spPr>
          <a:xfrm>
            <a:off x="3383280" y="1642061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2489B7"/>
                </a:solidFill>
                <a:latin typeface="Telegraf, Inter, sans-serif"/>
              </a:rPr>
              <a:t>Cecotec</a:t>
            </a:r>
            <a:r>
              <a:rPr lang="en-US" sz="1300" dirty="0">
                <a:solidFill>
                  <a:srgbClr val="2489B7"/>
                </a:solidFill>
                <a:latin typeface="Telegraf, Inter, sans-serif"/>
              </a:rPr>
              <a:t> </a:t>
            </a:r>
            <a:r>
              <a:rPr lang="en-US" sz="1300" dirty="0" err="1">
                <a:solidFill>
                  <a:srgbClr val="2489B7"/>
                </a:solidFill>
                <a:latin typeface="Telegraf, Inter, sans-serif"/>
              </a:rPr>
              <a:t>Innovaciones</a:t>
            </a:r>
            <a:r>
              <a:rPr lang="en-US" sz="1300" dirty="0">
                <a:solidFill>
                  <a:srgbClr val="2489B7"/>
                </a:solidFill>
                <a:latin typeface="Telegraf, Inter, sans-serif"/>
              </a:rPr>
              <a:t> S.L.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1D0E01C-760D-787B-2D82-FC17DCD15657}"/>
              </a:ext>
            </a:extLst>
          </p:cNvPr>
          <p:cNvSpPr/>
          <p:nvPr/>
        </p:nvSpPr>
        <p:spPr>
          <a:xfrm>
            <a:off x="3383280" y="2053541"/>
            <a:ext cx="45720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7739F7-9C21-79BF-418D-CF88EF7C6942}"/>
              </a:ext>
            </a:extLst>
          </p:cNvPr>
          <p:cNvSpPr/>
          <p:nvPr/>
        </p:nvSpPr>
        <p:spPr>
          <a:xfrm>
            <a:off x="3282541" y="2190702"/>
            <a:ext cx="5303520" cy="1856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>
              <a:buClr>
                <a:schemeClr val="dk1"/>
              </a:buClr>
              <a:buSzPts val="2000"/>
            </a:pPr>
            <a:r>
              <a:rPr lang="en-US" sz="1300" dirty="0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Data Engineer </a:t>
            </a:r>
            <a:r>
              <a:rPr lang="en-US" sz="1300" dirty="0" err="1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en</a:t>
            </a:r>
            <a:r>
              <a:rPr lang="en-US" sz="1300" dirty="0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 </a:t>
            </a:r>
            <a:r>
              <a:rPr lang="en-US" sz="1300" dirty="0" err="1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Cecotec</a:t>
            </a:r>
            <a:endParaRPr lang="en-US" sz="1300" dirty="0">
              <a:solidFill>
                <a:srgbClr val="475569"/>
              </a:solidFill>
              <a:latin typeface="Telegraf, Inter, sans-serif"/>
              <a:ea typeface="Telegraf, Inter, sans-serif" pitchFamily="34" charset="-122"/>
              <a:cs typeface="Calibri"/>
              <a:sym typeface="Candara"/>
            </a:endParaRPr>
          </a:p>
          <a:p>
            <a:pPr marL="101600">
              <a:buClr>
                <a:schemeClr val="dk1"/>
              </a:buClr>
              <a:buSzPts val="2000"/>
            </a:pPr>
            <a:endParaRPr lang="en-US" sz="1300" dirty="0">
              <a:solidFill>
                <a:srgbClr val="475569"/>
              </a:solidFill>
              <a:latin typeface="Telegraf, Inter, sans-serif"/>
              <a:ea typeface="Telegraf, Inter, sans-serif" pitchFamily="34" charset="-122"/>
              <a:cs typeface="Calibri"/>
              <a:sym typeface="Candara"/>
            </a:endParaRPr>
          </a:p>
          <a:p>
            <a:pPr marL="101600">
              <a:buClr>
                <a:schemeClr val="dk1"/>
              </a:buClr>
              <a:buSzPts val="2000"/>
            </a:pPr>
            <a:r>
              <a:rPr lang="en-US" sz="1300" dirty="0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Master </a:t>
            </a:r>
            <a:r>
              <a:rPr lang="en-US" sz="1300" dirty="0" err="1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en</a:t>
            </a:r>
            <a:r>
              <a:rPr lang="en-US" sz="1300" dirty="0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 Big Data &amp; Cloud </a:t>
            </a:r>
            <a:r>
              <a:rPr lang="en-US" sz="1300" dirty="0" err="1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en</a:t>
            </a:r>
            <a:r>
              <a:rPr lang="en-US" sz="1300" dirty="0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 EDEM </a:t>
            </a:r>
          </a:p>
          <a:p>
            <a:pPr marL="101600">
              <a:buClr>
                <a:schemeClr val="dk1"/>
              </a:buClr>
              <a:buSzPts val="2000"/>
            </a:pPr>
            <a:r>
              <a:rPr lang="en-US" sz="1300" dirty="0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Grado </a:t>
            </a:r>
            <a:r>
              <a:rPr lang="en-US" sz="1300" dirty="0" err="1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en</a:t>
            </a:r>
            <a:r>
              <a:rPr lang="en-US" sz="1300" dirty="0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 Economía UMU</a:t>
            </a:r>
          </a:p>
          <a:p>
            <a:pPr marL="101600">
              <a:buClr>
                <a:schemeClr val="dk1"/>
              </a:buClr>
              <a:buSzPts val="2000"/>
            </a:pPr>
            <a:endParaRPr lang="en-US" sz="1300" dirty="0">
              <a:solidFill>
                <a:srgbClr val="475569"/>
              </a:solidFill>
              <a:latin typeface="Telegraf, Inter, sans-serif"/>
              <a:ea typeface="Telegraf, Inter, sans-serif" pitchFamily="34" charset="-122"/>
              <a:cs typeface="Calibri"/>
              <a:sym typeface="Candara"/>
            </a:endParaRPr>
          </a:p>
          <a:p>
            <a:pPr marL="101600">
              <a:buClr>
                <a:schemeClr val="dk1"/>
              </a:buClr>
              <a:buSzPts val="2000"/>
            </a:pPr>
            <a:r>
              <a:rPr lang="en-US" sz="1300" dirty="0" err="1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Linkedin</a:t>
            </a:r>
            <a:r>
              <a:rPr lang="en-US" sz="1300" dirty="0">
                <a:solidFill>
                  <a:srgbClr val="475569"/>
                </a:solidFill>
                <a:latin typeface="Telegraf, Inter, sans-serif"/>
                <a:ea typeface="Telegraf, Inter, sans-serif" pitchFamily="34" charset="-122"/>
                <a:cs typeface="Calibri"/>
                <a:sym typeface="Candara"/>
              </a:rPr>
              <a:t>: </a:t>
            </a:r>
            <a:r>
              <a:rPr lang="es-ES" dirty="0">
                <a:hlinkClick r:id="rId3"/>
              </a:rPr>
              <a:t>www.linkedin.com/in/javiplaza</a:t>
            </a:r>
            <a:r>
              <a:rPr lang="es-ES" dirty="0"/>
              <a:t> </a:t>
            </a:r>
            <a:endParaRPr lang="en-US" sz="1300" dirty="0">
              <a:solidFill>
                <a:srgbClr val="475569"/>
              </a:solidFill>
              <a:latin typeface="Telegraf, Inter, sans-serif"/>
              <a:ea typeface="Telegraf, Inter, sans-serif" pitchFamily="34" charset="-122"/>
              <a:cs typeface="Calibri"/>
              <a:sym typeface="Candara"/>
            </a:endParaRPr>
          </a:p>
        </p:txBody>
      </p:sp>
      <p:pic>
        <p:nvPicPr>
          <p:cNvPr id="10" name="Image 0" descr="/home/claude/edem_azul.png">
            <a:extLst>
              <a:ext uri="{FF2B5EF4-FFF2-40B4-BE49-F238E27FC236}">
                <a16:creationId xmlns:a16="http://schemas.microsoft.com/office/drawing/2014/main" id="{56DF6732-2A5E-BD7B-A101-2C68D96AB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1" name="Shape 8">
            <a:extLst>
              <a:ext uri="{FF2B5EF4-FFF2-40B4-BE49-F238E27FC236}">
                <a16:creationId xmlns:a16="http://schemas.microsoft.com/office/drawing/2014/main" id="{3CA4447C-FD41-92EE-B9C0-DE392D4D4BDE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5FDA8F6-BC81-65BC-E56D-005D508989BB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0662BFD-17D1-09CA-137F-F28EDF9B4779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03</a:t>
            </a:r>
            <a:endParaRPr lang="en-US" sz="900" dirty="0"/>
          </a:p>
        </p:txBody>
      </p:sp>
      <p:pic>
        <p:nvPicPr>
          <p:cNvPr id="2" name="Imagen 1" descr="Imagen del perfil">
            <a:extLst>
              <a:ext uri="{FF2B5EF4-FFF2-40B4-BE49-F238E27FC236}">
                <a16:creationId xmlns:a16="http://schemas.microsoft.com/office/drawing/2014/main" id="{4CB23E7A-679D-F6DD-FEE3-D81165022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00" y="1276301"/>
            <a:ext cx="2969941" cy="296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14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9202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75" dirty="0">
                <a:solidFill>
                  <a:srgbClr val="6B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6126251" y="19202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 EN IA, BIG DATA Y CLOUD</a:t>
            </a:r>
            <a:endParaRPr lang="en-US" sz="825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377190"/>
            <a:ext cx="61722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6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· Fundamentos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740664"/>
            <a:ext cx="617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</a:t>
            </a:r>
            <a:r>
              <a:rPr lang="en-US" sz="900" u="sng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r>
              <a:rPr lang="en-US" sz="900" dirty="0">
                <a:solidFill>
                  <a:srgbClr val="4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900" u="sng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</a:t>
            </a:r>
            <a:r>
              <a:rPr lang="en-US" sz="900" dirty="0">
                <a:solidFill>
                  <a:srgbClr val="4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del </a:t>
            </a:r>
            <a:r>
              <a:rPr lang="en-US" sz="900" u="sng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sept</a:t>
            </a:r>
            <a:r>
              <a:rPr lang="en-US" sz="900" dirty="0">
                <a:solidFill>
                  <a:srgbClr val="4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900" u="sng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nov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973836"/>
            <a:ext cx="44577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Instalación, control de versiones y Python (28 sept – 21 oct)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4800601" y="1049274"/>
            <a:ext cx="4068851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8" name="Shape 6"/>
          <p:cNvSpPr/>
          <p:nvPr/>
        </p:nvSpPr>
        <p:spPr>
          <a:xfrm>
            <a:off x="274320" y="1213866"/>
            <a:ext cx="2773604" cy="891540"/>
          </a:xfrm>
          <a:prstGeom prst="roundRect">
            <a:avLst>
              <a:gd name="adj" fmla="val 4615"/>
            </a:avLst>
          </a:prstGeom>
          <a:solidFill>
            <a:srgbClr val="FFFBEE"/>
          </a:solidFill>
          <a:ln w="9525">
            <a:solidFill>
              <a:srgbClr val="EEE0B8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9" name="Shape 7"/>
          <p:cNvSpPr/>
          <p:nvPr/>
        </p:nvSpPr>
        <p:spPr>
          <a:xfrm>
            <a:off x="370332" y="1309878"/>
            <a:ext cx="685800" cy="137160"/>
          </a:xfrm>
          <a:prstGeom prst="roundRect">
            <a:avLst>
              <a:gd name="adj" fmla="val 20000"/>
            </a:avLst>
          </a:prstGeom>
          <a:solidFill>
            <a:srgbClr val="8B6914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10" name="Text 8"/>
          <p:cNvSpPr txBox="1"/>
          <p:nvPr/>
        </p:nvSpPr>
        <p:spPr>
          <a:xfrm>
            <a:off x="370332" y="130987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563" dirty="0"/>
          </a:p>
        </p:txBody>
      </p:sp>
      <p:sp>
        <p:nvSpPr>
          <p:cNvPr id="11" name="Text 9"/>
          <p:cNvSpPr txBox="1"/>
          <p:nvPr/>
        </p:nvSpPr>
        <p:spPr>
          <a:xfrm>
            <a:off x="370332" y="1488186"/>
            <a:ext cx="25815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6B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28–30 sept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370332" y="1659636"/>
            <a:ext cx="25815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Introducción, Instalación de Software, Linux y Git</a:t>
            </a:r>
            <a:endParaRPr lang="en-US" sz="863" dirty="0"/>
          </a:p>
        </p:txBody>
      </p:sp>
      <p:sp>
        <p:nvSpPr>
          <p:cNvPr id="13" name="Shape 11"/>
          <p:cNvSpPr/>
          <p:nvPr/>
        </p:nvSpPr>
        <p:spPr>
          <a:xfrm>
            <a:off x="3185083" y="1213866"/>
            <a:ext cx="2773604" cy="891540"/>
          </a:xfrm>
          <a:prstGeom prst="roundRect">
            <a:avLst>
              <a:gd name="adj" fmla="val 4615"/>
            </a:avLst>
          </a:prstGeom>
          <a:solidFill>
            <a:srgbClr val="FFFBEE"/>
          </a:solidFill>
          <a:ln w="9525">
            <a:solidFill>
              <a:srgbClr val="EEE0B8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14" name="Shape 12"/>
          <p:cNvSpPr/>
          <p:nvPr/>
        </p:nvSpPr>
        <p:spPr>
          <a:xfrm>
            <a:off x="3281096" y="1309878"/>
            <a:ext cx="685800" cy="137160"/>
          </a:xfrm>
          <a:prstGeom prst="roundRect">
            <a:avLst>
              <a:gd name="adj" fmla="val 20000"/>
            </a:avLst>
          </a:prstGeom>
          <a:solidFill>
            <a:srgbClr val="8B6914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15" name="Text 13"/>
          <p:cNvSpPr txBox="1"/>
          <p:nvPr/>
        </p:nvSpPr>
        <p:spPr>
          <a:xfrm>
            <a:off x="3281096" y="130987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563" dirty="0"/>
          </a:p>
        </p:txBody>
      </p:sp>
      <p:sp>
        <p:nvSpPr>
          <p:cNvPr id="16" name="Text 14"/>
          <p:cNvSpPr txBox="1"/>
          <p:nvPr/>
        </p:nvSpPr>
        <p:spPr>
          <a:xfrm>
            <a:off x="3281095" y="1488186"/>
            <a:ext cx="25815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6B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1–8 oct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3281095" y="1659636"/>
            <a:ext cx="25815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Programación básica con Python y Docker</a:t>
            </a:r>
            <a:endParaRPr lang="en-US" sz="863" dirty="0"/>
          </a:p>
        </p:txBody>
      </p:sp>
      <p:sp>
        <p:nvSpPr>
          <p:cNvPr id="18" name="Shape 16"/>
          <p:cNvSpPr/>
          <p:nvPr/>
        </p:nvSpPr>
        <p:spPr>
          <a:xfrm>
            <a:off x="6095848" y="1213866"/>
            <a:ext cx="2773604" cy="891540"/>
          </a:xfrm>
          <a:prstGeom prst="roundRect">
            <a:avLst>
              <a:gd name="adj" fmla="val 4615"/>
            </a:avLst>
          </a:prstGeom>
          <a:solidFill>
            <a:srgbClr val="FFFBEE"/>
          </a:solidFill>
          <a:ln w="9525">
            <a:solidFill>
              <a:srgbClr val="EEE0B8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19" name="Shape 17"/>
          <p:cNvSpPr/>
          <p:nvPr/>
        </p:nvSpPr>
        <p:spPr>
          <a:xfrm>
            <a:off x="6191860" y="1309878"/>
            <a:ext cx="685800" cy="137160"/>
          </a:xfrm>
          <a:prstGeom prst="roundRect">
            <a:avLst>
              <a:gd name="adj" fmla="val 20000"/>
            </a:avLst>
          </a:prstGeom>
          <a:solidFill>
            <a:srgbClr val="8B6914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20" name="Text 18"/>
          <p:cNvSpPr txBox="1"/>
          <p:nvPr/>
        </p:nvSpPr>
        <p:spPr>
          <a:xfrm>
            <a:off x="6191860" y="130987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563" dirty="0"/>
          </a:p>
        </p:txBody>
      </p:sp>
      <p:sp>
        <p:nvSpPr>
          <p:cNvPr id="21" name="Text 19"/>
          <p:cNvSpPr txBox="1"/>
          <p:nvPr/>
        </p:nvSpPr>
        <p:spPr>
          <a:xfrm>
            <a:off x="6191860" y="1488186"/>
            <a:ext cx="25815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6B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13–21 oct</a:t>
            </a:r>
            <a:endParaRPr lang="en-US" sz="825" dirty="0"/>
          </a:p>
        </p:txBody>
      </p:sp>
      <p:sp>
        <p:nvSpPr>
          <p:cNvPr id="22" name="Text 20"/>
          <p:cNvSpPr txBox="1"/>
          <p:nvPr/>
        </p:nvSpPr>
        <p:spPr>
          <a:xfrm>
            <a:off x="6191860" y="1659636"/>
            <a:ext cx="25815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Actions, Docker y SQL</a:t>
            </a:r>
            <a:endParaRPr lang="en-US" sz="863" dirty="0"/>
          </a:p>
        </p:txBody>
      </p:sp>
      <p:sp>
        <p:nvSpPr>
          <p:cNvPr id="23" name="Shape 21"/>
          <p:cNvSpPr/>
          <p:nvPr/>
        </p:nvSpPr>
        <p:spPr>
          <a:xfrm>
            <a:off x="274321" y="2311146"/>
            <a:ext cx="8595131" cy="0"/>
          </a:xfrm>
          <a:prstGeom prst="line">
            <a:avLst/>
          </a:prstGeom>
          <a:noFill/>
          <a:ln w="19050">
            <a:solidFill>
              <a:srgbClr val="12213D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24" name="Shape 22"/>
          <p:cNvSpPr/>
          <p:nvPr/>
        </p:nvSpPr>
        <p:spPr>
          <a:xfrm>
            <a:off x="240030" y="2276856"/>
            <a:ext cx="68580" cy="68580"/>
          </a:xfrm>
          <a:prstGeom prst="ellipse">
            <a:avLst/>
          </a:prstGeom>
          <a:solidFill>
            <a:srgbClr val="12213D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25" name="Shape 23"/>
          <p:cNvSpPr/>
          <p:nvPr/>
        </p:nvSpPr>
        <p:spPr>
          <a:xfrm>
            <a:off x="8835161" y="2276856"/>
            <a:ext cx="68580" cy="68580"/>
          </a:xfrm>
          <a:prstGeom prst="ellipse">
            <a:avLst/>
          </a:prstGeom>
          <a:solidFill>
            <a:srgbClr val="12213D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26" name="Shape 24"/>
          <p:cNvSpPr/>
          <p:nvPr/>
        </p:nvSpPr>
        <p:spPr>
          <a:xfrm>
            <a:off x="342900" y="2201418"/>
            <a:ext cx="2755316" cy="219456"/>
          </a:xfrm>
          <a:prstGeom prst="roundRect">
            <a:avLst>
              <a:gd name="adj" fmla="val 15625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27" name="Text 25"/>
          <p:cNvSpPr txBox="1"/>
          <p:nvPr/>
        </p:nvSpPr>
        <p:spPr>
          <a:xfrm>
            <a:off x="342900" y="2201418"/>
            <a:ext cx="2755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3194227" y="2201418"/>
            <a:ext cx="2755316" cy="219456"/>
          </a:xfrm>
          <a:prstGeom prst="roundRect">
            <a:avLst>
              <a:gd name="adj" fmla="val 15625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29" name="Text 27"/>
          <p:cNvSpPr txBox="1"/>
          <p:nvPr/>
        </p:nvSpPr>
        <p:spPr>
          <a:xfrm>
            <a:off x="3194227" y="2201418"/>
            <a:ext cx="2755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02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6045556" y="2201418"/>
            <a:ext cx="2755316" cy="219456"/>
          </a:xfrm>
          <a:prstGeom prst="roundRect">
            <a:avLst>
              <a:gd name="adj" fmla="val 15625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31" name="Text 29"/>
          <p:cNvSpPr txBox="1"/>
          <p:nvPr/>
        </p:nvSpPr>
        <p:spPr>
          <a:xfrm>
            <a:off x="6045556" y="2201418"/>
            <a:ext cx="2755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</a:t>
            </a:r>
            <a:endParaRPr lang="en-US" sz="825" dirty="0"/>
          </a:p>
        </p:txBody>
      </p:sp>
      <p:sp>
        <p:nvSpPr>
          <p:cNvPr id="32" name="Text 30"/>
          <p:cNvSpPr txBox="1"/>
          <p:nvPr/>
        </p:nvSpPr>
        <p:spPr>
          <a:xfrm>
            <a:off x="274320" y="2688336"/>
            <a:ext cx="44577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Data Science, APIs e IA generativa (26 oct – 12 nov)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4800601" y="2763774"/>
            <a:ext cx="4068851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34" name="Shape 32"/>
          <p:cNvSpPr/>
          <p:nvPr/>
        </p:nvSpPr>
        <p:spPr>
          <a:xfrm>
            <a:off x="274320" y="2928366"/>
            <a:ext cx="2773604" cy="891540"/>
          </a:xfrm>
          <a:prstGeom prst="roundRect">
            <a:avLst>
              <a:gd name="adj" fmla="val 4615"/>
            </a:avLst>
          </a:prstGeom>
          <a:solidFill>
            <a:srgbClr val="FFFBEE"/>
          </a:solidFill>
          <a:ln w="9525">
            <a:solidFill>
              <a:srgbClr val="EEE0B8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35" name="Shape 33"/>
          <p:cNvSpPr/>
          <p:nvPr/>
        </p:nvSpPr>
        <p:spPr>
          <a:xfrm>
            <a:off x="370332" y="3024378"/>
            <a:ext cx="685800" cy="137160"/>
          </a:xfrm>
          <a:prstGeom prst="roundRect">
            <a:avLst>
              <a:gd name="adj" fmla="val 20000"/>
            </a:avLst>
          </a:prstGeom>
          <a:solidFill>
            <a:srgbClr val="8B6914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36" name="Text 34"/>
          <p:cNvSpPr txBox="1"/>
          <p:nvPr/>
        </p:nvSpPr>
        <p:spPr>
          <a:xfrm>
            <a:off x="370332" y="302437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563" dirty="0"/>
          </a:p>
        </p:txBody>
      </p:sp>
      <p:sp>
        <p:nvSpPr>
          <p:cNvPr id="37" name="Text 35"/>
          <p:cNvSpPr txBox="1"/>
          <p:nvPr/>
        </p:nvSpPr>
        <p:spPr>
          <a:xfrm>
            <a:off x="370332" y="3202686"/>
            <a:ext cx="25815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6B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oct–2 nov</a:t>
            </a:r>
            <a:endParaRPr lang="en-US" sz="825" dirty="0"/>
          </a:p>
        </p:txBody>
      </p:sp>
      <p:sp>
        <p:nvSpPr>
          <p:cNvPr id="38" name="Text 36"/>
          <p:cNvSpPr txBox="1"/>
          <p:nvPr/>
        </p:nvSpPr>
        <p:spPr>
          <a:xfrm>
            <a:off x="370332" y="3374136"/>
            <a:ext cx="25815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y Librerías Data Science Python</a:t>
            </a:r>
            <a:endParaRPr lang="en-US" sz="863" dirty="0"/>
          </a:p>
        </p:txBody>
      </p:sp>
      <p:sp>
        <p:nvSpPr>
          <p:cNvPr id="39" name="Shape 37"/>
          <p:cNvSpPr/>
          <p:nvPr/>
        </p:nvSpPr>
        <p:spPr>
          <a:xfrm>
            <a:off x="3185083" y="2928366"/>
            <a:ext cx="2773604" cy="891540"/>
          </a:xfrm>
          <a:prstGeom prst="roundRect">
            <a:avLst>
              <a:gd name="adj" fmla="val 4615"/>
            </a:avLst>
          </a:prstGeom>
          <a:solidFill>
            <a:srgbClr val="FFFBEE"/>
          </a:solidFill>
          <a:ln w="9525">
            <a:solidFill>
              <a:srgbClr val="EEE0B8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40" name="Shape 38"/>
          <p:cNvSpPr/>
          <p:nvPr/>
        </p:nvSpPr>
        <p:spPr>
          <a:xfrm>
            <a:off x="3281096" y="3024378"/>
            <a:ext cx="685800" cy="137160"/>
          </a:xfrm>
          <a:prstGeom prst="roundRect">
            <a:avLst>
              <a:gd name="adj" fmla="val 20000"/>
            </a:avLst>
          </a:prstGeom>
          <a:solidFill>
            <a:srgbClr val="8B6914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41" name="Text 39"/>
          <p:cNvSpPr txBox="1"/>
          <p:nvPr/>
        </p:nvSpPr>
        <p:spPr>
          <a:xfrm>
            <a:off x="3281096" y="302437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563" dirty="0"/>
          </a:p>
        </p:txBody>
      </p:sp>
      <p:sp>
        <p:nvSpPr>
          <p:cNvPr id="42" name="Text 40"/>
          <p:cNvSpPr txBox="1"/>
          <p:nvPr/>
        </p:nvSpPr>
        <p:spPr>
          <a:xfrm>
            <a:off x="3281095" y="3202686"/>
            <a:ext cx="25815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6B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nov</a:t>
            </a:r>
            <a:endParaRPr lang="en-US" sz="825" dirty="0"/>
          </a:p>
        </p:txBody>
      </p:sp>
      <p:sp>
        <p:nvSpPr>
          <p:cNvPr id="43" name="Text 41"/>
          <p:cNvSpPr txBox="1"/>
          <p:nvPr/>
        </p:nvSpPr>
        <p:spPr>
          <a:xfrm>
            <a:off x="3281095" y="3374136"/>
            <a:ext cx="25815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MGMT</a:t>
            </a:r>
            <a:endParaRPr lang="en-US" sz="863" dirty="0"/>
          </a:p>
        </p:txBody>
      </p:sp>
      <p:sp>
        <p:nvSpPr>
          <p:cNvPr id="44" name="Shape 42"/>
          <p:cNvSpPr/>
          <p:nvPr/>
        </p:nvSpPr>
        <p:spPr>
          <a:xfrm>
            <a:off x="6095848" y="2928366"/>
            <a:ext cx="2773604" cy="891540"/>
          </a:xfrm>
          <a:prstGeom prst="roundRect">
            <a:avLst>
              <a:gd name="adj" fmla="val 4615"/>
            </a:avLst>
          </a:prstGeom>
          <a:solidFill>
            <a:srgbClr val="FFFBEE"/>
          </a:solidFill>
          <a:ln w="9525">
            <a:solidFill>
              <a:srgbClr val="EEE0B8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45" name="Shape 43"/>
          <p:cNvSpPr/>
          <p:nvPr/>
        </p:nvSpPr>
        <p:spPr>
          <a:xfrm>
            <a:off x="6191860" y="3024378"/>
            <a:ext cx="685800" cy="137160"/>
          </a:xfrm>
          <a:prstGeom prst="roundRect">
            <a:avLst>
              <a:gd name="adj" fmla="val 20000"/>
            </a:avLst>
          </a:prstGeom>
          <a:solidFill>
            <a:srgbClr val="8B6914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46" name="Text 44"/>
          <p:cNvSpPr txBox="1"/>
          <p:nvPr/>
        </p:nvSpPr>
        <p:spPr>
          <a:xfrm>
            <a:off x="6191860" y="302437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563" dirty="0"/>
          </a:p>
        </p:txBody>
      </p:sp>
      <p:sp>
        <p:nvSpPr>
          <p:cNvPr id="47" name="Text 45"/>
          <p:cNvSpPr txBox="1"/>
          <p:nvPr/>
        </p:nvSpPr>
        <p:spPr>
          <a:xfrm>
            <a:off x="6191860" y="3202686"/>
            <a:ext cx="25815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6B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 nov</a:t>
            </a:r>
            <a:endParaRPr lang="en-US" sz="825" dirty="0"/>
          </a:p>
        </p:txBody>
      </p:sp>
      <p:sp>
        <p:nvSpPr>
          <p:cNvPr id="48" name="Text 46"/>
          <p:cNvSpPr txBox="1"/>
          <p:nvPr/>
        </p:nvSpPr>
        <p:spPr>
          <a:xfrm>
            <a:off x="6191860" y="3374136"/>
            <a:ext cx="25815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y E2E | Prueba</a:t>
            </a:r>
            <a:endParaRPr lang="en-US" sz="863" dirty="0"/>
          </a:p>
        </p:txBody>
      </p:sp>
      <p:sp>
        <p:nvSpPr>
          <p:cNvPr id="49" name="Shape 47"/>
          <p:cNvSpPr/>
          <p:nvPr/>
        </p:nvSpPr>
        <p:spPr>
          <a:xfrm>
            <a:off x="274321" y="4025646"/>
            <a:ext cx="8595131" cy="0"/>
          </a:xfrm>
          <a:prstGeom prst="line">
            <a:avLst/>
          </a:prstGeom>
          <a:noFill/>
          <a:ln w="19050">
            <a:solidFill>
              <a:srgbClr val="12213D"/>
            </a:solidFill>
            <a:prstDash val="solid"/>
          </a:ln>
        </p:spPr>
        <p:txBody>
          <a:bodyPr/>
          <a:lstStyle/>
          <a:p>
            <a:endParaRPr lang="es-ES" sz="1350"/>
          </a:p>
        </p:txBody>
      </p:sp>
      <p:sp>
        <p:nvSpPr>
          <p:cNvPr id="50" name="Shape 48"/>
          <p:cNvSpPr/>
          <p:nvPr/>
        </p:nvSpPr>
        <p:spPr>
          <a:xfrm>
            <a:off x="240030" y="3991356"/>
            <a:ext cx="68580" cy="68580"/>
          </a:xfrm>
          <a:prstGeom prst="ellipse">
            <a:avLst/>
          </a:prstGeom>
          <a:solidFill>
            <a:srgbClr val="12213D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51" name="Shape 49"/>
          <p:cNvSpPr/>
          <p:nvPr/>
        </p:nvSpPr>
        <p:spPr>
          <a:xfrm>
            <a:off x="8835161" y="3991356"/>
            <a:ext cx="68580" cy="68580"/>
          </a:xfrm>
          <a:prstGeom prst="ellipse">
            <a:avLst/>
          </a:prstGeom>
          <a:solidFill>
            <a:srgbClr val="12213D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52" name="Shape 50"/>
          <p:cNvSpPr/>
          <p:nvPr/>
        </p:nvSpPr>
        <p:spPr>
          <a:xfrm>
            <a:off x="342900" y="3915918"/>
            <a:ext cx="2755316" cy="219456"/>
          </a:xfrm>
          <a:prstGeom prst="roundRect">
            <a:avLst>
              <a:gd name="adj" fmla="val 15625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53" name="Text 51"/>
          <p:cNvSpPr txBox="1"/>
          <p:nvPr/>
        </p:nvSpPr>
        <p:spPr>
          <a:xfrm>
            <a:off x="342900" y="3915918"/>
            <a:ext cx="2755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04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3194227" y="3915918"/>
            <a:ext cx="2755316" cy="219456"/>
          </a:xfrm>
          <a:prstGeom prst="roundRect">
            <a:avLst>
              <a:gd name="adj" fmla="val 15625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55" name="Text 53"/>
          <p:cNvSpPr txBox="1"/>
          <p:nvPr/>
        </p:nvSpPr>
        <p:spPr>
          <a:xfrm>
            <a:off x="3194227" y="3915918"/>
            <a:ext cx="2755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05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6045556" y="3915918"/>
            <a:ext cx="2755316" cy="219456"/>
          </a:xfrm>
          <a:prstGeom prst="roundRect">
            <a:avLst>
              <a:gd name="adj" fmla="val 15625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57" name="Text 55"/>
          <p:cNvSpPr txBox="1"/>
          <p:nvPr/>
        </p:nvSpPr>
        <p:spPr>
          <a:xfrm>
            <a:off x="6045556" y="3915918"/>
            <a:ext cx="2755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06</a:t>
            </a:r>
            <a:endParaRPr lang="en-US" sz="825" dirty="0"/>
          </a:p>
        </p:txBody>
      </p:sp>
      <p:sp>
        <p:nvSpPr>
          <p:cNvPr id="58" name="Shape 56"/>
          <p:cNvSpPr/>
          <p:nvPr/>
        </p:nvSpPr>
        <p:spPr>
          <a:xfrm>
            <a:off x="274321" y="4299966"/>
            <a:ext cx="8595131" cy="377190"/>
          </a:xfrm>
          <a:prstGeom prst="roundRect">
            <a:avLst>
              <a:gd name="adj" fmla="val 10909"/>
            </a:avLst>
          </a:prstGeom>
          <a:solidFill>
            <a:srgbClr val="F4F5F8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59" name="Shape 57"/>
          <p:cNvSpPr/>
          <p:nvPr/>
        </p:nvSpPr>
        <p:spPr>
          <a:xfrm>
            <a:off x="397764" y="4402836"/>
            <a:ext cx="178308" cy="178308"/>
          </a:xfrm>
          <a:prstGeom prst="ellipse">
            <a:avLst/>
          </a:prstGeom>
          <a:solidFill>
            <a:srgbClr val="6B5210"/>
          </a:solidFill>
          <a:ln/>
        </p:spPr>
        <p:txBody>
          <a:bodyPr/>
          <a:lstStyle/>
          <a:p>
            <a:endParaRPr lang="es-ES" sz="1350"/>
          </a:p>
        </p:txBody>
      </p:sp>
      <p:sp>
        <p:nvSpPr>
          <p:cNvPr id="60" name="Text 58"/>
          <p:cNvSpPr txBox="1"/>
          <p:nvPr/>
        </p:nvSpPr>
        <p:spPr>
          <a:xfrm>
            <a:off x="397764" y="4402836"/>
            <a:ext cx="17830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75" dirty="0"/>
          </a:p>
        </p:txBody>
      </p:sp>
      <p:sp>
        <p:nvSpPr>
          <p:cNvPr id="61" name="Text 59"/>
          <p:cNvSpPr txBox="1"/>
          <p:nvPr/>
        </p:nvSpPr>
        <p:spPr>
          <a:xfrm>
            <a:off x="651511" y="4299966"/>
            <a:ext cx="8149361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conductor del alumno:  </a:t>
            </a:r>
            <a:r>
              <a:rPr lang="en-US" sz="900" u="sng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r>
              <a:rPr lang="en-US" sz="900" dirty="0">
                <a:solidFill>
                  <a:srgbClr val="4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900" u="sng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en-US" sz="900" dirty="0">
                <a:solidFill>
                  <a:srgbClr val="4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900" u="sng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en-US" sz="900" dirty="0">
                <a:solidFill>
                  <a:srgbClr val="4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900" u="sng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r>
              <a:rPr lang="en-US" sz="900" dirty="0">
                <a:solidFill>
                  <a:srgbClr val="4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900" u="sng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r>
              <a:rPr lang="en-US" sz="900" dirty="0">
                <a:solidFill>
                  <a:srgbClr val="4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900" u="sng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r>
              <a:rPr lang="en-US" sz="900" dirty="0">
                <a:solidFill>
                  <a:srgbClr val="4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900" u="sng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r>
              <a:rPr lang="en-US" sz="900" dirty="0">
                <a:solidFill>
                  <a:srgbClr val="4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900" u="sng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D6205-D764-AF17-6097-CC2FC146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FDB8D7F-C173-928B-AD3B-A0D8FB0703D5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Objetivos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 de la </a:t>
            </a: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sesión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9861D8-E53C-B4E5-1862-16F5089B7F25}"/>
              </a:ext>
            </a:extLst>
          </p:cNvPr>
          <p:cNvSpPr/>
          <p:nvPr/>
        </p:nvSpPr>
        <p:spPr>
          <a:xfrm>
            <a:off x="457200" y="1965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6583C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01</a:t>
            </a:r>
            <a:endParaRPr lang="en-US"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8CC8B8-B953-9194-C5B0-BCB01EFB1E26}"/>
              </a:ext>
            </a:extLst>
          </p:cNvPr>
          <p:cNvSpPr/>
          <p:nvPr/>
        </p:nvSpPr>
        <p:spPr>
          <a:xfrm>
            <a:off x="1097280" y="19659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Conocer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que son las Git/</a:t>
            </a: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Github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Actions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24449E8-E721-725E-D48B-BCE8A67F9F0C}"/>
              </a:ext>
            </a:extLst>
          </p:cNvPr>
          <p:cNvSpPr/>
          <p:nvPr/>
        </p:nvSpPr>
        <p:spPr>
          <a:xfrm>
            <a:off x="45720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6583C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02</a:t>
            </a:r>
            <a:endParaRPr lang="en-US"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CF2DDC-75AA-F0DD-A286-F5A67B5508E1}"/>
              </a:ext>
            </a:extLst>
          </p:cNvPr>
          <p:cNvSpPr/>
          <p:nvPr/>
        </p:nvSpPr>
        <p:spPr>
          <a:xfrm>
            <a:off x="1097280" y="2468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Diferenciar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los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distintos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componentes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de las </a:t>
            </a: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Github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Actions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C3A14C-1317-7D35-D1DD-A30636D45593}"/>
              </a:ext>
            </a:extLst>
          </p:cNvPr>
          <p:cNvSpPr/>
          <p:nvPr/>
        </p:nvSpPr>
        <p:spPr>
          <a:xfrm>
            <a:off x="457200" y="2971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6583C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03</a:t>
            </a:r>
            <a:endParaRPr lang="en-US"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12939E3-204A-73E5-62CD-65EDC3EEB8A7}"/>
              </a:ext>
            </a:extLst>
          </p:cNvPr>
          <p:cNvSpPr/>
          <p:nvPr/>
        </p:nvSpPr>
        <p:spPr>
          <a:xfrm>
            <a:off x="1097280" y="29718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Crear </a:t>
            </a: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los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primeros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workflows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9418A54-F8BF-72BA-1E09-78C20C18C45E}"/>
              </a:ext>
            </a:extLst>
          </p:cNvPr>
          <p:cNvSpPr/>
          <p:nvPr/>
        </p:nvSpPr>
        <p:spPr>
          <a:xfrm>
            <a:off x="45720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6583C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04</a:t>
            </a:r>
            <a:endParaRPr lang="en-US"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A1DA3C6-B4D2-FA8A-22DA-1D9F8A4C9668}"/>
              </a:ext>
            </a:extLst>
          </p:cNvPr>
          <p:cNvSpPr/>
          <p:nvPr/>
        </p:nvSpPr>
        <p:spPr>
          <a:xfrm>
            <a:off x="1097280" y="3474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Advertencias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y </a:t>
            </a: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Recomendaciones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3531B5B-7549-312D-8C06-41A9EBAFAD9C}"/>
              </a:ext>
            </a:extLst>
          </p:cNvPr>
          <p:cNvSpPr/>
          <p:nvPr/>
        </p:nvSpPr>
        <p:spPr>
          <a:xfrm>
            <a:off x="45720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583C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05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4EB73B1-CA41-0757-8603-AE3FDEBCDF3B}"/>
              </a:ext>
            </a:extLst>
          </p:cNvPr>
          <p:cNvSpPr/>
          <p:nvPr/>
        </p:nvSpPr>
        <p:spPr>
          <a:xfrm>
            <a:off x="1097280" y="39776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Diseñar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e </a:t>
            </a: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implementar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un pipeline de CI/CD </a:t>
            </a: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básico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para </a:t>
            </a: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vuestro</a:t>
            </a:r>
            <a:r>
              <a:rPr lang="en-U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proyecto</a:t>
            </a:r>
            <a:endParaRPr lang="en-US" sz="1400" dirty="0"/>
          </a:p>
        </p:txBody>
      </p:sp>
      <p:pic>
        <p:nvPicPr>
          <p:cNvPr id="14" name="Image 0" descr="/home/claude/edem_azul.png">
            <a:extLst>
              <a:ext uri="{FF2B5EF4-FFF2-40B4-BE49-F238E27FC236}">
                <a16:creationId xmlns:a16="http://schemas.microsoft.com/office/drawing/2014/main" id="{EDE1E040-318F-6723-AD70-28EA57426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5" name="Shape 12">
            <a:extLst>
              <a:ext uri="{FF2B5EF4-FFF2-40B4-BE49-F238E27FC236}">
                <a16:creationId xmlns:a16="http://schemas.microsoft.com/office/drawing/2014/main" id="{71C95900-98DE-72EE-B680-E535DD46E04B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0272484-5688-1E01-2448-4F936C34267A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1252747-AFEC-3537-1D8D-6B8181FD7F02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07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26629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e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914400" cy="2173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15C41"/>
                </a:solidFill>
                <a:latin typeface="Telegraf"/>
                <a:ea typeface="Telegraf"/>
              </a:rPr>
              <a:t>SECCIÓN 00</a:t>
            </a:r>
          </a:p>
        </p:txBody>
      </p:sp>
      <p:sp>
        <p:nvSpPr>
          <p:cNvPr id="4" name="Text 1"/>
          <p:cNvSpPr/>
          <p:nvPr/>
        </p:nvSpPr>
        <p:spPr>
          <a:xfrm>
            <a:off x="457200" y="2514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¿</a:t>
            </a:r>
            <a:r>
              <a:rPr lang="en-US" sz="4800" b="1" dirty="0" err="1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Qué</a:t>
            </a: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es GitHub Actions?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457200" y="4297680"/>
            <a:ext cx="54864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489B7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MÁSTER EN IA, BIG DATA Y CLOUD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Tema"/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00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¿QUÉ ES GITHUB ACTIONS?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8122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Github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Actions</a:t>
            </a:r>
            <a:endParaRPr lang="en-US" sz="3600" dirty="0">
              <a:solidFill>
                <a:srgbClr val="303030"/>
              </a:solidFill>
              <a:latin typeface="Telegraf, Inter, sans-serif"/>
              <a:ea typeface="Telegraf, Inter, sans-serif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736777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GitHub Actions es </a:t>
            </a:r>
            <a:r>
              <a:rPr lang="en-US" sz="2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una</a:t>
            </a:r>
            <a:r>
              <a:rPr lang="en-U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2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plataforma</a:t>
            </a:r>
            <a:r>
              <a:rPr lang="en-U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de  </a:t>
            </a:r>
            <a:r>
              <a:rPr lang="en-US" sz="2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integración</a:t>
            </a:r>
            <a:r>
              <a:rPr lang="en-U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continua y </a:t>
            </a:r>
            <a:r>
              <a:rPr lang="en-US" sz="2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entrega</a:t>
            </a:r>
            <a:r>
              <a:rPr lang="en-U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continua (CI/CD), la </a:t>
            </a:r>
            <a:r>
              <a:rPr lang="en-US" sz="2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cual</a:t>
            </a:r>
            <a:r>
              <a:rPr lang="en-U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, </a:t>
            </a:r>
            <a:r>
              <a:rPr lang="en-US" sz="2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permite</a:t>
            </a:r>
            <a:r>
              <a:rPr lang="en-U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la </a:t>
            </a:r>
            <a:r>
              <a:rPr lang="en-US" sz="2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automatización</a:t>
            </a:r>
            <a:r>
              <a:rPr lang="en-U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de </a:t>
            </a:r>
            <a:r>
              <a:rPr lang="en-US" sz="2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tu</a:t>
            </a:r>
            <a:r>
              <a:rPr lang="en-U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2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compilación</a:t>
            </a:r>
            <a:r>
              <a:rPr lang="en-U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, </a:t>
            </a:r>
            <a:r>
              <a:rPr lang="en-US" sz="2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prueba</a:t>
            </a:r>
            <a:r>
              <a:rPr lang="en-U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, y </a:t>
            </a:r>
            <a:r>
              <a:rPr lang="en-US" sz="2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despliegue</a:t>
            </a:r>
            <a:r>
              <a:rPr lang="en-U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.</a:t>
            </a:r>
          </a:p>
          <a:p>
            <a:pPr marL="0" indent="0">
              <a:buNone/>
            </a:pPr>
            <a:endParaRPr lang="en-US" sz="2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  <a:cs typeface="Telegraf, Inter, sans-serif" pitchFamily="34" charset="-120"/>
            </a:endParaRPr>
          </a:p>
        </p:txBody>
      </p:sp>
      <p:pic>
        <p:nvPicPr>
          <p:cNvPr id="6" name="Image 0" descr="/home/claude/edem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09</a:t>
            </a:r>
            <a:endParaRPr lang="en-US" sz="9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D120E55-45DA-3904-CF3B-631BC6679454}"/>
              </a:ext>
            </a:extLst>
          </p:cNvPr>
          <p:cNvSpPr txBox="1"/>
          <p:nvPr/>
        </p:nvSpPr>
        <p:spPr>
          <a:xfrm>
            <a:off x="457200" y="2903803"/>
            <a:ext cx="795061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CI = Integración Continua: Cada vez que cambias algo en tu código, se revisa automáticamente.</a:t>
            </a:r>
          </a:p>
          <a:p>
            <a:r>
              <a:rPr lang="es-E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CD = Despliegue Continuo: Si todo está bien, el programa se publica o se entrega automáticamente.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0494F-4D81-DDE6-E1F3-CAFA7C04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em_blanco.png">
            <a:extLst>
              <a:ext uri="{FF2B5EF4-FFF2-40B4-BE49-F238E27FC236}">
                <a16:creationId xmlns:a16="http://schemas.microsoft.com/office/drawing/2014/main" id="{6AB848B1-F865-FE51-890D-8B54C9358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914400" cy="21735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2462C6E-7C3D-99E3-E634-CBD47ADB1F9E}"/>
              </a:ext>
            </a:extLst>
          </p:cNvPr>
          <p:cNvSpPr/>
          <p:nvPr/>
        </p:nvSpPr>
        <p:spPr>
          <a:xfrm>
            <a:off x="4572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15C41"/>
                </a:solidFill>
                <a:latin typeface="Telegraf"/>
                <a:ea typeface="Telegraf"/>
              </a:rPr>
              <a:t>SECCIÓN 01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852BAB3-503A-7326-741B-F7AF30448C83}"/>
              </a:ext>
            </a:extLst>
          </p:cNvPr>
          <p:cNvSpPr/>
          <p:nvPr/>
        </p:nvSpPr>
        <p:spPr>
          <a:xfrm>
            <a:off x="457200" y="2514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¿</a:t>
            </a:r>
            <a:r>
              <a:rPr lang="en-US" sz="4800" b="1" dirty="0" err="1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Qué</a:t>
            </a: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pasa</a:t>
            </a: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desde</a:t>
            </a: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un </a:t>
            </a:r>
            <a:r>
              <a:rPr lang="en-US" sz="4800" b="1" dirty="0" err="1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cambio</a:t>
            </a: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de </a:t>
            </a:r>
            <a:r>
              <a:rPr lang="en-US" sz="4800" b="1" dirty="0" err="1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código</a:t>
            </a: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hasta </a:t>
            </a:r>
            <a:r>
              <a:rPr lang="en-US" sz="4800" b="1" dirty="0" err="1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llegar</a:t>
            </a: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a </a:t>
            </a:r>
            <a:r>
              <a:rPr lang="en-US" sz="4800" b="1" dirty="0" err="1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producción</a:t>
            </a: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?</a:t>
            </a:r>
            <a:endParaRPr lang="en-US" sz="4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F995702-51A3-6CC6-FA82-DCED81F57160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489B7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MÁSTER EN IA, BIG DATA Y CLOUD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168423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B5928-C394-8CBD-28E0-C0E6272B5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Tema">
            <a:extLst>
              <a:ext uri="{FF2B5EF4-FFF2-40B4-BE49-F238E27FC236}">
                <a16:creationId xmlns:a16="http://schemas.microsoft.com/office/drawing/2014/main" id="{C1EB628E-FC65-EF37-9507-89D033122744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01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¿QUÉ PASA DESDE UN CAMBIO DE CÓDIGO HASTA LLEGAR A PRODUCCIÓN?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6" name="Image 0" descr="/home/claude/edem_azul.png">
            <a:extLst>
              <a:ext uri="{FF2B5EF4-FFF2-40B4-BE49-F238E27FC236}">
                <a16:creationId xmlns:a16="http://schemas.microsoft.com/office/drawing/2014/main" id="{10BFD8BB-A6A8-860F-9B0B-6273DEE0B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7C289980-872F-3234-021E-8BFD4B73050A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502ED41-679B-9339-A47B-96F7DC4DADAA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0FB99C3-17D4-96A3-0B24-BE2BAE8713F3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09</a:t>
            </a:r>
            <a:endParaRPr lang="en-US" sz="9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52204DB-6C47-AB70-9BCB-FDF212636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695370"/>
            <a:ext cx="6675120" cy="375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91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01F17-D065-B31B-159F-1E2F4120A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Tema">
            <a:extLst>
              <a:ext uri="{FF2B5EF4-FFF2-40B4-BE49-F238E27FC236}">
                <a16:creationId xmlns:a16="http://schemas.microsoft.com/office/drawing/2014/main" id="{0DA5C6B8-9A39-66A8-9C0A-752862BDC672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01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¿QUÉ PASA DESDE UN CAMBIO DE CÓDIGO HASTA LLEGAR A PRODUCCIÓN?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6C888E-FB40-EF40-1D62-5B1D7792DC1A}"/>
              </a:ext>
            </a:extLst>
          </p:cNvPr>
          <p:cNvSpPr/>
          <p:nvPr/>
        </p:nvSpPr>
        <p:spPr>
          <a:xfrm>
            <a:off x="457200" y="68122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Diseña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</a:t>
            </a: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tu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</a:t>
            </a: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propio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pipeline</a:t>
            </a:r>
            <a:endParaRPr lang="en-US" sz="3600" dirty="0">
              <a:solidFill>
                <a:srgbClr val="303030"/>
              </a:solidFill>
              <a:latin typeface="Telegraf, Inter, sans-serif"/>
              <a:ea typeface="Telegraf, Inter, sans-serif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53BBED-29BA-5FAC-99F4-6F9B9C6BBB6F}"/>
              </a:ext>
            </a:extLst>
          </p:cNvPr>
          <p:cNvSpPr/>
          <p:nvPr/>
        </p:nvSpPr>
        <p:spPr>
          <a:xfrm>
            <a:off x="502920" y="1511723"/>
            <a:ext cx="7772400" cy="2567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Imaginad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que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vuestra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aplicación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tiene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miles de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usuarios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:</a:t>
            </a:r>
            <a:b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</a:br>
            <a:endParaRPr lang="en-US" sz="16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  <a:cs typeface="Telegraf, Inter, sans-serif" pitchFamily="34" charset="-120"/>
            </a:endParaRPr>
          </a:p>
          <a:p>
            <a:pPr marL="457200" indent="-457200">
              <a:buAutoNum type="arabicPeriod"/>
            </a:pP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¿Que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debería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ocurrir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cuando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alguien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modifica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el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Código?</a:t>
            </a:r>
          </a:p>
          <a:p>
            <a:pPr marL="457200" indent="-457200">
              <a:buAutoNum type="arabicPeriod"/>
            </a:pP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¿Que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deberíamos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comprobar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antes de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aceptar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el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cambio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?</a:t>
            </a:r>
          </a:p>
          <a:p>
            <a:pPr marL="457200" indent="-457200">
              <a:buAutoNum type="arabicPeriod"/>
            </a:pP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¿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Cómo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sabemos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que la app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sigue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funcionando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?</a:t>
            </a:r>
          </a:p>
          <a:p>
            <a:pPr marL="457200" indent="-457200">
              <a:buAutoNum type="arabicPeriod"/>
            </a:pP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¿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Queremos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probar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el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cambio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antes de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publicarlo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?</a:t>
            </a:r>
          </a:p>
          <a:p>
            <a:pPr marL="457200" indent="-457200">
              <a:buAutoNum type="arabicPeriod"/>
            </a:pP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¿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Cuando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debería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de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llegar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a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producción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?</a:t>
            </a:r>
          </a:p>
        </p:txBody>
      </p:sp>
      <p:pic>
        <p:nvPicPr>
          <p:cNvPr id="6" name="Image 0" descr="/home/claude/edem_azul.png">
            <a:extLst>
              <a:ext uri="{FF2B5EF4-FFF2-40B4-BE49-F238E27FC236}">
                <a16:creationId xmlns:a16="http://schemas.microsoft.com/office/drawing/2014/main" id="{7A50BAA4-2E91-FA5A-2AEA-ECFC8F509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926BC095-840D-5ABD-A126-3A1AEFC73A73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5EAD230-7F0A-E8F0-695D-646981C7F308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FC40AE1-68B0-E374-81FF-77A8FFD005ED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10</a:t>
            </a:r>
            <a:endParaRPr lang="en-US" sz="900" dirty="0"/>
          </a:p>
        </p:txBody>
      </p:sp>
      <p:pic>
        <p:nvPicPr>
          <p:cNvPr id="1026" name="Picture 2" descr="icono de reloj logo 19034958 Vector en Vecteezy">
            <a:extLst>
              <a:ext uri="{FF2B5EF4-FFF2-40B4-BE49-F238E27FC236}">
                <a16:creationId xmlns:a16="http://schemas.microsoft.com/office/drawing/2014/main" id="{EF38897F-F1D0-D7E5-8478-214752E84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850" y="2571750"/>
            <a:ext cx="2024673" cy="2024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003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EAE81-0032-BF7F-26BE-2D90FB83F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Tema">
            <a:extLst>
              <a:ext uri="{FF2B5EF4-FFF2-40B4-BE49-F238E27FC236}">
                <a16:creationId xmlns:a16="http://schemas.microsoft.com/office/drawing/2014/main" id="{B3908D16-903A-49DF-D35A-476B24FDE03E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01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¿QUÉ PASA DESDE UN CAMBIO DE CÓDIGO HASTA LLEGAR A PRODUCCIÓN?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BAF0A3-7764-F0AA-BC91-D955523E8BFB}"/>
              </a:ext>
            </a:extLst>
          </p:cNvPr>
          <p:cNvSpPr/>
          <p:nvPr/>
        </p:nvSpPr>
        <p:spPr>
          <a:xfrm>
            <a:off x="457200" y="386925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Una </a:t>
            </a:r>
            <a:r>
              <a:rPr lang="en-US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posible</a:t>
            </a:r>
            <a:r>
              <a:rPr lang="en-US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 </a:t>
            </a:r>
            <a:r>
              <a:rPr lang="en-US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solución</a:t>
            </a:r>
            <a:r>
              <a:rPr lang="en-US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 (hay miles…)</a:t>
            </a:r>
            <a:endParaRPr lang="en-US" dirty="0">
              <a:solidFill>
                <a:srgbClr val="303030"/>
              </a:solidFill>
              <a:latin typeface="Telegraf, Inter, sans-serif"/>
              <a:ea typeface="Telegraf, Inter, sans-serif"/>
              <a:cs typeface="Calibri"/>
            </a:endParaRPr>
          </a:p>
        </p:txBody>
      </p:sp>
      <p:pic>
        <p:nvPicPr>
          <p:cNvPr id="6" name="Image 0" descr="/home/claude/edem_azul.png">
            <a:extLst>
              <a:ext uri="{FF2B5EF4-FFF2-40B4-BE49-F238E27FC236}">
                <a16:creationId xmlns:a16="http://schemas.microsoft.com/office/drawing/2014/main" id="{8EB9277C-6929-EE7B-249E-4CD0ACDAA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626AEC4D-BBDF-8922-D6FA-C4D05E4B171F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B364C5A-39F4-2CDD-44CA-B466BC5E9CB1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DCD45DE-30D2-6891-32CC-B0DD1E25A02F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11</a:t>
            </a:r>
            <a:endParaRPr lang="en-US" sz="9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E3BDC71-622E-B40D-293C-65E364F7C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486" y="1000751"/>
            <a:ext cx="6645027" cy="373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2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87D618-D308-07EB-0297-0C8891A0D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Tema">
            <a:extLst>
              <a:ext uri="{FF2B5EF4-FFF2-40B4-BE49-F238E27FC236}">
                <a16:creationId xmlns:a16="http://schemas.microsoft.com/office/drawing/2014/main" id="{462E3F36-EB6F-93D7-F418-C4C34AC2A3C0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01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¿QUÉ PASA DESDE UN CAMBIO DE CÓDIGO HASTA LLEGAR A PRODUCCIÓN?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9E4515-995A-3818-641D-7FBA5166EB2E}"/>
              </a:ext>
            </a:extLst>
          </p:cNvPr>
          <p:cNvSpPr/>
          <p:nvPr/>
        </p:nvSpPr>
        <p:spPr>
          <a:xfrm>
            <a:off x="457200" y="68122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De la idea a </a:t>
            </a: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Github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Actions</a:t>
            </a:r>
            <a:endParaRPr lang="en-US" sz="3600" dirty="0">
              <a:solidFill>
                <a:srgbClr val="303030"/>
              </a:solidFill>
              <a:latin typeface="Telegraf, Inter, sans-serif"/>
              <a:ea typeface="Telegraf, Inter, sans-serif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B048B8-8203-483B-A0FC-84C1D0DBBCD5}"/>
              </a:ext>
            </a:extLst>
          </p:cNvPr>
          <p:cNvSpPr/>
          <p:nvPr/>
        </p:nvSpPr>
        <p:spPr>
          <a:xfrm>
            <a:off x="457199" y="1469494"/>
            <a:ext cx="3337917" cy="2735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Nuestro Pipeline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Github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Actions:</a:t>
            </a:r>
          </a:p>
          <a:p>
            <a:pPr marL="0" indent="0">
              <a:buNone/>
            </a:pPr>
            <a:endParaRPr lang="en-US" sz="16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  <a:cs typeface="Telegraf, Inter, sans-serif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PR 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 </a:t>
            </a:r>
            <a:r>
              <a:rPr lang="en-US" sz="1600" dirty="0">
                <a:solidFill>
                  <a:srgbClr val="FF0000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Event/Trigger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Build  </a:t>
            </a:r>
            <a:r>
              <a:rPr lang="en-US" sz="1600" dirty="0">
                <a:solidFill>
                  <a:srgbClr val="FF0000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Job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Test  </a:t>
            </a:r>
            <a:r>
              <a:rPr lang="en-US" sz="1600" dirty="0">
                <a:solidFill>
                  <a:srgbClr val="FF0000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Job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Preview  </a:t>
            </a:r>
            <a:r>
              <a:rPr lang="en-US" sz="1600" dirty="0">
                <a:solidFill>
                  <a:srgbClr val="FF0000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Job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Production  </a:t>
            </a:r>
            <a:r>
              <a:rPr lang="en-US" sz="1600" dirty="0">
                <a:solidFill>
                  <a:srgbClr val="FF0000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Job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Maquina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donde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 ”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runnea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”  </a:t>
            </a:r>
            <a:r>
              <a:rPr lang="en-US" sz="1600" dirty="0">
                <a:solidFill>
                  <a:srgbClr val="FF0000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Runner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Tareas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 de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cada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fase</a:t>
            </a:r>
            <a:r>
              <a:rPr lang="en-US" sz="16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  </a:t>
            </a:r>
            <a:r>
              <a:rPr lang="en-US" sz="1600" dirty="0">
                <a:solidFill>
                  <a:srgbClr val="FF0000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  <a:sym typeface="Wingdings" pitchFamily="2" charset="2"/>
              </a:rPr>
              <a:t>Steps</a:t>
            </a:r>
            <a:endParaRPr lang="en-US" sz="1600" dirty="0">
              <a:solidFill>
                <a:srgbClr val="FF0000"/>
              </a:solidFill>
              <a:latin typeface="Telegraf, Inter, sans-serif" pitchFamily="34" charset="0"/>
              <a:ea typeface="Telegraf, Inter, sans-serif" pitchFamily="34" charset="-122"/>
              <a:cs typeface="Telegraf, Inter, sans-serif" pitchFamily="34" charset="-120"/>
            </a:endParaRPr>
          </a:p>
        </p:txBody>
      </p:sp>
      <p:pic>
        <p:nvPicPr>
          <p:cNvPr id="6" name="Image 0" descr="/home/claude/edem_azul.png">
            <a:extLst>
              <a:ext uri="{FF2B5EF4-FFF2-40B4-BE49-F238E27FC236}">
                <a16:creationId xmlns:a16="http://schemas.microsoft.com/office/drawing/2014/main" id="{0141D7BB-AA95-CA6B-8132-89B256BBB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FCB1C298-92C6-7CED-D3B6-7EF83D2F48EB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739D602-7096-5500-D696-806417B6287E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EB8BAD-92AA-62E6-38D6-443B29ECC7B0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12</a:t>
            </a:r>
            <a:endParaRPr lang="en-US" sz="900" dirty="0"/>
          </a:p>
        </p:txBody>
      </p:sp>
      <p:pic>
        <p:nvPicPr>
          <p:cNvPr id="4098" name="Picture 2" descr="Compatibility with Github actions · Issue #679 · yaml/pyyaml">
            <a:extLst>
              <a:ext uri="{FF2B5EF4-FFF2-40B4-BE49-F238E27FC236}">
                <a16:creationId xmlns:a16="http://schemas.microsoft.com/office/drawing/2014/main" id="{134F1165-88EB-67D4-3FF5-49B39DD81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895" y="1458466"/>
            <a:ext cx="3566160" cy="246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83A55E2-9549-44A4-2310-BEF3808E9AFF}"/>
              </a:ext>
            </a:extLst>
          </p:cNvPr>
          <p:cNvSpPr txBox="1"/>
          <p:nvPr/>
        </p:nvSpPr>
        <p:spPr>
          <a:xfrm>
            <a:off x="1866703" y="4179101"/>
            <a:ext cx="4403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Un workflow no es mas que </a:t>
            </a:r>
            <a:r>
              <a:rPr lang="en-U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nuestro</a:t>
            </a:r>
            <a:r>
              <a:rPr lang="en-U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diagrama</a:t>
            </a:r>
            <a:r>
              <a:rPr lang="en-U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convertido</a:t>
            </a:r>
            <a:r>
              <a:rPr lang="en-U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YAML</a:t>
            </a:r>
            <a:endParaRPr lang="es-ES_tradnl" sz="12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09B893B-6A9B-D426-3B48-300EB9271D3C}"/>
              </a:ext>
            </a:extLst>
          </p:cNvPr>
          <p:cNvSpPr/>
          <p:nvPr/>
        </p:nvSpPr>
        <p:spPr>
          <a:xfrm>
            <a:off x="1866703" y="4179101"/>
            <a:ext cx="4276189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83117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51725-1C14-0838-48EC-427DB17D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Tema">
            <a:extLst>
              <a:ext uri="{FF2B5EF4-FFF2-40B4-BE49-F238E27FC236}">
                <a16:creationId xmlns:a16="http://schemas.microsoft.com/office/drawing/2014/main" id="{89F79403-21D6-801C-01C4-A86403DFFACF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01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¿QUÉ PASA DESDE UN CAMBIO DE CÓDIGO HASTA LLEGAR A PRODUCCIÓN?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374812-DC57-0573-E824-CB337808AD90}"/>
              </a:ext>
            </a:extLst>
          </p:cNvPr>
          <p:cNvSpPr/>
          <p:nvPr/>
        </p:nvSpPr>
        <p:spPr>
          <a:xfrm>
            <a:off x="457200" y="5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Mission: </a:t>
            </a: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Automatizar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 </a:t>
            </a: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vuestra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 </a:t>
            </a: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película</a:t>
            </a:r>
            <a:endParaRPr lang="en-US" sz="3600" dirty="0">
              <a:solidFill>
                <a:srgbClr val="303030"/>
              </a:solidFill>
              <a:latin typeface="Telegraf, Inter, sans-serif"/>
              <a:ea typeface="Telegraf, Inter, sans-serif"/>
              <a:cs typeface="Calibri"/>
            </a:endParaRPr>
          </a:p>
        </p:txBody>
      </p:sp>
      <p:pic>
        <p:nvPicPr>
          <p:cNvPr id="6" name="Image 0" descr="/home/claude/edem_azul.png">
            <a:extLst>
              <a:ext uri="{FF2B5EF4-FFF2-40B4-BE49-F238E27FC236}">
                <a16:creationId xmlns:a16="http://schemas.microsoft.com/office/drawing/2014/main" id="{2D6F361C-7799-18E7-7644-BD42095D6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CCA6AA22-1600-9913-B7E4-7B5C9D6DA4BD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D1E4C79-5E2A-A22F-07FC-E64DD9E0BE61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9F45923-6E96-9E1E-CB61-EB80D5B0A0CE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13</a:t>
            </a:r>
            <a:endParaRPr lang="en-US" sz="9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C2CF625-8289-D1B0-D2DC-C0254985D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80" y="1231356"/>
            <a:ext cx="6217900" cy="3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531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8B8A7-C06D-A67D-DAE2-EE954FF3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Tema">
            <a:extLst>
              <a:ext uri="{FF2B5EF4-FFF2-40B4-BE49-F238E27FC236}">
                <a16:creationId xmlns:a16="http://schemas.microsoft.com/office/drawing/2014/main" id="{6D50A64A-8EFA-0DDC-01F7-34D9F46CFFA9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01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¿QUÉ PASA DESDE UN CAMBIO DE CÓDIGO HASTA LLEGAR A PRODUCCIÓN?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AA228C-6208-49AE-7C29-FE30588B0631}"/>
              </a:ext>
            </a:extLst>
          </p:cNvPr>
          <p:cNvSpPr/>
          <p:nvPr/>
        </p:nvSpPr>
        <p:spPr>
          <a:xfrm>
            <a:off x="457200" y="520040"/>
            <a:ext cx="8229600" cy="370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Mission: </a:t>
            </a:r>
            <a:r>
              <a:rPr lang="en-US" sz="2400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Automatizar</a:t>
            </a:r>
            <a:r>
              <a:rPr lang="en-US" sz="24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 </a:t>
            </a:r>
            <a:r>
              <a:rPr lang="en-US" sz="2400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vuestra</a:t>
            </a:r>
            <a:r>
              <a:rPr lang="en-US" sz="24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 </a:t>
            </a:r>
            <a:r>
              <a:rPr lang="en-US" sz="2400" b="1" dirty="0" err="1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película</a:t>
            </a:r>
            <a:r>
              <a:rPr lang="en-US" sz="2400" b="1" dirty="0">
                <a:solidFill>
                  <a:srgbClr val="303030"/>
                </a:solidFill>
                <a:latin typeface="Telegraf, Inter, sans-serif"/>
                <a:ea typeface="Telegraf, Inter, sans-serif"/>
                <a:cs typeface="Calibri"/>
              </a:rPr>
              <a:t> II</a:t>
            </a:r>
            <a:endParaRPr lang="en-US" sz="2400" dirty="0">
              <a:solidFill>
                <a:srgbClr val="303030"/>
              </a:solidFill>
              <a:latin typeface="Telegraf, Inter, sans-serif"/>
              <a:ea typeface="Telegraf, Inter, sans-serif"/>
              <a:cs typeface="Calibri"/>
            </a:endParaRPr>
          </a:p>
        </p:txBody>
      </p:sp>
      <p:pic>
        <p:nvPicPr>
          <p:cNvPr id="6" name="Image 0" descr="/home/claude/edem_azul.png">
            <a:extLst>
              <a:ext uri="{FF2B5EF4-FFF2-40B4-BE49-F238E27FC236}">
                <a16:creationId xmlns:a16="http://schemas.microsoft.com/office/drawing/2014/main" id="{BDAE5EF0-BC28-0EC3-DD04-D0F516CC3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0D13C36B-2010-E327-705A-5F7A71E3DF72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621F0F2-2698-1108-22B6-D2F242A01571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677C4B9-EDA7-F595-D9AD-AB105E2F3AE1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14</a:t>
            </a:r>
            <a:endParaRPr lang="en-US" sz="900" dirty="0"/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E952BF0C-4287-39D3-8729-7662309A6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953" y="933025"/>
            <a:ext cx="2813148" cy="3724920"/>
          </a:xfrm>
          <a:prstGeom prst="rect">
            <a:avLst/>
          </a:prstGeom>
        </p:spPr>
      </p:pic>
      <p:pic>
        <p:nvPicPr>
          <p:cNvPr id="11" name="Imagen 10" descr="Texto&#10;&#10;Descripción generada automáticamente">
            <a:extLst>
              <a:ext uri="{FF2B5EF4-FFF2-40B4-BE49-F238E27FC236}">
                <a16:creationId xmlns:a16="http://schemas.microsoft.com/office/drawing/2014/main" id="{AC2C5B1F-DEE2-AE7A-54D9-DA8C80AE4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6486" y="933025"/>
            <a:ext cx="2846543" cy="390415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CBF8C89-D6EE-AD8E-E49A-28AB8904D9EA}"/>
              </a:ext>
            </a:extLst>
          </p:cNvPr>
          <p:cNvSpPr txBox="1"/>
          <p:nvPr/>
        </p:nvSpPr>
        <p:spPr>
          <a:xfrm>
            <a:off x="7190153" y="2571750"/>
            <a:ext cx="1333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hlinkClick r:id="rId6"/>
              </a:rPr>
              <a:t>mi-</a:t>
            </a:r>
            <a:r>
              <a:rPr lang="es-ES_tradnl" dirty="0" err="1">
                <a:hlinkClick r:id="rId6"/>
              </a:rPr>
              <a:t>peli.yaml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653207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0D797-0E07-84A1-FD5C-8DD81FC16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em_blanco.png">
            <a:extLst>
              <a:ext uri="{FF2B5EF4-FFF2-40B4-BE49-F238E27FC236}">
                <a16:creationId xmlns:a16="http://schemas.microsoft.com/office/drawing/2014/main" id="{8FD97BD4-24E6-C4CB-CFD6-496CB9EBE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914400" cy="21735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8666DD3-A259-C0AF-2E37-E21AF9C3264D}"/>
              </a:ext>
            </a:extLst>
          </p:cNvPr>
          <p:cNvSpPr/>
          <p:nvPr/>
        </p:nvSpPr>
        <p:spPr>
          <a:xfrm>
            <a:off x="4572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15C41"/>
                </a:solidFill>
                <a:latin typeface="Telegraf"/>
                <a:ea typeface="Telegraf"/>
              </a:rPr>
              <a:t>SECCIÓN 02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66E4B53-3116-861B-B52A-605E7629BE0B}"/>
              </a:ext>
            </a:extLst>
          </p:cNvPr>
          <p:cNvSpPr/>
          <p:nvPr/>
        </p:nvSpPr>
        <p:spPr>
          <a:xfrm>
            <a:off x="457200" y="2514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Componentes</a:t>
            </a: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de las </a:t>
            </a:r>
            <a:r>
              <a:rPr lang="en-US" sz="4800" b="1" dirty="0" err="1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Github</a:t>
            </a: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Actions</a:t>
            </a:r>
            <a:endParaRPr lang="en-US" sz="4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788260D-4EAB-7C14-C54A-CC8ADD9E14BA}"/>
              </a:ext>
            </a:extLst>
          </p:cNvPr>
          <p:cNvSpPr/>
          <p:nvPr/>
        </p:nvSpPr>
        <p:spPr>
          <a:xfrm>
            <a:off x="457200" y="4297680"/>
            <a:ext cx="54864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0934A32-B0E4-BAC0-1605-FD69B4696A63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489B7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MÁSTER EN IA, BIG DATA Y CLOUD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87683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Componentes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 de las </a:t>
            </a: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Github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 Actions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6320" y="1901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Componentes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23317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300" dirty="0">
                <a:solidFill>
                  <a:srgbClr val="475569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Workflows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300" dirty="0">
                <a:solidFill>
                  <a:srgbClr val="475569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Events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300" dirty="0">
                <a:solidFill>
                  <a:srgbClr val="475569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Runners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300" dirty="0">
                <a:solidFill>
                  <a:srgbClr val="475569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Jobs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300" dirty="0">
                <a:solidFill>
                  <a:srgbClr val="475569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Steps</a:t>
            </a:r>
          </a:p>
          <a:p>
            <a:pPr marL="0" indent="0">
              <a:spcAft>
                <a:spcPts val="600"/>
              </a:spcAft>
              <a:buNone/>
            </a:pPr>
            <a:endParaRPr lang="en-US" sz="1300" dirty="0" err="1">
              <a:solidFill>
                <a:srgbClr val="475569"/>
              </a:solidFill>
              <a:latin typeface="Telegraf, Inter, sans-serif" pitchFamily="34" charset="0"/>
              <a:ea typeface="Telegraf, Inter, sans-serif" pitchFamily="34" charset="-122"/>
              <a:cs typeface="Telegraf, Inter, sans-serif" pitchFamily="34" charset="-120"/>
            </a:endParaRPr>
          </a:p>
        </p:txBody>
      </p:sp>
      <p:pic>
        <p:nvPicPr>
          <p:cNvPr id="10" name="Image 0" descr="/home/claude/edem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16</a:t>
            </a:r>
            <a:endParaRPr lang="en-US" sz="900" dirty="0"/>
          </a:p>
        </p:txBody>
      </p:sp>
      <p:sp>
        <p:nvSpPr>
          <p:cNvPr id="17" name="Header Tema">
            <a:extLst>
              <a:ext uri="{FF2B5EF4-FFF2-40B4-BE49-F238E27FC236}">
                <a16:creationId xmlns:a16="http://schemas.microsoft.com/office/drawing/2014/main" id="{E91FC00B-9BA2-0947-C28E-4B562B420528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02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COMPONENTES DE LAS GITHUB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2" name="Picture 2" descr="Qué es GitHub y por qué es útil en la actualidad 💻 | HACK A BOSS">
            <a:extLst>
              <a:ext uri="{FF2B5EF4-FFF2-40B4-BE49-F238E27FC236}">
                <a16:creationId xmlns:a16="http://schemas.microsoft.com/office/drawing/2014/main" id="{7425C102-BDE4-D7D7-BA31-4C4EFC585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1971802"/>
            <a:ext cx="2638425" cy="175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Definición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pic>
        <p:nvPicPr>
          <p:cNvPr id="16" name="Image 0" descr="/home/claude/edem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17</a:t>
            </a:r>
            <a:endParaRPr lang="en-US" sz="900" dirty="0"/>
          </a:p>
        </p:txBody>
      </p:sp>
      <p:sp>
        <p:nvSpPr>
          <p:cNvPr id="21" name="Header Tema">
            <a:extLst>
              <a:ext uri="{FF2B5EF4-FFF2-40B4-BE49-F238E27FC236}">
                <a16:creationId xmlns:a16="http://schemas.microsoft.com/office/drawing/2014/main" id="{CC6412BB-1E20-F2D0-773F-45340EAF6CAB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02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COMPONENTES DE LAS GITHUB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07420A8-CB71-DF88-1F31-9CA8E76BD35D}"/>
              </a:ext>
            </a:extLst>
          </p:cNvPr>
          <p:cNvSpPr txBox="1"/>
          <p:nvPr/>
        </p:nvSpPr>
        <p:spPr>
          <a:xfrm>
            <a:off x="1051560" y="1978006"/>
            <a:ext cx="7498075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Se configura un </a:t>
            </a:r>
            <a:r>
              <a:rPr lang="es-ES" sz="2200" b="1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</a:t>
            </a:r>
            <a:r>
              <a:rPr lang="es-E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de GitHub </a:t>
            </a:r>
            <a:r>
              <a:rPr lang="es-ES" sz="2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Actions</a:t>
            </a:r>
            <a:r>
              <a:rPr lang="es-E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para que se active cuando se produce un </a:t>
            </a:r>
            <a:r>
              <a:rPr lang="es-ES" sz="22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evento</a:t>
            </a:r>
            <a:r>
              <a:rPr lang="es-E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que, a continuación, ejecuta una serie de </a:t>
            </a:r>
            <a:r>
              <a:rPr lang="es-ES" sz="2200" b="1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jobs</a:t>
            </a:r>
            <a:r>
              <a:rPr lang="es-E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en un </a:t>
            </a:r>
            <a:r>
              <a:rPr lang="es-ES" sz="22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runner</a:t>
            </a:r>
            <a:r>
              <a:rPr lang="es-E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que incluyen uno o varios </a:t>
            </a:r>
            <a:r>
              <a:rPr lang="es-ES" sz="2200" b="1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steps</a:t>
            </a:r>
            <a:r>
              <a:rPr lang="es-E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que llaman a uno o varios </a:t>
            </a:r>
            <a:r>
              <a:rPr lang="es-ES" sz="22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scripts</a:t>
            </a:r>
            <a:r>
              <a:rPr lang="es-E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o una o varias </a:t>
            </a:r>
            <a:r>
              <a:rPr lang="es-ES" sz="22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acciones</a:t>
            </a:r>
            <a:r>
              <a:rPr lang="es-ES" sz="2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.</a:t>
            </a:r>
          </a:p>
          <a:p>
            <a:br>
              <a:rPr lang="es-ES" sz="1800" dirty="0">
                <a:latin typeface="Candara" panose="020E0502030303020204" pitchFamily="34" charset="0"/>
              </a:rPr>
            </a:br>
            <a:endParaRPr lang="es-ES" sz="1800" dirty="0">
              <a:latin typeface="Candara" panose="020E0502030303020204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14F4F0D-D1C0-FE95-E820-56B03AB05856}"/>
              </a:ext>
            </a:extLst>
          </p:cNvPr>
          <p:cNvSpPr/>
          <p:nvPr/>
        </p:nvSpPr>
        <p:spPr>
          <a:xfrm>
            <a:off x="604434" y="1759058"/>
            <a:ext cx="8206352" cy="196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Componentes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: Workflow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Workflow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2423160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0" y="25603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Un proceso automatizado configurable que ejecutará uno o más trabajos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Definido en el directorio del repositorio: .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github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/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workflows</a:t>
            </a:r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Un repositorio puede tener múltiples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, cada uno de los cuales puede realizar un conjunto diferente de tareas.</a:t>
            </a:r>
          </a:p>
          <a:p>
            <a:endParaRPr lang="es-ES" sz="1400" dirty="0">
              <a:latin typeface="Candara" panose="020E0502030303020204" pitchFamily="34" charset="0"/>
            </a:endParaRPr>
          </a:p>
          <a:p>
            <a:endParaRPr lang="es-ES" sz="1400" dirty="0">
              <a:latin typeface="Candara" panose="020E0502030303020204" pitchFamily="34" charset="0"/>
            </a:endParaRPr>
          </a:p>
        </p:txBody>
      </p:sp>
      <p:pic>
        <p:nvPicPr>
          <p:cNvPr id="9" name="Image 0" descr="/home/claude/edem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18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691018C0-B4B5-0004-83E3-8A51F48D6C16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02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COMPONENTES DE LAS GITHUB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2" name="Picture 2" descr="Workflow - Free seo and web icons">
            <a:extLst>
              <a:ext uri="{FF2B5EF4-FFF2-40B4-BE49-F238E27FC236}">
                <a16:creationId xmlns:a16="http://schemas.microsoft.com/office/drawing/2014/main" id="{51AE604E-9C48-681E-38D8-85FE2ECAA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" y="1823001"/>
            <a:ext cx="2497539" cy="249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2F9F0-5D98-6668-441A-0D1121A6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34DD8C1-CA96-1429-3D24-38E8140E40D0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Componentes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: Event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6CA7E2-A67D-B131-9310-510600BA32DD}"/>
              </a:ext>
            </a:extLst>
          </p:cNvPr>
          <p:cNvSpPr/>
          <p:nvPr/>
        </p:nvSpPr>
        <p:spPr>
          <a:xfrm>
            <a:off x="457200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Event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E7EC91B-08C9-89BC-83AB-92074A71EFDD}"/>
              </a:ext>
            </a:extLst>
          </p:cNvPr>
          <p:cNvSpPr/>
          <p:nvPr/>
        </p:nvSpPr>
        <p:spPr>
          <a:xfrm>
            <a:off x="4572000" y="2423160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3BDB161-E7A5-02FD-1695-BA4B495AFAA1}"/>
              </a:ext>
            </a:extLst>
          </p:cNvPr>
          <p:cNvSpPr/>
          <p:nvPr/>
        </p:nvSpPr>
        <p:spPr>
          <a:xfrm>
            <a:off x="4572000" y="25603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 Actividad específica que se produce en el repositorio y que puede utilizarse como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trigger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de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.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A veces se denomina «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triggers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».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hlinkClick r:id="rId3"/>
              </a:rPr>
              <a:t>Eventos que desencadenan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hlinkClick r:id="rId3"/>
              </a:rPr>
              <a:t>workflows</a:t>
            </a:r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57669166-1766-AA24-78BE-9BBFBD8DF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226FA3D4-A66A-ABC8-D1A4-B78EFE0A315B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67916FD-971C-F0FD-D15A-C89B3B58B9B9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8BFA774-5E02-C735-A7D3-1E7C9114866F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19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C6ECE188-C478-FB22-5F30-19CB1C16C8D8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02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COMPONENTES DE LAS GITHUB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4" name="Picture 2" descr="Start workflow Vector Icons free download in SVG, PNG Format">
            <a:extLst>
              <a:ext uri="{FF2B5EF4-FFF2-40B4-BE49-F238E27FC236}">
                <a16:creationId xmlns:a16="http://schemas.microsoft.com/office/drawing/2014/main" id="{C749F846-0C5A-E456-7A88-795C08590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" y="1947672"/>
            <a:ext cx="2194541" cy="219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13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31293-0F5C-FA23-E592-B307C9838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FDDF9C2-BCF2-6ADB-E916-776C9FD7F370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Componentes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: Runner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C802B4-7DC2-880F-6EAD-EF4A7F617DCF}"/>
              </a:ext>
            </a:extLst>
          </p:cNvPr>
          <p:cNvSpPr/>
          <p:nvPr/>
        </p:nvSpPr>
        <p:spPr>
          <a:xfrm>
            <a:off x="457200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Runner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B642068-44D5-6859-824D-974F2862C167}"/>
              </a:ext>
            </a:extLst>
          </p:cNvPr>
          <p:cNvSpPr/>
          <p:nvPr/>
        </p:nvSpPr>
        <p:spPr>
          <a:xfrm>
            <a:off x="4572000" y="2423160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DF8FDE4-648B-1450-72FD-92B27D1245AE}"/>
              </a:ext>
            </a:extLst>
          </p:cNvPr>
          <p:cNvSpPr/>
          <p:nvPr/>
        </p:nvSpPr>
        <p:spPr>
          <a:xfrm>
            <a:off x="4572000" y="25603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Una instancia de servidor virtual que ejecuta los trabajos en tu flujo de trabajo cuando se activa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Proporcionado por GitHub y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autohosteado</a:t>
            </a:r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Windows, Ubuntu y MacOS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2BC73B5B-4B25-FF0E-90FC-63BC83A51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DB6CEA78-9CF6-DC7D-54F4-3F8CC486FA77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EEC3914-C89B-6C70-DC1E-CED0D2525F36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346F6E0-E1F8-5950-7F31-D876DA89E0EB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20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F466FDD5-BDF9-3720-B8E6-6CD4BFC0A558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02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COMPONENTES DE LAS GITHUB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2" name="Picture 2" descr="207.700+ Computer Logo Ilustraciones de Stock, gráficos vectoriales libres  de derechos y clip art - iStock | Computer icon">
            <a:extLst>
              <a:ext uri="{FF2B5EF4-FFF2-40B4-BE49-F238E27FC236}">
                <a16:creationId xmlns:a16="http://schemas.microsoft.com/office/drawing/2014/main" id="{BC59DAD9-3720-89DD-0396-2A969977E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" y="1442183"/>
            <a:ext cx="2782576" cy="278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627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0FBCC-4C55-8368-4416-64AF5E70A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6768827-DB79-2FDA-F667-DACAE5D0FCBB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Componentes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: Jobs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F9735B-0DEC-02CD-612F-F69040AF34DF}"/>
              </a:ext>
            </a:extLst>
          </p:cNvPr>
          <p:cNvSpPr/>
          <p:nvPr/>
        </p:nvSpPr>
        <p:spPr>
          <a:xfrm>
            <a:off x="4572000" y="159090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Job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0E937C2-A5A0-60FD-B5BD-ABDE22ABF024}"/>
              </a:ext>
            </a:extLst>
          </p:cNvPr>
          <p:cNvSpPr/>
          <p:nvPr/>
        </p:nvSpPr>
        <p:spPr>
          <a:xfrm>
            <a:off x="4572000" y="1992308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4A6E0BF-9CE3-57C8-3637-4DC0A4350593}"/>
              </a:ext>
            </a:extLst>
          </p:cNvPr>
          <p:cNvSpPr/>
          <p:nvPr/>
        </p:nvSpPr>
        <p:spPr>
          <a:xfrm>
            <a:off x="4572000" y="2123268"/>
            <a:ext cx="4114800" cy="270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Serie de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steps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en un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que se ejecutan en el mismo ejecutor.</a:t>
            </a: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Cada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job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se ejecuta en un entorno de ejecutor especificado por su propiedad </a:t>
            </a:r>
            <a:r>
              <a:rPr lang="es-ES" sz="12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RUNS-ON.</a:t>
            </a:r>
          </a:p>
          <a:p>
            <a:endParaRPr lang="es-ES" sz="1200" b="1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Los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jobs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se ejecutan en paralelo de forma predeterminada.</a:t>
            </a: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Un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puede ejecutar un número ilimitado* de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jobs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.</a:t>
            </a: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Su ID Es un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String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, bebe ser única dentro del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y bebe comenzar con una letra o _</a:t>
            </a:r>
          </a:p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y solo puede contener caracteres alfanuméricos, -, o _</a:t>
            </a: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2A99458B-AF73-9300-6C66-B502C5AB6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6A20BABE-AA80-5F27-4F86-EE36AB7DB707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125E7D8-27E7-427E-5FE0-80AB79B8406A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4B0D762-7343-B83E-E688-7F7DD88745AC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21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67D5C0B8-9AEE-5A53-CCB5-D0596372080E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02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COMPONENTES DE LAS GITHUB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4" name="Picture 2" descr="Workflow - Free professions and jobs icons">
            <a:extLst>
              <a:ext uri="{FF2B5EF4-FFF2-40B4-BE49-F238E27FC236}">
                <a16:creationId xmlns:a16="http://schemas.microsoft.com/office/drawing/2014/main" id="{74915F64-3621-3C9B-2EE1-20F9402B2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" y="1760887"/>
            <a:ext cx="2628233" cy="262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514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72987-0702-BA3F-ECE7-218B594B6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B44FBCC-AF3D-5991-EF3C-C93E988500E3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Componentes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: Steps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E08540-B922-E024-4693-506BC729F120}"/>
              </a:ext>
            </a:extLst>
          </p:cNvPr>
          <p:cNvSpPr/>
          <p:nvPr/>
        </p:nvSpPr>
        <p:spPr>
          <a:xfrm>
            <a:off x="457200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Steps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D2278E2-9FAE-5647-3BD0-9316CCDCAE40}"/>
              </a:ext>
            </a:extLst>
          </p:cNvPr>
          <p:cNvSpPr/>
          <p:nvPr/>
        </p:nvSpPr>
        <p:spPr>
          <a:xfrm>
            <a:off x="4572000" y="2423160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70DF7D-B5AB-3477-56C4-4D7B5D55BEC3}"/>
              </a:ext>
            </a:extLst>
          </p:cNvPr>
          <p:cNvSpPr/>
          <p:nvPr/>
        </p:nvSpPr>
        <p:spPr>
          <a:xfrm>
            <a:off x="4572000" y="25603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Ya sea un script de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shell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que se ejecutará o una acción que se llevará a cabo.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Se ejecutan en orden y dependen unos de otros (son una serie de tareas).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Todos los pasos de un trabajo se ejecutan en el mismo ejecutor.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Tienen acceso al sistema de archivos y al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workspace</a:t>
            </a:r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60E52951-64D7-50F9-AABD-7FF17CADD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A0A1E0AC-12D0-1466-E177-2304BF50FA95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4AB0D5D-79D3-FEBB-FE18-573D4AB46990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E07D1BE-B674-F607-4087-44CB8CE07E58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22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EB3ADB4B-50F4-A69F-55A9-075754FC9B25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02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COMPONENTES DE LAS GITHUB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4" name="Picture 2" descr="Workflow process icon simple thin outline | Premium Vector">
            <a:extLst>
              <a:ext uri="{FF2B5EF4-FFF2-40B4-BE49-F238E27FC236}">
                <a16:creationId xmlns:a16="http://schemas.microsoft.com/office/drawing/2014/main" id="{3205EC5F-E389-713A-306E-8CE6079F1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68" y="1647141"/>
            <a:ext cx="2974158" cy="2974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029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208CA-20EC-9685-A2CB-5AF65C14D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17CB24B-1C0B-B61A-C386-889EE5329B87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Componentes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: Actions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31E5302-8133-B367-D1B7-F4109930A2C7}"/>
              </a:ext>
            </a:extLst>
          </p:cNvPr>
          <p:cNvSpPr/>
          <p:nvPr/>
        </p:nvSpPr>
        <p:spPr>
          <a:xfrm>
            <a:off x="457200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Action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43855B-65AD-DADA-C3C4-C107E348FF9E}"/>
              </a:ext>
            </a:extLst>
          </p:cNvPr>
          <p:cNvSpPr/>
          <p:nvPr/>
        </p:nvSpPr>
        <p:spPr>
          <a:xfrm>
            <a:off x="4572000" y="2423160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2CD6ED1-E3AE-5799-BCB3-B7F313340A3D}"/>
              </a:ext>
            </a:extLst>
          </p:cNvPr>
          <p:cNvSpPr/>
          <p:nvPr/>
        </p:nvSpPr>
        <p:spPr>
          <a:xfrm>
            <a:off x="4572000" y="25603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Un script o pieza de automatización autónomo, modular y compartible que realiza una tarea específica.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Se puede encadenar en un flujo de trabajo para realizar tareas de automatización complejas.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208A8B2F-F0D3-4338-6A2A-7F0CE00A7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41702D3E-889F-1ACB-D2A9-C68BDCD94189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529B3FA-1905-8D22-7D8C-ADE4D4A29B72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E3024C7-6612-76B8-B5EB-5DBC6D1505CB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23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5D3FC651-DB8A-3FBE-5C38-F6AF82BD5762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02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COMPONENTES DE LAS GITHUB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2" name="Picture 6" descr="Workflow process icon | Premium Vector">
            <a:extLst>
              <a:ext uri="{FF2B5EF4-FFF2-40B4-BE49-F238E27FC236}">
                <a16:creationId xmlns:a16="http://schemas.microsoft.com/office/drawing/2014/main" id="{9941A9A5-C867-67AF-9FA2-6600788D5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97" y="2125980"/>
            <a:ext cx="348615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740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1FD99-EF97-EF4E-238C-B6B0A7E9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881FC72-70C7-EC1E-BADD-28119FADE0EA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Componentes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: </a:t>
            </a: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Resumen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BB2A52F-7F14-C5D1-33C4-034F5651E5DA}"/>
              </a:ext>
            </a:extLst>
          </p:cNvPr>
          <p:cNvSpPr/>
          <p:nvPr/>
        </p:nvSpPr>
        <p:spPr>
          <a:xfrm>
            <a:off x="457199" y="1657350"/>
            <a:ext cx="449450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Piensa en GitHub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Actions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como una cadena de trabajo automática:</a:t>
            </a: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1. Evento (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Event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)</a:t>
            </a:r>
            <a:b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Algo ocurre en el repositorio. Ejemplo: subes código o pulsas un botón.</a:t>
            </a: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2.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</a:t>
            </a:r>
            <a:b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Es el proceso automático que se activa cuando ocurre ese evento.</a:t>
            </a: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3. Jobs</a:t>
            </a:r>
            <a:b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Son las tareas grandes dentro del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.</a:t>
            </a:r>
            <a:b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Cada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job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hace una parte del trabajo.</a:t>
            </a: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F41F661F-11BF-8E65-9E54-FAC4E7DBA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9CD07613-794A-1F32-410C-36C5B7F11CD7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213E436-3516-206C-723B-3886F8A89359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214E4B9-5F5C-0F23-9273-FB2BB016B8B5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24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8B792E8F-7AA4-161B-73D7-8538EA38652B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02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COMPONENTES DE LAS GITHUB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2356F8-1418-0FD6-F2DD-7659B636E848}"/>
              </a:ext>
            </a:extLst>
          </p:cNvPr>
          <p:cNvSpPr txBox="1"/>
          <p:nvPr/>
        </p:nvSpPr>
        <p:spPr>
          <a:xfrm>
            <a:off x="5238427" y="2080046"/>
            <a:ext cx="36188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4. Runner</a:t>
            </a:r>
            <a:b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Es la maquina/ordenador donde se ejecuta cada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job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.</a:t>
            </a: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5.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Steps</a:t>
            </a:r>
            <a:b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Son los pasos pequeños dentro de un </a:t>
            </a:r>
            <a:r>
              <a:rPr lang="es-ES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job</a:t>
            </a: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.</a:t>
            </a:r>
          </a:p>
          <a:p>
            <a:endParaRPr lang="es-ES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6. Action</a:t>
            </a:r>
            <a:b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Es una tarea ya preparada que puedes usar en un step para no tener que programarlo todo desde cero.</a:t>
            </a:r>
          </a:p>
          <a:p>
            <a:endParaRPr lang="es-ES_tradnl" dirty="0"/>
          </a:p>
        </p:txBody>
      </p:sp>
      <p:pic>
        <p:nvPicPr>
          <p:cNvPr id="13" name="Picture 2" descr="Resumen - Iconos gratis de archivos y carpetas">
            <a:extLst>
              <a:ext uri="{FF2B5EF4-FFF2-40B4-BE49-F238E27FC236}">
                <a16:creationId xmlns:a16="http://schemas.microsoft.com/office/drawing/2014/main" id="{23298B7F-4482-CE96-E3C5-AC2055080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505" y="320040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059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6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37675" y="0"/>
            <a:ext cx="5906770" cy="5143500"/>
            <a:chOff x="3237675" y="0"/>
            <a:chExt cx="5906770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3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5706300" y="5143500"/>
                  </a:lnTo>
                  <a:lnTo>
                    <a:pt x="5706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597400" cy="119583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lang="es-ES" sz="3600" dirty="0">
                <a:solidFill>
                  <a:srgbClr val="303030"/>
                </a:solidFill>
                <a:ea typeface="Telegraf, Inter, sans-serif" pitchFamily="34" charset="-122"/>
              </a:rPr>
              <a:t>Primer</a:t>
            </a:r>
            <a:r>
              <a:rPr lang="es-ES" dirty="0">
                <a:latin typeface="Candara" panose="020E0502030303020204" pitchFamily="34" charset="0"/>
              </a:rPr>
              <a:t> </a:t>
            </a:r>
            <a:r>
              <a:rPr lang="es-ES" sz="3600" dirty="0" err="1">
                <a:solidFill>
                  <a:srgbClr val="303030"/>
                </a:solidFill>
                <a:ea typeface="Telegraf, Inter, sans-serif" pitchFamily="34" charset="-122"/>
              </a:rPr>
              <a:t>Workflow</a:t>
            </a:r>
            <a:endParaRPr sz="3600" dirty="0">
              <a:solidFill>
                <a:srgbClr val="303030"/>
              </a:solidFill>
              <a:ea typeface="Telegraf, Inter, sans-serif" pitchFamily="3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271" y="1943808"/>
            <a:ext cx="2836366" cy="1999906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Debe contener como mínimo: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Job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Runner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</a:p>
        </p:txBody>
      </p:sp>
      <p:sp>
        <p:nvSpPr>
          <p:cNvPr id="10" name="object 10"/>
          <p:cNvSpPr/>
          <p:nvPr/>
        </p:nvSpPr>
        <p:spPr>
          <a:xfrm>
            <a:off x="3607866" y="2680525"/>
            <a:ext cx="5121910" cy="1280160"/>
          </a:xfrm>
          <a:custGeom>
            <a:avLst/>
            <a:gdLst/>
            <a:ahLst/>
            <a:cxnLst/>
            <a:rect l="l" t="t" r="r" b="b"/>
            <a:pathLst>
              <a:path w="5121909" h="1280160">
                <a:moveTo>
                  <a:pt x="5121478" y="960120"/>
                </a:moveTo>
                <a:lnTo>
                  <a:pt x="1600466" y="960120"/>
                </a:lnTo>
                <a:lnTo>
                  <a:pt x="1600466" y="640080"/>
                </a:lnTo>
                <a:lnTo>
                  <a:pt x="4161193" y="640080"/>
                </a:lnTo>
                <a:lnTo>
                  <a:pt x="4161193" y="320040"/>
                </a:lnTo>
                <a:lnTo>
                  <a:pt x="1920557" y="320040"/>
                </a:lnTo>
                <a:lnTo>
                  <a:pt x="1920557" y="0"/>
                </a:lnTo>
                <a:lnTo>
                  <a:pt x="0" y="0"/>
                </a:lnTo>
                <a:lnTo>
                  <a:pt x="0" y="320040"/>
                </a:lnTo>
                <a:lnTo>
                  <a:pt x="0" y="640080"/>
                </a:lnTo>
                <a:lnTo>
                  <a:pt x="0" y="960120"/>
                </a:lnTo>
                <a:lnTo>
                  <a:pt x="0" y="1280160"/>
                </a:lnTo>
                <a:lnTo>
                  <a:pt x="5121478" y="1280160"/>
                </a:lnTo>
                <a:lnTo>
                  <a:pt x="5121478" y="9601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pic>
        <p:nvPicPr>
          <p:cNvPr id="17" name="Imagen 1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A3BF9A2-99E3-9C3B-073E-2D641FAD6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445" y="947085"/>
            <a:ext cx="4937331" cy="301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2DF28-02B3-7CAC-1B1D-E0EC29B1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3F7BD6-33F1-0DC3-2CA9-B1311F177848}"/>
              </a:ext>
            </a:extLst>
          </p:cNvPr>
          <p:cNvSpPr/>
          <p:nvPr/>
        </p:nvSpPr>
        <p:spPr>
          <a:xfrm>
            <a:off x="0" y="506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1ED0B02-DE9D-BB3D-0E65-FF634DD88114}"/>
              </a:ext>
            </a:extLst>
          </p:cNvPr>
          <p:cNvGrpSpPr/>
          <p:nvPr/>
        </p:nvGrpSpPr>
        <p:grpSpPr>
          <a:xfrm>
            <a:off x="3282314" y="0"/>
            <a:ext cx="5906770" cy="5143500"/>
            <a:chOff x="3237675" y="0"/>
            <a:chExt cx="5906770" cy="51435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E820E66-1DDE-5328-0F1E-8F42BBF78E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2F3912F-94A8-9F2B-ED34-9EA209E486F9}"/>
                </a:ext>
              </a:extLst>
            </p:cNvPr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3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5706300" y="5143500"/>
                  </a:lnTo>
                  <a:lnTo>
                    <a:pt x="5706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EC27FA0-B448-9F98-9FAB-CDC00326B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597400" cy="125739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lang="es-ES" sz="4000" dirty="0">
                <a:solidFill>
                  <a:srgbClr val="303030"/>
                </a:solidFill>
                <a:ea typeface="Telegraf, Inter, sans-serif" pitchFamily="34" charset="-122"/>
              </a:rPr>
              <a:t>Primer</a:t>
            </a:r>
            <a:r>
              <a:rPr lang="es-ES" dirty="0">
                <a:latin typeface="Candara" panose="020E0502030303020204" pitchFamily="34" charset="0"/>
              </a:rPr>
              <a:t> </a:t>
            </a:r>
            <a:r>
              <a:rPr lang="es-ES" sz="4000" dirty="0" err="1">
                <a:solidFill>
                  <a:srgbClr val="303030"/>
                </a:solidFill>
                <a:ea typeface="Telegraf, Inter, sans-serif" pitchFamily="34" charset="-122"/>
              </a:rPr>
              <a:t>Workflow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308DA38-2DF9-9F0F-07A2-11F684E20AE4}"/>
              </a:ext>
            </a:extLst>
          </p:cNvPr>
          <p:cNvSpPr/>
          <p:nvPr/>
        </p:nvSpPr>
        <p:spPr>
          <a:xfrm>
            <a:off x="3607866" y="2680525"/>
            <a:ext cx="5121910" cy="1280160"/>
          </a:xfrm>
          <a:custGeom>
            <a:avLst/>
            <a:gdLst/>
            <a:ahLst/>
            <a:cxnLst/>
            <a:rect l="l" t="t" r="r" b="b"/>
            <a:pathLst>
              <a:path w="5121909" h="1280160">
                <a:moveTo>
                  <a:pt x="5121478" y="960120"/>
                </a:moveTo>
                <a:lnTo>
                  <a:pt x="1600466" y="960120"/>
                </a:lnTo>
                <a:lnTo>
                  <a:pt x="1600466" y="640080"/>
                </a:lnTo>
                <a:lnTo>
                  <a:pt x="4161193" y="640080"/>
                </a:lnTo>
                <a:lnTo>
                  <a:pt x="4161193" y="320040"/>
                </a:lnTo>
                <a:lnTo>
                  <a:pt x="1920557" y="320040"/>
                </a:lnTo>
                <a:lnTo>
                  <a:pt x="1920557" y="0"/>
                </a:lnTo>
                <a:lnTo>
                  <a:pt x="0" y="0"/>
                </a:lnTo>
                <a:lnTo>
                  <a:pt x="0" y="320040"/>
                </a:lnTo>
                <a:lnTo>
                  <a:pt x="0" y="640080"/>
                </a:lnTo>
                <a:lnTo>
                  <a:pt x="0" y="960120"/>
                </a:lnTo>
                <a:lnTo>
                  <a:pt x="0" y="1280160"/>
                </a:lnTo>
                <a:lnTo>
                  <a:pt x="5121478" y="1280160"/>
                </a:lnTo>
                <a:lnTo>
                  <a:pt x="5121478" y="9601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pic>
        <p:nvPicPr>
          <p:cNvPr id="17" name="Imagen 1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EE5978C-9520-D318-4EF9-071DB79A1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445" y="947085"/>
            <a:ext cx="4937331" cy="3013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DAB79FE-82AC-9799-A60B-26523F3193C7}"/>
              </a:ext>
            </a:extLst>
          </p:cNvPr>
          <p:cNvSpPr txBox="1"/>
          <p:nvPr/>
        </p:nvSpPr>
        <p:spPr>
          <a:xfrm>
            <a:off x="6776937" y="1299966"/>
            <a:ext cx="2286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El </a:t>
            </a:r>
            <a:r>
              <a:rPr lang="es-ES" sz="1100" dirty="0" err="1">
                <a:latin typeface="Candara" panose="020E0502030303020204" pitchFamily="34" charset="0"/>
              </a:rPr>
              <a:t>workflow</a:t>
            </a:r>
            <a:r>
              <a:rPr lang="es-ES" sz="1100" dirty="0">
                <a:latin typeface="Candara" panose="020E0502030303020204" pitchFamily="34" charset="0"/>
              </a:rPr>
              <a:t> se ejecuta </a:t>
            </a:r>
            <a:r>
              <a:rPr lang="es-ES" sz="1100" b="1" dirty="0">
                <a:latin typeface="Candara" panose="020E0502030303020204" pitchFamily="34" charset="0"/>
              </a:rPr>
              <a:t>manualmente</a:t>
            </a:r>
            <a:r>
              <a:rPr lang="es-ES" sz="1100" dirty="0">
                <a:latin typeface="Candara" panose="020E0502030303020204" pitchFamily="34" charset="0"/>
              </a:rPr>
              <a:t> al pulsar </a:t>
            </a:r>
            <a:r>
              <a:rPr lang="es-ES" sz="1100" i="1" dirty="0">
                <a:latin typeface="Candara" panose="020E0502030303020204" pitchFamily="34" charset="0"/>
              </a:rPr>
              <a:t>Run </a:t>
            </a:r>
            <a:r>
              <a:rPr lang="es-ES" sz="1100" i="1" dirty="0" err="1">
                <a:latin typeface="Candara" panose="020E0502030303020204" pitchFamily="34" charset="0"/>
              </a:rPr>
              <a:t>workflow</a:t>
            </a:r>
            <a:r>
              <a:rPr lang="es-ES" sz="1100" dirty="0">
                <a:latin typeface="Candara" panose="020E0502030303020204" pitchFamily="34" charset="0"/>
              </a:rPr>
              <a:t>.</a:t>
            </a:r>
          </a:p>
          <a:p>
            <a:endParaRPr lang="es-ES_tradn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DD8179-3A55-2FD8-E3A1-B0803A75929C}"/>
              </a:ext>
            </a:extLst>
          </p:cNvPr>
          <p:cNvSpPr txBox="1"/>
          <p:nvPr/>
        </p:nvSpPr>
        <p:spPr>
          <a:xfrm>
            <a:off x="4609032" y="2083594"/>
            <a:ext cx="25908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Define los trabajos que va a realizar el </a:t>
            </a:r>
            <a:r>
              <a:rPr lang="es-ES" sz="1100" dirty="0" err="1">
                <a:latin typeface="Candara" panose="020E0502030303020204" pitchFamily="34" charset="0"/>
              </a:rPr>
              <a:t>workflow</a:t>
            </a:r>
            <a:r>
              <a:rPr lang="es-ES" sz="1100" dirty="0">
                <a:latin typeface="Candara" panose="020E0502030303020204" pitchFamily="34" charset="0"/>
              </a:rPr>
              <a:t>.</a:t>
            </a:r>
          </a:p>
          <a:p>
            <a:endParaRPr lang="es-ES_tradnl" sz="1100" dirty="0">
              <a:latin typeface="Candara" panose="020E0502030303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E7FD1E8-D8EA-9ABA-040F-B13911B198F2}"/>
              </a:ext>
            </a:extLst>
          </p:cNvPr>
          <p:cNvSpPr txBox="1"/>
          <p:nvPr/>
        </p:nvSpPr>
        <p:spPr>
          <a:xfrm>
            <a:off x="5608548" y="2512006"/>
            <a:ext cx="2590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Es el nombre del </a:t>
            </a:r>
            <a:r>
              <a:rPr lang="es-ES" sz="1100" dirty="0" err="1"/>
              <a:t>job</a:t>
            </a:r>
            <a:endParaRPr lang="es-ES_tradnl" sz="1100" dirty="0">
              <a:latin typeface="Candara" panose="020E0502030303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00BB8B-A7B1-30B4-0B66-B5AE74C09609}"/>
              </a:ext>
            </a:extLst>
          </p:cNvPr>
          <p:cNvSpPr txBox="1"/>
          <p:nvPr/>
        </p:nvSpPr>
        <p:spPr>
          <a:xfrm>
            <a:off x="7697160" y="2430562"/>
            <a:ext cx="1318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El </a:t>
            </a:r>
            <a:r>
              <a:rPr lang="es-ES" sz="1100" dirty="0" err="1">
                <a:latin typeface="Candara" panose="020E0502030303020204" pitchFamily="34" charset="0"/>
              </a:rPr>
              <a:t>job</a:t>
            </a:r>
            <a:r>
              <a:rPr lang="es-ES" sz="1100" dirty="0">
                <a:latin typeface="Candara" panose="020E0502030303020204" pitchFamily="34" charset="0"/>
              </a:rPr>
              <a:t> se ejecuta en una </a:t>
            </a:r>
            <a:r>
              <a:rPr lang="es-ES" sz="1100" b="1" dirty="0">
                <a:latin typeface="Candara" panose="020E0502030303020204" pitchFamily="34" charset="0"/>
              </a:rPr>
              <a:t>máquina virtual con Ubuntu</a:t>
            </a:r>
            <a:r>
              <a:rPr lang="es-ES" sz="1100" dirty="0">
                <a:latin typeface="Candara" panose="020E0502030303020204" pitchFamily="34" charset="0"/>
              </a:rPr>
              <a:t> (runner de GitHub).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FEDEF9-7FA5-2C78-C771-1C88A1966912}"/>
              </a:ext>
            </a:extLst>
          </p:cNvPr>
          <p:cNvSpPr txBox="1"/>
          <p:nvPr/>
        </p:nvSpPr>
        <p:spPr>
          <a:xfrm>
            <a:off x="3193643" y="2918506"/>
            <a:ext cx="128481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Son los pasos que se ejecutan dentro del </a:t>
            </a:r>
            <a:r>
              <a:rPr lang="es-ES" sz="1100" dirty="0" err="1">
                <a:latin typeface="Candara" panose="020E0502030303020204" pitchFamily="34" charset="0"/>
              </a:rPr>
              <a:t>job</a:t>
            </a:r>
            <a:r>
              <a:rPr lang="es-ES" sz="1100" dirty="0">
                <a:latin typeface="Candara" panose="020E0502030303020204" pitchFamily="34" charset="0"/>
              </a:rPr>
              <a:t>, en orden.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6426F90-7E40-0488-F58A-EC4ED125136F}"/>
              </a:ext>
            </a:extLst>
          </p:cNvPr>
          <p:cNvSpPr txBox="1"/>
          <p:nvPr/>
        </p:nvSpPr>
        <p:spPr>
          <a:xfrm>
            <a:off x="5492126" y="3663808"/>
            <a:ext cx="22050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Ejecuta un comando que muestra un mensaje por pantalla.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6000D94-2B10-E837-FBF2-8303B08E8B3F}"/>
              </a:ext>
            </a:extLst>
          </p:cNvPr>
          <p:cNvSpPr txBox="1"/>
          <p:nvPr/>
        </p:nvSpPr>
        <p:spPr>
          <a:xfrm>
            <a:off x="428502" y="414667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AD186B56-C7F0-1099-F3E4-B998A4690659}"/>
              </a:ext>
            </a:extLst>
          </p:cNvPr>
          <p:cNvSpPr txBox="1"/>
          <p:nvPr/>
        </p:nvSpPr>
        <p:spPr>
          <a:xfrm>
            <a:off x="445948" y="1857743"/>
            <a:ext cx="2836366" cy="1999906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Debe contener como mínimo: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Job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Runner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</a:p>
        </p:txBody>
      </p:sp>
    </p:spTree>
    <p:extLst>
      <p:ext uri="{BB962C8B-B14F-4D97-AF65-F5344CB8AC3E}">
        <p14:creationId xmlns:p14="http://schemas.microsoft.com/office/powerpoint/2010/main" val="673920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92B2C-A2CF-5554-DDA5-D6F7B00A9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em_blanco.png">
            <a:extLst>
              <a:ext uri="{FF2B5EF4-FFF2-40B4-BE49-F238E27FC236}">
                <a16:creationId xmlns:a16="http://schemas.microsoft.com/office/drawing/2014/main" id="{2890127C-1EB0-5ADF-5B0A-726E64695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914400" cy="21735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E1D3182-54D6-3632-AFDF-29D792650DA7}"/>
              </a:ext>
            </a:extLst>
          </p:cNvPr>
          <p:cNvSpPr/>
          <p:nvPr/>
        </p:nvSpPr>
        <p:spPr>
          <a:xfrm>
            <a:off x="4572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15C41"/>
                </a:solidFill>
                <a:latin typeface="Telegraf"/>
                <a:ea typeface="Telegraf"/>
              </a:rPr>
              <a:t>SECCIÓN 03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340940A-3C34-5464-DA2C-A63407FA2AA2}"/>
              </a:ext>
            </a:extLst>
          </p:cNvPr>
          <p:cNvSpPr/>
          <p:nvPr/>
        </p:nvSpPr>
        <p:spPr>
          <a:xfrm>
            <a:off x="457200" y="2514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Inputs</a:t>
            </a:r>
            <a:endParaRPr lang="en-US" sz="4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89292A2-438A-F4DB-7ADE-1DA1DD1577CC}"/>
              </a:ext>
            </a:extLst>
          </p:cNvPr>
          <p:cNvSpPr/>
          <p:nvPr/>
        </p:nvSpPr>
        <p:spPr>
          <a:xfrm>
            <a:off x="457200" y="4297680"/>
            <a:ext cx="54864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41D9D4E-138A-CE96-6B3D-5761D17393AF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489B7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MÁSTER EN IA, BIG DATA Y CLOUD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43615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EDE5D8-FED6-E7C1-DA71-971149812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BB62BB9-943D-22D4-E356-50992F72B631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Inputs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0714D56-E85B-4303-E96F-9F8BFA4A39BD}"/>
              </a:ext>
            </a:extLst>
          </p:cNvPr>
          <p:cNvSpPr/>
          <p:nvPr/>
        </p:nvSpPr>
        <p:spPr>
          <a:xfrm>
            <a:off x="457200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Input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17C23B7-D288-ED23-8FB9-0F2B4F35C6E6}"/>
              </a:ext>
            </a:extLst>
          </p:cNvPr>
          <p:cNvSpPr/>
          <p:nvPr/>
        </p:nvSpPr>
        <p:spPr>
          <a:xfrm>
            <a:off x="4572000" y="2423160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6691284-3D6D-3DE0-92F7-4CC75B4F44B7}"/>
              </a:ext>
            </a:extLst>
          </p:cNvPr>
          <p:cNvSpPr/>
          <p:nvPr/>
        </p:nvSpPr>
        <p:spPr>
          <a:xfrm>
            <a:off x="4572000" y="25603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Solo aplicable cuando usamos el evento de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workflow_dispatch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o el de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workflow_call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en un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… o en una acción.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Define las entradas que el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/acción pueden aceptar.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Cada input debe ser único, alfanumérico, -, o _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78555239-0715-6A37-39C1-C96E81326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E3262C82-3FF0-F54B-BAC2-51390A0A5D21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DD0F004-130F-B7E3-CFB8-5A2CAB505AE8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A2D4BE2-CA60-B873-F63E-F43E0B68BAA4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28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BF14F354-3C8F-4BF7-5140-D664631F9607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03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INPUTS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4" name="Picture 4" descr="420+ Input Data Icon Stock Illustrations, Royalty-Free ...">
            <a:extLst>
              <a:ext uri="{FF2B5EF4-FFF2-40B4-BE49-F238E27FC236}">
                <a16:creationId xmlns:a16="http://schemas.microsoft.com/office/drawing/2014/main" id="{EBB5DDE4-8519-15F7-66EB-B3CF365E4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" y="1600200"/>
            <a:ext cx="2848585" cy="2848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96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7E1FE-5EA8-B3EF-A008-00830E096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981F6E7-EB9F-51E1-62B1-E737E75AB4B8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Propiedades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 de </a:t>
            </a: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los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 Inputs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2FDFB2-F976-DEBD-7048-5B7173C6BEA3}"/>
              </a:ext>
            </a:extLst>
          </p:cNvPr>
          <p:cNvSpPr/>
          <p:nvPr/>
        </p:nvSpPr>
        <p:spPr>
          <a:xfrm>
            <a:off x="4572000" y="17419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Input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AF6FDFE-8BFB-69D7-7FBD-D0E9B8205174}"/>
              </a:ext>
            </a:extLst>
          </p:cNvPr>
          <p:cNvSpPr/>
          <p:nvPr/>
        </p:nvSpPr>
        <p:spPr>
          <a:xfrm>
            <a:off x="4572000" y="2153412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4BB970-ED10-AB1F-A555-9B4048B51FD5}"/>
              </a:ext>
            </a:extLst>
          </p:cNvPr>
          <p:cNvSpPr/>
          <p:nvPr/>
        </p:nvSpPr>
        <p:spPr>
          <a:xfrm>
            <a:off x="4572000" y="2253996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inputs.&lt;</a:t>
            </a:r>
            <a:r>
              <a:rPr lang="es-ES" sz="1400" b="1" dirty="0" err="1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input_id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&gt;.</a:t>
            </a:r>
            <a:r>
              <a:rPr lang="es-ES" sz="1400" b="1" dirty="0" err="1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description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 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lo que se le mostrará al usuario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inputs.&lt;</a:t>
            </a:r>
            <a:r>
              <a:rPr lang="es-ES" sz="1400" b="1" dirty="0" err="1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input_id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&gt;.</a:t>
            </a:r>
            <a:r>
              <a:rPr lang="es-ES" sz="1400" b="1" dirty="0" err="1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required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si es o no es obligatoria.</a:t>
            </a:r>
          </a:p>
          <a:p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Optional</a:t>
            </a:r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inputs.&lt;</a:t>
            </a:r>
            <a:r>
              <a:rPr lang="es-ES" sz="1400" b="1" dirty="0" err="1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input_id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&gt;.default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– valor por defecto a usar. 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Optional</a:t>
            </a:r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inputs.&lt;</a:t>
            </a:r>
            <a:r>
              <a:rPr lang="es-ES" sz="1400" b="1" dirty="0" err="1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input_id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&gt;.</a:t>
            </a:r>
            <a:r>
              <a:rPr lang="es-ES" sz="1400" b="1" dirty="0" err="1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type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 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– Tipo de dato del input. 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Optional</a:t>
            </a:r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6EDAF33B-7767-F0EB-C6FC-BD142EEB8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6B9497DA-E34D-FE68-73EA-37DD31D443EB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49F9C58-1697-94D9-F7C0-FB7FCC371317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019F6CD-E6F3-F1D2-FF91-7900B4F0A9A6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29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BC5F3E74-3C70-B4A9-6A88-95EE72CFE5C8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03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INPUTS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4" name="Picture 4" descr="420+ Input Data Icon Stock Illustrations, Royalty-Free ...">
            <a:extLst>
              <a:ext uri="{FF2B5EF4-FFF2-40B4-BE49-F238E27FC236}">
                <a16:creationId xmlns:a16="http://schemas.microsoft.com/office/drawing/2014/main" id="{BFDF9B17-5480-E8E0-DAA3-1928E8510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" y="1777363"/>
            <a:ext cx="2848585" cy="2848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884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second.yaml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5869" y="982116"/>
            <a:ext cx="7376159" cy="4023360"/>
          </a:xfrm>
          <a:custGeom>
            <a:avLst/>
            <a:gdLst/>
            <a:ahLst/>
            <a:cxnLst/>
            <a:rect l="l" t="t" r="r" b="b"/>
            <a:pathLst>
              <a:path w="7376159" h="4023360">
                <a:moveTo>
                  <a:pt x="7376046" y="3017520"/>
                </a:moveTo>
                <a:lnTo>
                  <a:pt x="5532044" y="3017520"/>
                </a:lnTo>
                <a:lnTo>
                  <a:pt x="5532044" y="2682240"/>
                </a:lnTo>
                <a:lnTo>
                  <a:pt x="5364404" y="2682240"/>
                </a:lnTo>
                <a:lnTo>
                  <a:pt x="5364404" y="2346960"/>
                </a:lnTo>
                <a:lnTo>
                  <a:pt x="1676374" y="2346960"/>
                </a:lnTo>
                <a:lnTo>
                  <a:pt x="1676374" y="2011680"/>
                </a:lnTo>
                <a:lnTo>
                  <a:pt x="4358576" y="2011680"/>
                </a:lnTo>
                <a:lnTo>
                  <a:pt x="4358576" y="1676400"/>
                </a:lnTo>
                <a:lnTo>
                  <a:pt x="5532044" y="1676400"/>
                </a:lnTo>
                <a:lnTo>
                  <a:pt x="5532044" y="1341120"/>
                </a:lnTo>
                <a:lnTo>
                  <a:pt x="1844014" y="1341120"/>
                </a:lnTo>
                <a:lnTo>
                  <a:pt x="1844014" y="1005840"/>
                </a:lnTo>
                <a:lnTo>
                  <a:pt x="838187" y="1005840"/>
                </a:lnTo>
                <a:lnTo>
                  <a:pt x="838187" y="670560"/>
                </a:lnTo>
                <a:lnTo>
                  <a:pt x="3352749" y="670560"/>
                </a:lnTo>
                <a:lnTo>
                  <a:pt x="3352749" y="335280"/>
                </a:lnTo>
                <a:lnTo>
                  <a:pt x="502907" y="335280"/>
                </a:lnTo>
                <a:lnTo>
                  <a:pt x="502907" y="0"/>
                </a:lnTo>
                <a:lnTo>
                  <a:pt x="0" y="0"/>
                </a:lnTo>
                <a:lnTo>
                  <a:pt x="0" y="4023360"/>
                </a:lnTo>
                <a:lnTo>
                  <a:pt x="5364404" y="4023360"/>
                </a:lnTo>
                <a:lnTo>
                  <a:pt x="5364404" y="3688080"/>
                </a:lnTo>
                <a:lnTo>
                  <a:pt x="7040778" y="3688080"/>
                </a:lnTo>
                <a:lnTo>
                  <a:pt x="7040778" y="3352800"/>
                </a:lnTo>
                <a:lnTo>
                  <a:pt x="7376046" y="3352800"/>
                </a:lnTo>
                <a:lnTo>
                  <a:pt x="7376046" y="3017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3175" y="622949"/>
            <a:ext cx="7401559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320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(second)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2700" marR="4027804" indent="33528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8034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say</a:t>
            </a:r>
            <a:r>
              <a:rPr sz="2200" b="1" spc="-10" dirty="0">
                <a:solidFill>
                  <a:srgbClr val="0033B3"/>
                </a:solidFill>
                <a:latin typeface="Courier New"/>
                <a:cs typeface="Courier New"/>
              </a:rPr>
              <a:t>_</a:t>
            </a: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hello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683260" marR="1849755">
              <a:lnSpc>
                <a:spcPct val="100000"/>
              </a:lnSpc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200" spc="-9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ubuntu-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latest</a:t>
            </a:r>
            <a:endParaRPr sz="2200" dirty="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there!"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uses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actions/checkout@v3</a:t>
            </a:r>
            <a:endParaRPr sz="2200" dirty="0">
              <a:latin typeface="Courier New"/>
              <a:cs typeface="Courier New"/>
            </a:endParaRPr>
          </a:p>
          <a:p>
            <a:pPr marL="1353185" marR="508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185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cat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./github/workflows/list.txt 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10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display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contents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of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list.txt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"I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am</a:t>
            </a:r>
            <a:r>
              <a:rPr sz="22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4!"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E58BE-0592-EE16-2A1F-32F5FE43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253A39-5C9E-9FED-2BEF-340645FC7A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second.yaml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ECE708-BE0A-534C-ACEF-569DC83445A1}"/>
              </a:ext>
            </a:extLst>
          </p:cNvPr>
          <p:cNvSpPr/>
          <p:nvPr/>
        </p:nvSpPr>
        <p:spPr>
          <a:xfrm>
            <a:off x="375869" y="982116"/>
            <a:ext cx="7376159" cy="4023360"/>
          </a:xfrm>
          <a:custGeom>
            <a:avLst/>
            <a:gdLst/>
            <a:ahLst/>
            <a:cxnLst/>
            <a:rect l="l" t="t" r="r" b="b"/>
            <a:pathLst>
              <a:path w="7376159" h="4023360">
                <a:moveTo>
                  <a:pt x="7376046" y="3017520"/>
                </a:moveTo>
                <a:lnTo>
                  <a:pt x="5532044" y="3017520"/>
                </a:lnTo>
                <a:lnTo>
                  <a:pt x="5532044" y="2682240"/>
                </a:lnTo>
                <a:lnTo>
                  <a:pt x="5364404" y="2682240"/>
                </a:lnTo>
                <a:lnTo>
                  <a:pt x="5364404" y="2346960"/>
                </a:lnTo>
                <a:lnTo>
                  <a:pt x="1676374" y="2346960"/>
                </a:lnTo>
                <a:lnTo>
                  <a:pt x="1676374" y="2011680"/>
                </a:lnTo>
                <a:lnTo>
                  <a:pt x="4358576" y="2011680"/>
                </a:lnTo>
                <a:lnTo>
                  <a:pt x="4358576" y="1676400"/>
                </a:lnTo>
                <a:lnTo>
                  <a:pt x="5532044" y="1676400"/>
                </a:lnTo>
                <a:lnTo>
                  <a:pt x="5532044" y="1341120"/>
                </a:lnTo>
                <a:lnTo>
                  <a:pt x="1844014" y="1341120"/>
                </a:lnTo>
                <a:lnTo>
                  <a:pt x="1844014" y="1005840"/>
                </a:lnTo>
                <a:lnTo>
                  <a:pt x="838187" y="1005840"/>
                </a:lnTo>
                <a:lnTo>
                  <a:pt x="838187" y="670560"/>
                </a:lnTo>
                <a:lnTo>
                  <a:pt x="3352749" y="670560"/>
                </a:lnTo>
                <a:lnTo>
                  <a:pt x="3352749" y="335280"/>
                </a:lnTo>
                <a:lnTo>
                  <a:pt x="502907" y="335280"/>
                </a:lnTo>
                <a:lnTo>
                  <a:pt x="502907" y="0"/>
                </a:lnTo>
                <a:lnTo>
                  <a:pt x="0" y="0"/>
                </a:lnTo>
                <a:lnTo>
                  <a:pt x="0" y="4023360"/>
                </a:lnTo>
                <a:lnTo>
                  <a:pt x="5364404" y="4023360"/>
                </a:lnTo>
                <a:lnTo>
                  <a:pt x="5364404" y="3688080"/>
                </a:lnTo>
                <a:lnTo>
                  <a:pt x="7040778" y="3688080"/>
                </a:lnTo>
                <a:lnTo>
                  <a:pt x="7040778" y="3352800"/>
                </a:lnTo>
                <a:lnTo>
                  <a:pt x="7376046" y="3352800"/>
                </a:lnTo>
                <a:lnTo>
                  <a:pt x="7376046" y="3017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B76CEAC-0396-436C-C8FC-C605A5E52AB2}"/>
              </a:ext>
            </a:extLst>
          </p:cNvPr>
          <p:cNvSpPr txBox="1"/>
          <p:nvPr/>
        </p:nvSpPr>
        <p:spPr>
          <a:xfrm>
            <a:off x="363175" y="622949"/>
            <a:ext cx="7401559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320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(second)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2700" marR="4027804" indent="33528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80340">
              <a:lnSpc>
                <a:spcPct val="100000"/>
              </a:lnSpc>
            </a:pPr>
            <a:r>
              <a:rPr sz="2200" spc="-10" dirty="0" err="1">
                <a:solidFill>
                  <a:srgbClr val="0033B3"/>
                </a:solidFill>
                <a:latin typeface="Courier New"/>
                <a:cs typeface="Courier New"/>
              </a:rPr>
              <a:t>say</a:t>
            </a:r>
            <a:r>
              <a:rPr sz="2200" b="1" spc="-10" dirty="0" err="1">
                <a:solidFill>
                  <a:srgbClr val="0033B3"/>
                </a:solidFill>
                <a:latin typeface="Courier New"/>
                <a:cs typeface="Courier New"/>
              </a:rPr>
              <a:t>_</a:t>
            </a:r>
            <a:r>
              <a:rPr sz="2200" spc="-10" dirty="0" err="1">
                <a:solidFill>
                  <a:srgbClr val="0033B3"/>
                </a:solidFill>
                <a:latin typeface="Courier New"/>
                <a:cs typeface="Courier New"/>
              </a:rPr>
              <a:t>hello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683260" marR="1849755">
              <a:lnSpc>
                <a:spcPct val="100000"/>
              </a:lnSpc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200" spc="-9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ubuntu-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latest</a:t>
            </a:r>
            <a:endParaRPr sz="2200" dirty="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there!"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uses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actions/checkout@v3</a:t>
            </a:r>
            <a:endParaRPr sz="2200" dirty="0">
              <a:latin typeface="Courier New"/>
              <a:cs typeface="Courier New"/>
            </a:endParaRPr>
          </a:p>
          <a:p>
            <a:pPr marL="1353185" marR="508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185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cat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./github/workflows/list.txt 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10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display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contents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of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list.txt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"I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am</a:t>
            </a:r>
            <a:r>
              <a:rPr sz="22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4!"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AEBC62-29B5-6FE6-8548-DD5A77FABE90}"/>
              </a:ext>
            </a:extLst>
          </p:cNvPr>
          <p:cNvSpPr txBox="1"/>
          <p:nvPr/>
        </p:nvSpPr>
        <p:spPr>
          <a:xfrm>
            <a:off x="1935255" y="174200"/>
            <a:ext cx="134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61113A-F22E-617E-0B78-700B27DE44CC}"/>
              </a:ext>
            </a:extLst>
          </p:cNvPr>
          <p:cNvSpPr txBox="1"/>
          <p:nvPr/>
        </p:nvSpPr>
        <p:spPr>
          <a:xfrm>
            <a:off x="6248400" y="543532"/>
            <a:ext cx="210634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Es el </a:t>
            </a:r>
            <a:r>
              <a:rPr lang="es-ES" sz="1050" b="1" dirty="0">
                <a:latin typeface="Candara" panose="020E0502030303020204" pitchFamily="34" charset="0"/>
              </a:rPr>
              <a:t>nombre del </a:t>
            </a:r>
            <a:r>
              <a:rPr lang="es-ES" sz="1050" b="1" dirty="0" err="1">
                <a:latin typeface="Candara" panose="020E0502030303020204" pitchFamily="34" charset="0"/>
              </a:rPr>
              <a:t>workflow</a:t>
            </a:r>
            <a:r>
              <a:rPr lang="es-ES" sz="1050" dirty="0">
                <a:latin typeface="Candara" panose="020E0502030303020204" pitchFamily="34" charset="0"/>
              </a:rPr>
              <a:t>.</a:t>
            </a:r>
            <a:br>
              <a:rPr lang="es-ES" sz="1050" dirty="0">
                <a:latin typeface="Candara" panose="020E0502030303020204" pitchFamily="34" charset="0"/>
              </a:rPr>
            </a:br>
            <a:r>
              <a:rPr lang="es-ES" sz="1050" dirty="0">
                <a:latin typeface="Candara" panose="020E0502030303020204" pitchFamily="34" charset="0"/>
              </a:rPr>
              <a:t>Es solo para identificarlo en la interfaz de GitHub.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097EB4-F84B-6E96-7495-9C502B03D6A5}"/>
              </a:ext>
            </a:extLst>
          </p:cNvPr>
          <p:cNvSpPr txBox="1"/>
          <p:nvPr/>
        </p:nvSpPr>
        <p:spPr>
          <a:xfrm>
            <a:off x="3962400" y="1352550"/>
            <a:ext cx="3124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El </a:t>
            </a:r>
            <a:r>
              <a:rPr lang="es-ES" sz="1050" dirty="0" err="1">
                <a:latin typeface="Candara" panose="020E0502030303020204" pitchFamily="34" charset="0"/>
              </a:rPr>
              <a:t>workflow</a:t>
            </a:r>
            <a:r>
              <a:rPr lang="es-ES" sz="1050" dirty="0">
                <a:latin typeface="Candara" panose="020E0502030303020204" pitchFamily="34" charset="0"/>
              </a:rPr>
              <a:t> se ejecuta </a:t>
            </a:r>
            <a:r>
              <a:rPr lang="es-ES" sz="1050" b="1" dirty="0">
                <a:latin typeface="Candara" panose="020E0502030303020204" pitchFamily="34" charset="0"/>
              </a:rPr>
              <a:t>manualmente</a:t>
            </a:r>
            <a:r>
              <a:rPr lang="es-ES" sz="1050" dirty="0">
                <a:latin typeface="Candara" panose="020E0502030303020204" pitchFamily="34" charset="0"/>
              </a:rPr>
              <a:t> desde GitHub.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C68DD6F-66BE-7BAF-C889-A6125B3D3B4C}"/>
              </a:ext>
            </a:extLst>
          </p:cNvPr>
          <p:cNvSpPr txBox="1"/>
          <p:nvPr/>
        </p:nvSpPr>
        <p:spPr>
          <a:xfrm>
            <a:off x="2286000" y="2038350"/>
            <a:ext cx="1447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>
                <a:latin typeface="Candara" panose="020E0502030303020204" pitchFamily="34" charset="0"/>
              </a:rPr>
              <a:t>Identificador</a:t>
            </a:r>
            <a:r>
              <a:rPr lang="es-ES" sz="1050" dirty="0">
                <a:latin typeface="Candara" panose="020E0502030303020204" pitchFamily="34" charset="0"/>
              </a:rPr>
              <a:t> del </a:t>
            </a:r>
            <a:r>
              <a:rPr lang="es-ES" sz="1050" dirty="0" err="1">
                <a:latin typeface="Candara" panose="020E0502030303020204" pitchFamily="34" charset="0"/>
              </a:rPr>
              <a:t>job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755D95-F8E6-897C-054B-73C2C9D8D9E4}"/>
              </a:ext>
            </a:extLst>
          </p:cNvPr>
          <p:cNvSpPr txBox="1"/>
          <p:nvPr/>
        </p:nvSpPr>
        <p:spPr>
          <a:xfrm>
            <a:off x="5995329" y="2268231"/>
            <a:ext cx="21825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Es el </a:t>
            </a:r>
            <a:r>
              <a:rPr lang="es-ES" sz="1050" b="1" dirty="0">
                <a:latin typeface="Candara" panose="020E0502030303020204" pitchFamily="34" charset="0"/>
              </a:rPr>
              <a:t>nombre visible del </a:t>
            </a:r>
            <a:r>
              <a:rPr lang="es-ES" sz="1050" b="1" dirty="0" err="1">
                <a:latin typeface="Candara" panose="020E0502030303020204" pitchFamily="34" charset="0"/>
              </a:rPr>
              <a:t>job</a:t>
            </a:r>
            <a:r>
              <a:rPr lang="es-ES" sz="1050" dirty="0">
                <a:latin typeface="Candara" panose="020E0502030303020204" pitchFamily="34" charset="0"/>
              </a:rPr>
              <a:t> en la interfaz de GitHub.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EAA9518-D850-A715-B89A-65BC1272D0E3}"/>
              </a:ext>
            </a:extLst>
          </p:cNvPr>
          <p:cNvSpPr txBox="1"/>
          <p:nvPr/>
        </p:nvSpPr>
        <p:spPr>
          <a:xfrm>
            <a:off x="4769401" y="2693160"/>
            <a:ext cx="21825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>
                <a:latin typeface="Candara" panose="020E0502030303020204" pitchFamily="34" charset="0"/>
              </a:rPr>
              <a:t>Runner</a:t>
            </a:r>
            <a:r>
              <a:rPr lang="es-ES" sz="1050" dirty="0">
                <a:latin typeface="Candara" panose="020E0502030303020204" pitchFamily="34" charset="0"/>
              </a:rPr>
              <a:t> de </a:t>
            </a:r>
            <a:r>
              <a:rPr lang="es-ES" sz="1050" dirty="0" err="1">
                <a:latin typeface="Candara" panose="020E0502030303020204" pitchFamily="34" charset="0"/>
              </a:rPr>
              <a:t>Github</a:t>
            </a:r>
            <a:r>
              <a:rPr lang="es-ES" sz="1050" dirty="0">
                <a:latin typeface="Candara" panose="020E0502030303020204" pitchFamily="34" charset="0"/>
              </a:rPr>
              <a:t> de Ubuntu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FE9FF11-4508-B05F-8AAA-62FF80BB1406}"/>
              </a:ext>
            </a:extLst>
          </p:cNvPr>
          <p:cNvSpPr txBox="1"/>
          <p:nvPr/>
        </p:nvSpPr>
        <p:spPr>
          <a:xfrm>
            <a:off x="5811532" y="3349582"/>
            <a:ext cx="21825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>
                <a:latin typeface="Candara" panose="020E0502030303020204" pitchFamily="34" charset="0"/>
              </a:rPr>
              <a:t>Muestra mensaje</a:t>
            </a:r>
            <a:r>
              <a:rPr lang="es-ES" sz="1050" dirty="0">
                <a:latin typeface="Candara" panose="020E0502030303020204" pitchFamily="34" charset="0"/>
              </a:rPr>
              <a:t> “</a:t>
            </a:r>
            <a:r>
              <a:rPr lang="es-ES" sz="1050" dirty="0" err="1">
                <a:latin typeface="Candara" panose="020E0502030303020204" pitchFamily="34" charset="0"/>
              </a:rPr>
              <a:t>Hello</a:t>
            </a:r>
            <a:r>
              <a:rPr lang="es-ES" sz="1050" dirty="0">
                <a:latin typeface="Candara" panose="020E0502030303020204" pitchFamily="34" charset="0"/>
              </a:rPr>
              <a:t> </a:t>
            </a:r>
            <a:r>
              <a:rPr lang="es-ES" sz="1050" dirty="0" err="1">
                <a:latin typeface="Candara" panose="020E0502030303020204" pitchFamily="34" charset="0"/>
              </a:rPr>
              <a:t>there</a:t>
            </a:r>
            <a:r>
              <a:rPr lang="es-ES" sz="1050" dirty="0">
                <a:latin typeface="Candara" panose="020E0502030303020204" pitchFamily="34" charset="0"/>
              </a:rPr>
              <a:t>”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45F8EF-DF70-E370-90E8-BBD93D2CDB2C}"/>
              </a:ext>
            </a:extLst>
          </p:cNvPr>
          <p:cNvSpPr txBox="1"/>
          <p:nvPr/>
        </p:nvSpPr>
        <p:spPr>
          <a:xfrm>
            <a:off x="7813546" y="3345494"/>
            <a:ext cx="12954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Usa una </a:t>
            </a:r>
            <a:r>
              <a:rPr lang="es-ES" sz="1050" b="1" dirty="0" err="1">
                <a:latin typeface="Candara" panose="020E0502030303020204" pitchFamily="34" charset="0"/>
              </a:rPr>
              <a:t>action</a:t>
            </a:r>
            <a:r>
              <a:rPr lang="es-ES" sz="1050" b="1" dirty="0">
                <a:latin typeface="Candara" panose="020E0502030303020204" pitchFamily="34" charset="0"/>
              </a:rPr>
              <a:t> oficial de GitHub</a:t>
            </a:r>
            <a:r>
              <a:rPr lang="es-ES" sz="1050" dirty="0">
                <a:latin typeface="Candara" panose="020E0502030303020204" pitchFamily="34" charset="0"/>
              </a:rPr>
              <a:t> que: Descarga el código del repositorio al runner. Esto es necesario si quieres: leer archivos, compilar y ejecutar pruebas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4F9A228-1863-08A9-02A6-F4CDA4BA129B}"/>
              </a:ext>
            </a:extLst>
          </p:cNvPr>
          <p:cNvCxnSpPr/>
          <p:nvPr/>
        </p:nvCxnSpPr>
        <p:spPr>
          <a:xfrm>
            <a:off x="6096000" y="3790950"/>
            <a:ext cx="17175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82C24CE-8046-2A8C-9972-5728F11EC1F6}"/>
              </a:ext>
            </a:extLst>
          </p:cNvPr>
          <p:cNvSpPr txBox="1"/>
          <p:nvPr/>
        </p:nvSpPr>
        <p:spPr>
          <a:xfrm>
            <a:off x="105989" y="3691742"/>
            <a:ext cx="12603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latin typeface="Candara" panose="020E0502030303020204" pitchFamily="34" charset="0"/>
              </a:rPr>
              <a:t>Muestra</a:t>
            </a:r>
            <a:r>
              <a:rPr lang="es-ES" sz="1000" dirty="0">
                <a:latin typeface="Candara" panose="020E0502030303020204" pitchFamily="34" charset="0"/>
              </a:rPr>
              <a:t> el contenido de ese archivo en la consola. (Tiene </a:t>
            </a:r>
            <a:r>
              <a:rPr lang="es-ES" sz="1000" b="1" dirty="0">
                <a:latin typeface="Candara" panose="020E0502030303020204" pitchFamily="34" charset="0"/>
              </a:rPr>
              <a:t>nombre descriptivo </a:t>
            </a:r>
            <a:r>
              <a:rPr lang="es-ES" sz="1000" dirty="0">
                <a:latin typeface="Candara" panose="020E0502030303020204" pitchFamily="34" charset="0"/>
              </a:rPr>
              <a:t>el step)</a:t>
            </a:r>
            <a:endParaRPr lang="es-ES_tradnl" sz="10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285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third.yaml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293" y="606500"/>
            <a:ext cx="6247130" cy="2133600"/>
          </a:xfrm>
          <a:custGeom>
            <a:avLst/>
            <a:gdLst/>
            <a:ahLst/>
            <a:cxnLst/>
            <a:rect l="l" t="t" r="r" b="b"/>
            <a:pathLst>
              <a:path w="6247130" h="2133600">
                <a:moveTo>
                  <a:pt x="6246977" y="1524000"/>
                </a:moveTo>
                <a:lnTo>
                  <a:pt x="2133117" y="1524000"/>
                </a:lnTo>
                <a:lnTo>
                  <a:pt x="2133117" y="1219200"/>
                </a:lnTo>
                <a:lnTo>
                  <a:pt x="1676019" y="1219200"/>
                </a:lnTo>
                <a:lnTo>
                  <a:pt x="1676019" y="914400"/>
                </a:lnTo>
                <a:lnTo>
                  <a:pt x="3047301" y="914400"/>
                </a:lnTo>
                <a:lnTo>
                  <a:pt x="3047301" y="609600"/>
                </a:lnTo>
                <a:lnTo>
                  <a:pt x="457098" y="609600"/>
                </a:lnTo>
                <a:lnTo>
                  <a:pt x="457098" y="304800"/>
                </a:lnTo>
                <a:lnTo>
                  <a:pt x="5180419" y="304800"/>
                </a:lnTo>
                <a:lnTo>
                  <a:pt x="5180419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2133600"/>
                </a:lnTo>
                <a:lnTo>
                  <a:pt x="3352038" y="2133600"/>
                </a:lnTo>
                <a:lnTo>
                  <a:pt x="3352038" y="1828800"/>
                </a:lnTo>
                <a:lnTo>
                  <a:pt x="6246977" y="1828800"/>
                </a:lnTo>
                <a:lnTo>
                  <a:pt x="6246977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93" y="3044901"/>
            <a:ext cx="8380095" cy="1524000"/>
          </a:xfrm>
          <a:custGeom>
            <a:avLst/>
            <a:gdLst/>
            <a:ahLst/>
            <a:cxnLst/>
            <a:rect l="l" t="t" r="r" b="b"/>
            <a:pathLst>
              <a:path w="8380095" h="1524000">
                <a:moveTo>
                  <a:pt x="8380082" y="1219200"/>
                </a:moveTo>
                <a:lnTo>
                  <a:pt x="1523657" y="1219200"/>
                </a:lnTo>
                <a:lnTo>
                  <a:pt x="1523657" y="914400"/>
                </a:lnTo>
                <a:lnTo>
                  <a:pt x="3961498" y="914400"/>
                </a:lnTo>
                <a:lnTo>
                  <a:pt x="3961498" y="609600"/>
                </a:lnTo>
                <a:lnTo>
                  <a:pt x="5028057" y="609600"/>
                </a:lnTo>
                <a:lnTo>
                  <a:pt x="5028057" y="304800"/>
                </a:lnTo>
                <a:lnTo>
                  <a:pt x="1828380" y="304800"/>
                </a:lnTo>
                <a:lnTo>
                  <a:pt x="1828380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914400"/>
                </a:lnTo>
                <a:lnTo>
                  <a:pt x="0" y="1219200"/>
                </a:lnTo>
                <a:lnTo>
                  <a:pt x="0" y="1524000"/>
                </a:lnTo>
                <a:lnTo>
                  <a:pt x="8380082" y="1524000"/>
                </a:lnTo>
                <a:lnTo>
                  <a:pt x="8380082" y="1219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9600" y="583639"/>
            <a:ext cx="8407400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0484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(third) </a:t>
            </a:r>
            <a:r>
              <a:rPr sz="20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622300" marR="5339080" indent="-3048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inputs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thename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1231900" marR="2138680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description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'What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is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your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name?'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required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true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622300" marR="3357245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-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there,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inputs.thename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}}!"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third.yaml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293" y="606500"/>
            <a:ext cx="6247130" cy="2133600"/>
          </a:xfrm>
          <a:custGeom>
            <a:avLst/>
            <a:gdLst/>
            <a:ahLst/>
            <a:cxnLst/>
            <a:rect l="l" t="t" r="r" b="b"/>
            <a:pathLst>
              <a:path w="6247130" h="2133600">
                <a:moveTo>
                  <a:pt x="6246977" y="1524000"/>
                </a:moveTo>
                <a:lnTo>
                  <a:pt x="2133117" y="1524000"/>
                </a:lnTo>
                <a:lnTo>
                  <a:pt x="2133117" y="1219200"/>
                </a:lnTo>
                <a:lnTo>
                  <a:pt x="1676019" y="1219200"/>
                </a:lnTo>
                <a:lnTo>
                  <a:pt x="1676019" y="914400"/>
                </a:lnTo>
                <a:lnTo>
                  <a:pt x="3047301" y="914400"/>
                </a:lnTo>
                <a:lnTo>
                  <a:pt x="3047301" y="609600"/>
                </a:lnTo>
                <a:lnTo>
                  <a:pt x="457098" y="609600"/>
                </a:lnTo>
                <a:lnTo>
                  <a:pt x="457098" y="304800"/>
                </a:lnTo>
                <a:lnTo>
                  <a:pt x="5180419" y="304800"/>
                </a:lnTo>
                <a:lnTo>
                  <a:pt x="5180419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2133600"/>
                </a:lnTo>
                <a:lnTo>
                  <a:pt x="3352038" y="2133600"/>
                </a:lnTo>
                <a:lnTo>
                  <a:pt x="3352038" y="1828800"/>
                </a:lnTo>
                <a:lnTo>
                  <a:pt x="6246977" y="1828800"/>
                </a:lnTo>
                <a:lnTo>
                  <a:pt x="6246977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93" y="3044901"/>
            <a:ext cx="8380095" cy="1524000"/>
          </a:xfrm>
          <a:custGeom>
            <a:avLst/>
            <a:gdLst/>
            <a:ahLst/>
            <a:cxnLst/>
            <a:rect l="l" t="t" r="r" b="b"/>
            <a:pathLst>
              <a:path w="8380095" h="1524000">
                <a:moveTo>
                  <a:pt x="8380082" y="1219200"/>
                </a:moveTo>
                <a:lnTo>
                  <a:pt x="1523657" y="1219200"/>
                </a:lnTo>
                <a:lnTo>
                  <a:pt x="1523657" y="914400"/>
                </a:lnTo>
                <a:lnTo>
                  <a:pt x="3961498" y="914400"/>
                </a:lnTo>
                <a:lnTo>
                  <a:pt x="3961498" y="609600"/>
                </a:lnTo>
                <a:lnTo>
                  <a:pt x="5028057" y="609600"/>
                </a:lnTo>
                <a:lnTo>
                  <a:pt x="5028057" y="304800"/>
                </a:lnTo>
                <a:lnTo>
                  <a:pt x="1828380" y="304800"/>
                </a:lnTo>
                <a:lnTo>
                  <a:pt x="1828380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914400"/>
                </a:lnTo>
                <a:lnTo>
                  <a:pt x="0" y="1219200"/>
                </a:lnTo>
                <a:lnTo>
                  <a:pt x="0" y="1524000"/>
                </a:lnTo>
                <a:lnTo>
                  <a:pt x="8380082" y="1524000"/>
                </a:lnTo>
                <a:lnTo>
                  <a:pt x="8380082" y="1219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9600" y="583639"/>
            <a:ext cx="8407400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0484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(third) </a:t>
            </a:r>
            <a:r>
              <a:rPr sz="20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622300" marR="5339080" indent="-3048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inputs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thename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1231900" marR="2138680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description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'What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is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your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name?'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required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true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622300" marR="3357245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</a:t>
            </a:r>
            <a:endParaRPr sz="2000" dirty="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-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there,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inputs.thename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}}!"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54F6D1-6527-5C66-DA74-6CADAAD695B8}"/>
              </a:ext>
            </a:extLst>
          </p:cNvPr>
          <p:cNvSpPr txBox="1"/>
          <p:nvPr/>
        </p:nvSpPr>
        <p:spPr>
          <a:xfrm>
            <a:off x="1600200" y="1557884"/>
            <a:ext cx="46446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s-ES" sz="900" dirty="0">
                <a:latin typeface="Candara" panose="020E0502030303020204" pitchFamily="34" charset="0"/>
              </a:rPr>
              <a:t>Define los </a:t>
            </a:r>
            <a:r>
              <a:rPr lang="es-ES" sz="900" b="1" dirty="0">
                <a:latin typeface="Candara" panose="020E0502030303020204" pitchFamily="34" charset="0"/>
              </a:rPr>
              <a:t>parámetros que el usuario puede ingresar</a:t>
            </a:r>
            <a:r>
              <a:rPr lang="es-ES" sz="900" dirty="0">
                <a:latin typeface="Candara" panose="020E0502030303020204" pitchFamily="34" charset="0"/>
              </a:rPr>
              <a:t> al ejecutar el </a:t>
            </a:r>
            <a:r>
              <a:rPr lang="es-ES" sz="900" dirty="0" err="1">
                <a:latin typeface="Candara" panose="020E0502030303020204" pitchFamily="34" charset="0"/>
              </a:rPr>
              <a:t>workflow</a:t>
            </a:r>
            <a:r>
              <a:rPr lang="es-ES" sz="900"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7A8B88D-6F80-A9B1-0282-DF20981529E4}"/>
              </a:ext>
            </a:extLst>
          </p:cNvPr>
          <p:cNvSpPr txBox="1"/>
          <p:nvPr/>
        </p:nvSpPr>
        <p:spPr>
          <a:xfrm>
            <a:off x="1957119" y="1862685"/>
            <a:ext cx="46446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b="1" dirty="0">
                <a:latin typeface="Candara" panose="020E0502030303020204" pitchFamily="34" charset="0"/>
              </a:rPr>
              <a:t>Identificador</a:t>
            </a:r>
            <a:r>
              <a:rPr lang="es-ES" sz="900" dirty="0">
                <a:latin typeface="Candara" panose="020E0502030303020204" pitchFamily="34" charset="0"/>
              </a:rPr>
              <a:t> del input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2BCCAE7-FE94-5A42-98CA-B839E5C3DA92}"/>
              </a:ext>
            </a:extLst>
          </p:cNvPr>
          <p:cNvSpPr txBox="1"/>
          <p:nvPr/>
        </p:nvSpPr>
        <p:spPr>
          <a:xfrm>
            <a:off x="6317107" y="1860147"/>
            <a:ext cx="2514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+mj-lt"/>
              <a:buAutoNum type="arabicPeriod"/>
            </a:pPr>
            <a:r>
              <a:rPr lang="es-ES" sz="900" b="1" dirty="0" err="1">
                <a:latin typeface="Candara" panose="020E0502030303020204" pitchFamily="34" charset="0"/>
              </a:rPr>
              <a:t>description</a:t>
            </a:r>
            <a:r>
              <a:rPr lang="es-ES" sz="900" dirty="0">
                <a:latin typeface="Candara" panose="020E0502030303020204" pitchFamily="34" charset="0"/>
              </a:rPr>
              <a:t>: '</a:t>
            </a:r>
            <a:r>
              <a:rPr lang="es-ES" sz="900" dirty="0" err="1">
                <a:latin typeface="Candara" panose="020E0502030303020204" pitchFamily="34" charset="0"/>
              </a:rPr>
              <a:t>What</a:t>
            </a:r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dirty="0" err="1">
                <a:latin typeface="Candara" panose="020E0502030303020204" pitchFamily="34" charset="0"/>
              </a:rPr>
              <a:t>is</a:t>
            </a:r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dirty="0" err="1">
                <a:latin typeface="Candara" panose="020E0502030303020204" pitchFamily="34" charset="0"/>
              </a:rPr>
              <a:t>your</a:t>
            </a:r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dirty="0" err="1">
                <a:latin typeface="Candara" panose="020E0502030303020204" pitchFamily="34" charset="0"/>
              </a:rPr>
              <a:t>name</a:t>
            </a:r>
            <a:r>
              <a:rPr lang="es-ES" sz="900" dirty="0">
                <a:latin typeface="Candara" panose="020E0502030303020204" pitchFamily="34" charset="0"/>
              </a:rPr>
              <a:t>?' → le indica al usuario qué ingresar en ese input.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900" b="1" dirty="0" err="1">
                <a:latin typeface="Candara" panose="020E0502030303020204" pitchFamily="34" charset="0"/>
              </a:rPr>
              <a:t>required</a:t>
            </a:r>
            <a:r>
              <a:rPr lang="es-ES" sz="900" dirty="0">
                <a:latin typeface="Candara" panose="020E0502030303020204" pitchFamily="34" charset="0"/>
              </a:rPr>
              <a:t>: true → obliga al usuario a escribir algo; no se puede dejar vacío.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BFAFBF5-F071-D8C5-AE80-958F8CA24C1B}"/>
              </a:ext>
            </a:extLst>
          </p:cNvPr>
          <p:cNvSpPr txBox="1"/>
          <p:nvPr/>
        </p:nvSpPr>
        <p:spPr>
          <a:xfrm>
            <a:off x="6019800" y="3483735"/>
            <a:ext cx="259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latin typeface="Candara" panose="020E0502030303020204" pitchFamily="34" charset="0"/>
              </a:rPr>
              <a:t>Este step ejecuta un comando de </a:t>
            </a:r>
            <a:r>
              <a:rPr lang="es-ES" sz="900" dirty="0" err="1">
                <a:latin typeface="Candara" panose="020E0502030303020204" pitchFamily="34" charset="0"/>
              </a:rPr>
              <a:t>shell</a:t>
            </a:r>
            <a:r>
              <a:rPr lang="es-ES" sz="900" dirty="0">
                <a:latin typeface="Candara" panose="020E0502030303020204" pitchFamily="34" charset="0"/>
              </a:rPr>
              <a:t> (echo).</a:t>
            </a:r>
          </a:p>
          <a:p>
            <a:r>
              <a:rPr lang="es-ES" sz="900" dirty="0">
                <a:latin typeface="Candara" panose="020E0502030303020204" pitchFamily="34" charset="0"/>
              </a:rPr>
              <a:t>${{ </a:t>
            </a:r>
            <a:r>
              <a:rPr lang="es-ES" sz="900" dirty="0" err="1">
                <a:latin typeface="Candara" panose="020E0502030303020204" pitchFamily="34" charset="0"/>
              </a:rPr>
              <a:t>inputs.thename</a:t>
            </a:r>
            <a:r>
              <a:rPr lang="es-ES" sz="900" dirty="0">
                <a:latin typeface="Candara" panose="020E0502030303020204" pitchFamily="34" charset="0"/>
              </a:rPr>
              <a:t> }} es la </a:t>
            </a:r>
            <a:r>
              <a:rPr lang="es-ES" sz="900" b="1" dirty="0">
                <a:latin typeface="Candara" panose="020E0502030303020204" pitchFamily="34" charset="0"/>
              </a:rPr>
              <a:t>variable que contiene el nombre ingresado por el usuario</a:t>
            </a:r>
            <a:r>
              <a:rPr lang="es-ES" sz="900" dirty="0">
                <a:latin typeface="Candara" panose="020E0502030303020204" pitchFamily="34" charset="0"/>
              </a:rPr>
              <a:t> en el </a:t>
            </a:r>
            <a:r>
              <a:rPr lang="es-ES" sz="900" dirty="0" err="1">
                <a:latin typeface="Candara" panose="020E0502030303020204" pitchFamily="34" charset="0"/>
              </a:rPr>
              <a:t>workflow_dispatch</a:t>
            </a:r>
            <a:r>
              <a:rPr lang="es-ES" sz="900"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34398FC-62E8-5CE9-89FD-F13E2CB69B5A}"/>
              </a:ext>
            </a:extLst>
          </p:cNvPr>
          <p:cNvSpPr txBox="1"/>
          <p:nvPr/>
        </p:nvSpPr>
        <p:spPr>
          <a:xfrm>
            <a:off x="1922224" y="200184"/>
            <a:ext cx="134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673A8-6951-37BE-5FA5-2A5885CC9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em_blanco.png">
            <a:extLst>
              <a:ext uri="{FF2B5EF4-FFF2-40B4-BE49-F238E27FC236}">
                <a16:creationId xmlns:a16="http://schemas.microsoft.com/office/drawing/2014/main" id="{E56B9A6C-86FF-0E4B-B844-34F3AA603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914400" cy="21735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1B09A3A-5F66-A266-8E86-2666ADB086FD}"/>
              </a:ext>
            </a:extLst>
          </p:cNvPr>
          <p:cNvSpPr/>
          <p:nvPr/>
        </p:nvSpPr>
        <p:spPr>
          <a:xfrm>
            <a:off x="4572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15C41"/>
                </a:solidFill>
                <a:latin typeface="Telegraf"/>
                <a:ea typeface="Telegraf"/>
              </a:rPr>
              <a:t>SECCIÓN 04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2F06046-3DBB-081C-E0E5-3DD8F00F2A39}"/>
              </a:ext>
            </a:extLst>
          </p:cNvPr>
          <p:cNvSpPr/>
          <p:nvPr/>
        </p:nvSpPr>
        <p:spPr>
          <a:xfrm>
            <a:off x="457200" y="2514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Contexts</a:t>
            </a:r>
            <a:endParaRPr lang="en-US" sz="4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2CD81D6-139B-70E3-F5A8-5A777744ED28}"/>
              </a:ext>
            </a:extLst>
          </p:cNvPr>
          <p:cNvSpPr/>
          <p:nvPr/>
        </p:nvSpPr>
        <p:spPr>
          <a:xfrm>
            <a:off x="457200" y="4297680"/>
            <a:ext cx="54864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CED06FC-8277-47C2-0552-8572EBE2D4C2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489B7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MÁSTER EN IA, BIG DATA Y CLOUD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667917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8670E-7FD6-C23C-A3BF-177BC0835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BFD02F8-C7DF-A928-FB2B-55B80FC32011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Contexts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8F1B770-FBB3-86D2-6A50-CFC19334AB03}"/>
              </a:ext>
            </a:extLst>
          </p:cNvPr>
          <p:cNvSpPr/>
          <p:nvPr/>
        </p:nvSpPr>
        <p:spPr>
          <a:xfrm>
            <a:off x="4572000" y="1531619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Context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B7211BB-4B49-2B84-664F-191A95466C02}"/>
              </a:ext>
            </a:extLst>
          </p:cNvPr>
          <p:cNvSpPr/>
          <p:nvPr/>
        </p:nvSpPr>
        <p:spPr>
          <a:xfrm>
            <a:off x="4572000" y="1917527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A4E6806-34D7-E8F1-FE66-C5CE2ABED987}"/>
              </a:ext>
            </a:extLst>
          </p:cNvPr>
          <p:cNvSpPr/>
          <p:nvPr/>
        </p:nvSpPr>
        <p:spPr>
          <a:xfrm>
            <a:off x="4572000" y="2124622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Proporciona acceso a información sobre ejecuciones de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, variables, runners,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jobs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y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steps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.</a:t>
            </a:r>
          </a:p>
          <a:p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Expuesto como un objeto que contiene propiedades, que pueden ser cadenas u otros objetos.</a:t>
            </a:r>
          </a:p>
          <a:p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Doce tipos de 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hlinkClick r:id="rId3"/>
              </a:rPr>
              <a:t>contextos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.</a:t>
            </a:r>
          </a:p>
          <a:p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Los tipos de contextos disponibles dependerán del contexto en el que se acceda a ellos.</a:t>
            </a: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F216D7FE-9F3A-7044-0450-004E5368A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FB6A9C45-A5C1-6E45-8144-4E6D8606ADBF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8AAC5A0-AFA1-C452-AD35-54E4D9EB39EA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25C5DCF-6998-6E88-ED52-2CCCDE29BAEC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</a:rPr>
              <a:t>35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70482E0F-1263-7899-867C-9A55B7CBE9E1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04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CONTEXTS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4" name="Picture 4" descr="420+ Input Data Icon Stock Illustrations, Royalty-Free ...">
            <a:extLst>
              <a:ext uri="{FF2B5EF4-FFF2-40B4-BE49-F238E27FC236}">
                <a16:creationId xmlns:a16="http://schemas.microsoft.com/office/drawing/2014/main" id="{CFC246F3-4186-9372-351B-ABEA9EBD9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" y="1600200"/>
            <a:ext cx="2848585" cy="2848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49695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8E1BD-9D4E-602E-84EA-73464D79E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E1AB558-2454-959A-0325-06D4BFA49A70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Contexts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72D0B274-E739-4BE5-5175-DAF8ECB31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0747A6ED-0224-E7B8-8E4E-20DBA960B99C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60EB5E5-79AE-02F9-A904-A7FA7059C8EC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E5A203D-C6BC-7009-6CFC-D640C4CD83C0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36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71A952B3-B13D-816F-1FE9-F50F263807CE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04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CONTEXTS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63898FD-DE77-582E-FC0A-E115453984BE}"/>
              </a:ext>
            </a:extLst>
          </p:cNvPr>
          <p:cNvSpPr txBox="1"/>
          <p:nvPr/>
        </p:nvSpPr>
        <p:spPr>
          <a:xfrm>
            <a:off x="457200" y="1812715"/>
            <a:ext cx="4572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La sintaxis para acceder a un contexto dentro de </a:t>
            </a:r>
            <a:r>
              <a:rPr lang="es-ES" sz="1400" b="1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workflows</a:t>
            </a:r>
            <a:r>
              <a:rPr lang="es-ES" sz="14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y acciones compuestas:</a:t>
            </a: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${{ &lt;contexto&gt;.&lt;propiedad&gt; }}</a:t>
            </a:r>
          </a:p>
          <a:p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Ejemplo:</a:t>
            </a: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${{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steps.get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-target-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url.outputs.target_url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}}</a:t>
            </a: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${{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inputs.thename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}}</a:t>
            </a:r>
          </a:p>
          <a:p>
            <a:br>
              <a:rPr lang="es-ES" sz="1800" dirty="0"/>
            </a:br>
            <a:endParaRPr lang="es-ES" sz="1800" dirty="0"/>
          </a:p>
          <a:p>
            <a:br>
              <a:rPr lang="es-ES" sz="1800" dirty="0"/>
            </a:br>
            <a:endParaRPr lang="es-ES" sz="1800" dirty="0"/>
          </a:p>
        </p:txBody>
      </p:sp>
      <p:pic>
        <p:nvPicPr>
          <p:cNvPr id="13" name="Picture 2" descr="Diseño PNG Y SVG De Flecha De Rotación Derecha Para Camisetas">
            <a:extLst>
              <a:ext uri="{FF2B5EF4-FFF2-40B4-BE49-F238E27FC236}">
                <a16:creationId xmlns:a16="http://schemas.microsoft.com/office/drawing/2014/main" id="{B543D6C6-DB71-FCA8-F9D6-DA78F60F1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41092">
            <a:off x="3241952" y="2248156"/>
            <a:ext cx="1146374" cy="1146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F55CD58-7AB1-A033-A756-3805A5F9A81F}"/>
              </a:ext>
            </a:extLst>
          </p:cNvPr>
          <p:cNvSpPr txBox="1"/>
          <p:nvPr/>
        </p:nvSpPr>
        <p:spPr>
          <a:xfrm>
            <a:off x="4130040" y="3056267"/>
            <a:ext cx="4191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- id: </a:t>
            </a:r>
            <a:r>
              <a:rPr lang="es-ES_tradnl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get</a:t>
            </a:r>
            <a:r>
              <a:rPr lang="es-ES_tradnl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-target-</a:t>
            </a:r>
            <a:r>
              <a:rPr lang="es-ES_tradnl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url</a:t>
            </a:r>
            <a:endParaRPr lang="es-ES_tradnl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_tradnl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 run: echo "</a:t>
            </a:r>
            <a:r>
              <a:rPr lang="es-ES_tradnl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target_url</a:t>
            </a:r>
            <a:r>
              <a:rPr lang="es-ES_tradnl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=https://</a:t>
            </a:r>
            <a:r>
              <a:rPr lang="es-ES_tradnl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example.com</a:t>
            </a:r>
            <a:r>
              <a:rPr lang="es-ES_tradnl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" &gt;&gt; $GITHUB_OUTPUT</a:t>
            </a:r>
          </a:p>
          <a:p>
            <a:endParaRPr lang="es-ES_tradnl" sz="12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_tradnl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- run: echo "La URL es ${{ </a:t>
            </a:r>
            <a:r>
              <a:rPr lang="es-ES_tradnl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steps.get</a:t>
            </a:r>
            <a:r>
              <a:rPr lang="es-ES_tradnl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-target-</a:t>
            </a:r>
            <a:r>
              <a:rPr lang="es-ES_tradnl" sz="12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url.outputs.target_url</a:t>
            </a:r>
            <a:r>
              <a:rPr lang="es-ES_tradnl" sz="12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}}"</a:t>
            </a:r>
          </a:p>
        </p:txBody>
      </p:sp>
    </p:spTree>
    <p:extLst>
      <p:ext uri="{BB962C8B-B14F-4D97-AF65-F5344CB8AC3E}">
        <p14:creationId xmlns:p14="http://schemas.microsoft.com/office/powerpoint/2010/main" val="36635278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D9879-D17D-FE49-EC6B-C01BACBC5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em_blanco.png">
            <a:extLst>
              <a:ext uri="{FF2B5EF4-FFF2-40B4-BE49-F238E27FC236}">
                <a16:creationId xmlns:a16="http://schemas.microsoft.com/office/drawing/2014/main" id="{453D5F0C-73F7-4B6A-9329-6C50662FA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914400" cy="21735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B3EEADF-7B5C-AAE7-561E-4620C168C58C}"/>
              </a:ext>
            </a:extLst>
          </p:cNvPr>
          <p:cNvSpPr/>
          <p:nvPr/>
        </p:nvSpPr>
        <p:spPr>
          <a:xfrm>
            <a:off x="4572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15C41"/>
                </a:solidFill>
                <a:latin typeface="Telegraf"/>
                <a:ea typeface="Telegraf"/>
              </a:rPr>
              <a:t>SECCIÓN 05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EA7ED3D-41D3-FD2A-F831-D2D0DD10197D}"/>
              </a:ext>
            </a:extLst>
          </p:cNvPr>
          <p:cNvSpPr/>
          <p:nvPr/>
        </p:nvSpPr>
        <p:spPr>
          <a:xfrm>
            <a:off x="457200" y="2514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Gestión</a:t>
            </a:r>
            <a:endParaRPr lang="en-US" sz="4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AF0DE29-1A6E-BC91-EEB1-E57B2A7AB18C}"/>
              </a:ext>
            </a:extLst>
          </p:cNvPr>
          <p:cNvSpPr/>
          <p:nvPr/>
        </p:nvSpPr>
        <p:spPr>
          <a:xfrm>
            <a:off x="457200" y="4297680"/>
            <a:ext cx="54864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BF2DF0F-6598-FFC6-4F39-A9C30E0F39C1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489B7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MÁSTER EN IA, BIG DATA Y CLOUD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719580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3E0AC-9173-866D-AF52-8C03AEF2C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178FDFA-EA32-2B77-35C9-FC78B0AE24D6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Gestión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377A3D-E155-AE9F-24C3-11E4BC1EA738}"/>
              </a:ext>
            </a:extLst>
          </p:cNvPr>
          <p:cNvSpPr/>
          <p:nvPr/>
        </p:nvSpPr>
        <p:spPr>
          <a:xfrm>
            <a:off x="4572000" y="1196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Configuración</a:t>
            </a: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1800" b="1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Dinámica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6245CD2-2FB9-FC4C-0EEF-B00A684A31CD}"/>
              </a:ext>
            </a:extLst>
          </p:cNvPr>
          <p:cNvSpPr/>
          <p:nvPr/>
        </p:nvSpPr>
        <p:spPr>
          <a:xfrm>
            <a:off x="4572000" y="1600200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7871F38-55BE-9BA7-D3B6-FD1DA9E5B7C6}"/>
              </a:ext>
            </a:extLst>
          </p:cNvPr>
          <p:cNvSpPr/>
          <p:nvPr/>
        </p:nvSpPr>
        <p:spPr>
          <a:xfrm>
            <a:off x="4572000" y="1685536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Variables de Entorno (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env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): Permiten definir valores reutilizables en todo el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(ej. Nombre BBDD)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Secretos (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secrets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) Datos sensibles que nunca deben de estar en el código (contraseñas,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keys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…)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Github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los enmascara directamente con ***</a:t>
            </a: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88E84FEE-C0EF-B289-09F6-ACF12F6DC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16829683-B403-8646-FCC6-3A9BCE40E575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CB9D212-AA42-6011-6C9B-9D06C0512059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EDDD030-5561-18DC-BC2F-8FA04F6408C8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</a:rPr>
              <a:t>38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B5C5D861-1021-C0CB-9C71-5A69E3E92B85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05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GESTIÓN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494330-A9A6-E4DC-FD20-049AE73AFEBF}"/>
              </a:ext>
            </a:extLst>
          </p:cNvPr>
          <p:cNvSpPr txBox="1"/>
          <p:nvPr/>
        </p:nvSpPr>
        <p:spPr>
          <a:xfrm>
            <a:off x="4937760" y="2109173"/>
            <a:ext cx="4191000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s-ES" sz="1100" dirty="0" err="1">
                <a:latin typeface="Candara" panose="020E0502030303020204" pitchFamily="34" charset="0"/>
              </a:rPr>
              <a:t>env</a:t>
            </a:r>
            <a:r>
              <a:rPr lang="es-ES" sz="1100" dirty="0">
                <a:latin typeface="Candara" panose="020E0502030303020204" pitchFamily="34" charset="0"/>
              </a:rPr>
              <a:t>:</a:t>
            </a:r>
          </a:p>
          <a:p>
            <a:pPr>
              <a:lnSpc>
                <a:spcPts val="1350"/>
              </a:lnSpc>
            </a:pPr>
            <a:r>
              <a:rPr lang="es-ES" sz="1100" dirty="0">
                <a:latin typeface="Candara" panose="020E0502030303020204" pitchFamily="34" charset="0"/>
              </a:rPr>
              <a:t>	GLOBAL_USER: "</a:t>
            </a:r>
            <a:r>
              <a:rPr lang="es-ES" sz="1100" dirty="0" err="1">
                <a:latin typeface="Candara" panose="020E0502030303020204" pitchFamily="34" charset="0"/>
              </a:rPr>
              <a:t>estudiante_edem</a:t>
            </a:r>
            <a:r>
              <a:rPr lang="es-ES" sz="1100" dirty="0">
                <a:latin typeface="Candara" panose="020E0502030303020204" pitchFamily="34" charset="0"/>
              </a:rPr>
              <a:t>"</a:t>
            </a:r>
          </a:p>
          <a:p>
            <a:pPr>
              <a:lnSpc>
                <a:spcPts val="1350"/>
              </a:lnSpc>
            </a:pPr>
            <a:br>
              <a:rPr lang="es-ES" sz="1100" dirty="0">
                <a:latin typeface="Candara" panose="020E0502030303020204" pitchFamily="34" charset="0"/>
              </a:rPr>
            </a:br>
            <a:r>
              <a:rPr lang="es-ES" sz="1100" dirty="0">
                <a:latin typeface="Candara" panose="020E0502030303020204" pitchFamily="34" charset="0"/>
              </a:rPr>
              <a:t>run: echo "El usuario en Job 1 es $GLOBAL_USER"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64FDACF-B231-7950-FBC9-A9BD5BED1FB5}"/>
              </a:ext>
            </a:extLst>
          </p:cNvPr>
          <p:cNvSpPr txBox="1"/>
          <p:nvPr/>
        </p:nvSpPr>
        <p:spPr>
          <a:xfrm>
            <a:off x="5205902" y="3872603"/>
            <a:ext cx="45843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run: </a:t>
            </a:r>
            <a:r>
              <a:rPr lang="es-ES" sz="1100" dirty="0" err="1">
                <a:latin typeface="Candara" panose="020E0502030303020204" pitchFamily="34" charset="0"/>
              </a:rPr>
              <a:t>login</a:t>
            </a:r>
            <a:r>
              <a:rPr lang="es-ES" sz="1100" dirty="0">
                <a:latin typeface="Candara" panose="020E0502030303020204" pitchFamily="34" charset="0"/>
              </a:rPr>
              <a:t> –</a:t>
            </a:r>
            <a:r>
              <a:rPr lang="es-ES" sz="1100" dirty="0" err="1">
                <a:latin typeface="Candara" panose="020E0502030303020204" pitchFamily="34" charset="0"/>
              </a:rPr>
              <a:t>pass</a:t>
            </a:r>
            <a:r>
              <a:rPr lang="es-ES" sz="1100" dirty="0">
                <a:latin typeface="Candara" panose="020E0502030303020204" pitchFamily="34" charset="0"/>
              </a:rPr>
              <a:t> ${{ </a:t>
            </a:r>
            <a:r>
              <a:rPr lang="es-ES" sz="1100" dirty="0" err="1">
                <a:latin typeface="Candara" panose="020E0502030303020204" pitchFamily="34" charset="0"/>
              </a:rPr>
              <a:t>secrets.DB_PASSWORD</a:t>
            </a:r>
            <a:r>
              <a:rPr lang="es-ES" sz="1100" dirty="0">
                <a:latin typeface="Candara" panose="020E0502030303020204" pitchFamily="34" charset="0"/>
              </a:rPr>
              <a:t> }}</a:t>
            </a:r>
            <a:endParaRPr lang="es-ES_tradnl" sz="1100" dirty="0"/>
          </a:p>
        </p:txBody>
      </p:sp>
      <p:pic>
        <p:nvPicPr>
          <p:cNvPr id="13" name="Picture 2" descr="GitHub - BBVA/gitsec: gitsec: GIT Secret Discovery">
            <a:extLst>
              <a:ext uri="{FF2B5EF4-FFF2-40B4-BE49-F238E27FC236}">
                <a16:creationId xmlns:a16="http://schemas.microsoft.com/office/drawing/2014/main" id="{739F2BDE-2EEB-595B-55BB-5E9108DA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1924061"/>
            <a:ext cx="2079347" cy="207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2607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4DB08-A243-31E7-C70F-EEEACC70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B4DE4A8-8150-F620-DD7E-857140B6C525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Gestión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7AA4A68-E615-BD24-48E4-B5B49C82A314}"/>
              </a:ext>
            </a:extLst>
          </p:cNvPr>
          <p:cNvSpPr/>
          <p:nvPr/>
        </p:nvSpPr>
        <p:spPr>
          <a:xfrm>
            <a:off x="4046628" y="11460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Matrix Strategy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B61430A-52D1-817C-3178-0C9CC82D40BB}"/>
              </a:ext>
            </a:extLst>
          </p:cNvPr>
          <p:cNvSpPr/>
          <p:nvPr/>
        </p:nvSpPr>
        <p:spPr>
          <a:xfrm>
            <a:off x="4046628" y="1557532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7DF727A-5DE3-4761-45BB-723A5A3B5E5B}"/>
              </a:ext>
            </a:extLst>
          </p:cNvPr>
          <p:cNvSpPr/>
          <p:nvPr/>
        </p:nvSpPr>
        <p:spPr>
          <a:xfrm>
            <a:off x="4046628" y="1685536"/>
            <a:ext cx="46401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Ejecuta un mismo Job múltiples veces con diferentes configuraciones de forma simultánea.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Muy utilizado para probar compatibilidad de código entre versiones (Python o SO)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+Automatiza la redundancia y ahorra cientos de líneas de código de configuración en el archivo YAML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FE61568C-8354-9850-2B05-DA02EF2D8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3D5051A4-5FFC-52E7-5A65-EF9BB804E39A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0C8E2EE-6444-314F-EE25-9921742F385F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EFAB99D-3ED7-93AC-A3FA-CC45DA7DDD7A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39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3C909BCA-9E7E-BA01-DCE3-6D2BFC3B89B4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05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GESTIÓN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E7D630-1B14-A4B8-3289-4E933929C1B2}"/>
              </a:ext>
            </a:extLst>
          </p:cNvPr>
          <p:cNvSpPr txBox="1"/>
          <p:nvPr/>
        </p:nvSpPr>
        <p:spPr>
          <a:xfrm>
            <a:off x="4046628" y="3591632"/>
            <a:ext cx="44541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 err="1">
                <a:latin typeface="Candara" panose="020E0502030303020204" pitchFamily="34" charset="0"/>
              </a:rPr>
              <a:t>strategy</a:t>
            </a:r>
            <a:r>
              <a:rPr lang="es-ES" sz="1100" dirty="0">
                <a:latin typeface="Candara" panose="020E0502030303020204" pitchFamily="34" charset="0"/>
              </a:rPr>
              <a:t>:</a:t>
            </a:r>
            <a:br>
              <a:rPr lang="es-ES" sz="1100" dirty="0">
                <a:latin typeface="Candara" panose="020E0502030303020204" pitchFamily="34" charset="0"/>
              </a:rPr>
            </a:br>
            <a:r>
              <a:rPr lang="es-ES" sz="1100" dirty="0">
                <a:latin typeface="Candara" panose="020E0502030303020204" pitchFamily="34" charset="0"/>
              </a:rPr>
              <a:t>  </a:t>
            </a:r>
            <a:r>
              <a:rPr lang="es-ES" sz="1100" dirty="0" err="1">
                <a:latin typeface="Candara" panose="020E0502030303020204" pitchFamily="34" charset="0"/>
              </a:rPr>
              <a:t>matrix</a:t>
            </a:r>
            <a:r>
              <a:rPr lang="es-ES" sz="1100" dirty="0">
                <a:latin typeface="Candara" panose="020E0502030303020204" pitchFamily="34" charset="0"/>
              </a:rPr>
              <a:t>:</a:t>
            </a:r>
            <a:br>
              <a:rPr lang="es-ES" sz="1100" dirty="0">
                <a:latin typeface="Candara" panose="020E0502030303020204" pitchFamily="34" charset="0"/>
              </a:rPr>
            </a:br>
            <a:r>
              <a:rPr lang="es-ES" sz="1100" dirty="0">
                <a:latin typeface="Candara" panose="020E0502030303020204" pitchFamily="34" charset="0"/>
              </a:rPr>
              <a:t>    os: [</a:t>
            </a:r>
            <a:r>
              <a:rPr lang="es-ES" sz="1100" dirty="0" err="1">
                <a:latin typeface="Candara" panose="020E0502030303020204" pitchFamily="34" charset="0"/>
              </a:rPr>
              <a:t>ubuntu-latest</a:t>
            </a:r>
            <a:r>
              <a:rPr lang="es-ES" sz="1100" dirty="0">
                <a:latin typeface="Candara" panose="020E0502030303020204" pitchFamily="34" charset="0"/>
              </a:rPr>
              <a:t>, </a:t>
            </a:r>
            <a:r>
              <a:rPr lang="es-ES" sz="1100" dirty="0" err="1">
                <a:latin typeface="Candara" panose="020E0502030303020204" pitchFamily="34" charset="0"/>
              </a:rPr>
              <a:t>windows-latest</a:t>
            </a:r>
            <a:r>
              <a:rPr lang="es-ES" sz="1100" dirty="0">
                <a:latin typeface="Candara" panose="020E0502030303020204" pitchFamily="34" charset="0"/>
              </a:rPr>
              <a:t>, macos-</a:t>
            </a:r>
            <a:r>
              <a:rPr lang="es-ES" sz="1100" dirty="0" err="1">
                <a:latin typeface="Candara" panose="020E0502030303020204" pitchFamily="34" charset="0"/>
              </a:rPr>
              <a:t>latest</a:t>
            </a:r>
            <a:r>
              <a:rPr lang="es-ES" sz="1100" dirty="0">
                <a:latin typeface="Candara" panose="020E0502030303020204" pitchFamily="34" charset="0"/>
              </a:rPr>
              <a:t>]  # Definición de los SO</a:t>
            </a:r>
            <a:br>
              <a:rPr lang="es-ES" sz="1100" dirty="0">
                <a:latin typeface="Candara" panose="020E0502030303020204" pitchFamily="34" charset="0"/>
              </a:rPr>
            </a:br>
            <a:r>
              <a:rPr lang="es-ES" sz="1100" dirty="0" err="1">
                <a:latin typeface="Candara" panose="020E0502030303020204" pitchFamily="34" charset="0"/>
              </a:rPr>
              <a:t>runs</a:t>
            </a:r>
            <a:r>
              <a:rPr lang="es-ES" sz="1100" dirty="0">
                <a:latin typeface="Candara" panose="020E0502030303020204" pitchFamily="34" charset="0"/>
              </a:rPr>
              <a:t>-on: ${{ </a:t>
            </a:r>
            <a:r>
              <a:rPr lang="es-ES" sz="1100" dirty="0" err="1">
                <a:latin typeface="Candara" panose="020E0502030303020204" pitchFamily="34" charset="0"/>
              </a:rPr>
              <a:t>matrix.os</a:t>
            </a:r>
            <a:r>
              <a:rPr lang="es-ES" sz="1100" dirty="0">
                <a:latin typeface="Candara" panose="020E0502030303020204" pitchFamily="34" charset="0"/>
              </a:rPr>
              <a:t> }}                              # Uso de la variable para elegir la máquina</a:t>
            </a:r>
            <a:endParaRPr lang="es-ES_tradnl" sz="1100" dirty="0">
              <a:latin typeface="Candara" panose="020E0502030303020204" pitchFamily="34" charset="0"/>
            </a:endParaRPr>
          </a:p>
        </p:txBody>
      </p:sp>
      <p:pic>
        <p:nvPicPr>
          <p:cNvPr id="15" name="Picture 2" descr="Decisión - Iconos gratis de negocio">
            <a:extLst>
              <a:ext uri="{FF2B5EF4-FFF2-40B4-BE49-F238E27FC236}">
                <a16:creationId xmlns:a16="http://schemas.microsoft.com/office/drawing/2014/main" id="{07EBC6B7-DF13-85CE-DA01-3AD56B2E6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83936"/>
            <a:ext cx="2247247" cy="224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2913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76F78-688A-28EB-6904-F1C1B4FBF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em_blanco.png">
            <a:extLst>
              <a:ext uri="{FF2B5EF4-FFF2-40B4-BE49-F238E27FC236}">
                <a16:creationId xmlns:a16="http://schemas.microsoft.com/office/drawing/2014/main" id="{40325E06-02EE-A690-4ACE-3D61298CF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914400" cy="21735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75A6DA5-FCF8-9B98-7D30-CC36982369D2}"/>
              </a:ext>
            </a:extLst>
          </p:cNvPr>
          <p:cNvSpPr/>
          <p:nvPr/>
        </p:nvSpPr>
        <p:spPr>
          <a:xfrm>
            <a:off x="4572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15C41"/>
                </a:solidFill>
                <a:latin typeface="Telegraf"/>
                <a:ea typeface="Telegraf"/>
              </a:rPr>
              <a:t>SECCIÓN 06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299D81C-D555-518B-3641-C2D4573477BA}"/>
              </a:ext>
            </a:extLst>
          </p:cNvPr>
          <p:cNvSpPr/>
          <p:nvPr/>
        </p:nvSpPr>
        <p:spPr>
          <a:xfrm>
            <a:off x="457200" y="2514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Outputs, Artifacts y Custom Actions</a:t>
            </a:r>
            <a:endParaRPr lang="en-US" sz="4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C57683C-33CB-D76B-2CA9-3E441BE53DB9}"/>
              </a:ext>
            </a:extLst>
          </p:cNvPr>
          <p:cNvSpPr/>
          <p:nvPr/>
        </p:nvSpPr>
        <p:spPr>
          <a:xfrm>
            <a:off x="457200" y="4297680"/>
            <a:ext cx="54864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B77644F-3B0E-6101-6021-997FCA389500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489B7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MÁSTER EN IA, BIG DATA Y CLOUD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542052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DA2C2-06CE-4B47-B485-657CE2A41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EF50BC8-4514-B5BD-F151-796D3BF38A18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Outputs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BAE38C-BD59-23CC-5FC6-853E36E92C3A}"/>
              </a:ext>
            </a:extLst>
          </p:cNvPr>
          <p:cNvSpPr/>
          <p:nvPr/>
        </p:nvSpPr>
        <p:spPr>
          <a:xfrm>
            <a:off x="4046628" y="11460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Output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6D77EB6-A282-81B0-52CD-C6EE72E8CAC2}"/>
              </a:ext>
            </a:extLst>
          </p:cNvPr>
          <p:cNvSpPr/>
          <p:nvPr/>
        </p:nvSpPr>
        <p:spPr>
          <a:xfrm>
            <a:off x="4046628" y="1557532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9F43021-E7A6-F6ED-7A53-8B07D6FFF200}"/>
              </a:ext>
            </a:extLst>
          </p:cNvPr>
          <p:cNvSpPr/>
          <p:nvPr/>
        </p:nvSpPr>
        <p:spPr>
          <a:xfrm>
            <a:off x="4046628" y="1685536"/>
            <a:ext cx="46401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Datos que devolverá una acción o paso al completarse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Las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actions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/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steps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que se ejecutan más adelante en un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pueden utilizar el conjunto de datos de salida (output) establecido en la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action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/step ejecutado anteriormente.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16DC49A4-7720-5488-8C86-FC879D726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DDBA425D-9218-04DC-0C4D-55AF74DA502D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6BCA21A-7663-5AF8-AC5F-DD8297EE780A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C6E70EA-D93B-2026-AD49-D3C34E7FDF18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41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13202219-8EE4-EF94-E2B9-6CF9EF3CF3D4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06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OUTPUTS, ARTIFACTS Y CUSTOM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sp>
        <p:nvSpPr>
          <p:cNvPr id="2" name="Flecha arriba y abajo 1">
            <a:extLst>
              <a:ext uri="{FF2B5EF4-FFF2-40B4-BE49-F238E27FC236}">
                <a16:creationId xmlns:a16="http://schemas.microsoft.com/office/drawing/2014/main" id="{2198C8C9-FB4A-EADE-7318-6AF52F3F1CFB}"/>
              </a:ext>
            </a:extLst>
          </p:cNvPr>
          <p:cNvSpPr/>
          <p:nvPr/>
        </p:nvSpPr>
        <p:spPr>
          <a:xfrm>
            <a:off x="6045124" y="2826144"/>
            <a:ext cx="228600" cy="76200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Candara" panose="020E0502030303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578B22-782A-7558-FB2C-82FAAECF0C34}"/>
              </a:ext>
            </a:extLst>
          </p:cNvPr>
          <p:cNvSpPr txBox="1"/>
          <p:nvPr/>
        </p:nvSpPr>
        <p:spPr>
          <a:xfrm>
            <a:off x="4114799" y="3656432"/>
            <a:ext cx="4347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200" dirty="0">
                <a:latin typeface="Candara" panose="020E0502030303020204" pitchFamily="34" charset="0"/>
              </a:rPr>
              <a:t>- id: </a:t>
            </a:r>
            <a:r>
              <a:rPr lang="es-ES_tradnl" sz="1200" dirty="0" err="1">
                <a:latin typeface="Candara" panose="020E0502030303020204" pitchFamily="34" charset="0"/>
              </a:rPr>
              <a:t>get</a:t>
            </a:r>
            <a:r>
              <a:rPr lang="es-ES_tradnl" sz="1200" dirty="0">
                <a:latin typeface="Candara" panose="020E0502030303020204" pitchFamily="34" charset="0"/>
              </a:rPr>
              <a:t>-target-</a:t>
            </a:r>
            <a:r>
              <a:rPr lang="es-ES_tradnl" sz="1200" dirty="0" err="1">
                <a:latin typeface="Candara" panose="020E0502030303020204" pitchFamily="34" charset="0"/>
              </a:rPr>
              <a:t>url</a:t>
            </a:r>
            <a:endParaRPr lang="es-ES_tradnl" sz="1200" dirty="0">
              <a:latin typeface="Candara" panose="020E0502030303020204" pitchFamily="34" charset="0"/>
            </a:endParaRPr>
          </a:p>
          <a:p>
            <a:r>
              <a:rPr lang="es-ES_tradnl" sz="1200" dirty="0">
                <a:latin typeface="Candara" panose="020E0502030303020204" pitchFamily="34" charset="0"/>
              </a:rPr>
              <a:t>  run: echo "</a:t>
            </a:r>
            <a:r>
              <a:rPr lang="es-ES_tradnl" sz="1200" dirty="0" err="1">
                <a:latin typeface="Candara" panose="020E0502030303020204" pitchFamily="34" charset="0"/>
              </a:rPr>
              <a:t>target_url</a:t>
            </a:r>
            <a:r>
              <a:rPr lang="es-ES_tradnl" sz="1200" dirty="0">
                <a:latin typeface="Candara" panose="020E0502030303020204" pitchFamily="34" charset="0"/>
              </a:rPr>
              <a:t>=https://</a:t>
            </a:r>
            <a:r>
              <a:rPr lang="es-ES_tradnl" sz="1200" dirty="0" err="1">
                <a:latin typeface="Candara" panose="020E0502030303020204" pitchFamily="34" charset="0"/>
              </a:rPr>
              <a:t>example.com</a:t>
            </a:r>
            <a:r>
              <a:rPr lang="es-ES_tradnl" sz="1200" dirty="0">
                <a:latin typeface="Candara" panose="020E0502030303020204" pitchFamily="34" charset="0"/>
              </a:rPr>
              <a:t>" &gt;&gt; $GITHUB_OUTPUT</a:t>
            </a:r>
          </a:p>
          <a:p>
            <a:endParaRPr lang="es-ES_tradnl" sz="1200" dirty="0">
              <a:latin typeface="Candara" panose="020E0502030303020204" pitchFamily="34" charset="0"/>
            </a:endParaRPr>
          </a:p>
          <a:p>
            <a:r>
              <a:rPr lang="es-ES_tradnl" sz="1200" dirty="0">
                <a:latin typeface="Candara" panose="020E0502030303020204" pitchFamily="34" charset="0"/>
              </a:rPr>
              <a:t>- run: echo "La URL es ${{ </a:t>
            </a:r>
            <a:r>
              <a:rPr lang="es-ES_tradnl" sz="1200" dirty="0" err="1">
                <a:latin typeface="Candara" panose="020E0502030303020204" pitchFamily="34" charset="0"/>
              </a:rPr>
              <a:t>steps.get</a:t>
            </a:r>
            <a:r>
              <a:rPr lang="es-ES_tradnl" sz="1200" dirty="0">
                <a:latin typeface="Candara" panose="020E0502030303020204" pitchFamily="34" charset="0"/>
              </a:rPr>
              <a:t>-target-</a:t>
            </a:r>
            <a:r>
              <a:rPr lang="es-ES_tradnl" sz="1200" dirty="0" err="1">
                <a:latin typeface="Candara" panose="020E0502030303020204" pitchFamily="34" charset="0"/>
              </a:rPr>
              <a:t>url.outputs.target_url</a:t>
            </a:r>
            <a:r>
              <a:rPr lang="es-ES_tradnl" sz="1200" dirty="0">
                <a:latin typeface="Candara" panose="020E0502030303020204" pitchFamily="34" charset="0"/>
              </a:rPr>
              <a:t> }}"</a:t>
            </a:r>
          </a:p>
        </p:txBody>
      </p:sp>
      <p:pic>
        <p:nvPicPr>
          <p:cNvPr id="1026" name="Picture 2" descr="Output Icon and Logo Designs for Your Projects">
            <a:extLst>
              <a:ext uri="{FF2B5EF4-FFF2-40B4-BE49-F238E27FC236}">
                <a16:creationId xmlns:a16="http://schemas.microsoft.com/office/drawing/2014/main" id="{AD687324-CAF7-DA2E-7977-CBE7174F7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58" y="1742296"/>
            <a:ext cx="2510711" cy="251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8045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E6378-AE7F-F360-586C-549DBBBE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015C2A8-164F-FD7E-992A-678D5EF9A904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Establecer</a:t>
            </a: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 un Output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B0D25F-F029-A5B8-101B-FA24AF04BD0F}"/>
              </a:ext>
            </a:extLst>
          </p:cNvPr>
          <p:cNvSpPr/>
          <p:nvPr/>
        </p:nvSpPr>
        <p:spPr>
          <a:xfrm>
            <a:off x="754380" y="1739780"/>
            <a:ext cx="8229600" cy="2398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Establecer un output:</a:t>
            </a: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echo </a:t>
            </a:r>
            <a:r>
              <a:rPr lang="es-ES" sz="1400" dirty="0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"&lt;output </a:t>
            </a:r>
            <a:r>
              <a:rPr lang="es-ES" sz="1400" dirty="0" err="1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name</a:t>
            </a:r>
            <a:r>
              <a:rPr lang="es-ES" sz="1400" dirty="0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&gt;=&lt;</a:t>
            </a:r>
            <a:r>
              <a:rPr lang="es-ES" sz="1400" dirty="0" err="1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value</a:t>
            </a:r>
            <a:r>
              <a:rPr lang="es-ES" sz="1400" dirty="0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&gt;"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	</a:t>
            </a:r>
            <a:r>
              <a:rPr lang="es-ES" sz="1400" dirty="0">
                <a:solidFill>
                  <a:schemeClr val="accent1"/>
                </a:solidFill>
                <a:latin typeface="Telegraf, Inter, sans-serif" pitchFamily="34" charset="0"/>
                <a:ea typeface="Telegraf, Inter, sans-serif" pitchFamily="34" charset="-122"/>
              </a:rPr>
              <a:t>&gt;&gt;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	$GITHUB_OUTPUT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o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dirty="0" err="1">
                <a:solidFill>
                  <a:schemeClr val="accent1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const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</a:t>
            </a:r>
            <a:r>
              <a:rPr lang="es-ES" sz="1400" dirty="0" err="1">
                <a:solidFill>
                  <a:schemeClr val="accent1"/>
                </a:solidFill>
                <a:latin typeface="Telegraf, Inter, sans-serif" pitchFamily="34" charset="0"/>
                <a:ea typeface="Telegraf, Inter, sans-serif" pitchFamily="34" charset="-122"/>
              </a:rPr>
              <a:t>core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=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require</a:t>
            </a:r>
            <a:r>
              <a:rPr lang="es-ES" sz="1400" dirty="0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('@</a:t>
            </a:r>
            <a:r>
              <a:rPr lang="es-ES" sz="1400" dirty="0" err="1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actions</a:t>
            </a:r>
            <a:r>
              <a:rPr lang="es-ES" sz="1400" dirty="0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/</a:t>
            </a:r>
            <a:r>
              <a:rPr lang="es-ES" sz="1400" dirty="0" err="1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core</a:t>
            </a:r>
            <a:r>
              <a:rPr lang="es-ES" sz="1400" dirty="0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'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);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core.setOutput</a:t>
            </a:r>
            <a:r>
              <a:rPr lang="es-ES" sz="1400" dirty="0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("&lt;output </a:t>
            </a:r>
            <a:r>
              <a:rPr lang="es-ES" sz="1400" dirty="0" err="1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name</a:t>
            </a:r>
            <a:r>
              <a:rPr lang="es-ES" sz="1400" dirty="0">
                <a:solidFill>
                  <a:schemeClr val="accent6">
                    <a:lumMod val="50000"/>
                  </a:schemeClr>
                </a:solidFill>
                <a:latin typeface="Telegraf, Inter, sans-serif" pitchFamily="34" charset="0"/>
                <a:ea typeface="Telegraf, Inter, sans-serif" pitchFamily="34" charset="-122"/>
              </a:rPr>
              <a:t>&gt;”, 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&lt;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value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&gt;); 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  <a:p>
            <a:r>
              <a:rPr lang="es-ES" sz="14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Usar ese output:</a:t>
            </a: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${{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steps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.&lt;step-id&gt;.outputs.&lt;output-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name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&gt; }}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0534ACA4-327D-AE75-9986-329A3AC15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A16A3281-1BDB-F46D-040A-CCF9294C8E84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7C03F0B-0B8D-2D6B-8112-DC68F8207FAB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C0AA76D-A4EE-7BFE-1408-01419FEBD6F3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42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ECF568E9-2E3C-6D36-9B94-E1E648A61A9A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06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OUTPUTS, ARTIFACTS Y CUSTOM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3074" name="Picture 2" descr="recomendado texto con pulgar arriba icono para insignia ...">
            <a:extLst>
              <a:ext uri="{FF2B5EF4-FFF2-40B4-BE49-F238E27FC236}">
                <a16:creationId xmlns:a16="http://schemas.microsoft.com/office/drawing/2014/main" id="{60188B76-C5F7-A9D5-6798-BA032504D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428" y="1510828"/>
            <a:ext cx="1343508" cy="1060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1735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D8C6D-EFB1-7758-1D99-C59735589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98E856F-3174-34C7-3A7C-4D6C0F5BCFB6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Artifacts</a:t>
            </a:r>
            <a:endParaRPr lang="en-US" sz="36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CD222A7-BB01-DBD0-28F0-FCC6E6C514A3}"/>
              </a:ext>
            </a:extLst>
          </p:cNvPr>
          <p:cNvSpPr/>
          <p:nvPr/>
        </p:nvSpPr>
        <p:spPr>
          <a:xfrm>
            <a:off x="4046628" y="49070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Artifact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16A5D1F-6EEA-E258-1ACA-5082031C6727}"/>
              </a:ext>
            </a:extLst>
          </p:cNvPr>
          <p:cNvSpPr/>
          <p:nvPr/>
        </p:nvSpPr>
        <p:spPr>
          <a:xfrm>
            <a:off x="4046628" y="902186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FFC7BB-6A82-FF46-115C-06BC273B64AC}"/>
              </a:ext>
            </a:extLst>
          </p:cNvPr>
          <p:cNvSpPr/>
          <p:nvPr/>
        </p:nvSpPr>
        <p:spPr>
          <a:xfrm>
            <a:off x="4046628" y="1003625"/>
            <a:ext cx="4640172" cy="132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En este caso, son archivos completos (reportes .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txt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, binarios, logs…) que se suben al almacenamiento de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Github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para ser usados por otros Jobs o descargados por el usuario</a:t>
            </a:r>
          </a:p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Se utiliza una Action como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upload-artifact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/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download-artifact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para poder llamarlos.</a:t>
            </a:r>
          </a:p>
          <a:p>
            <a:endParaRPr lang="es-ES" sz="1400" dirty="0">
              <a:solidFill>
                <a:srgbClr val="0F172A"/>
              </a:solidFill>
              <a:latin typeface="Telegraf, Inter, sans-serif" pitchFamily="34" charset="0"/>
              <a:ea typeface="Telegraf, Inter, sans-serif" pitchFamily="34" charset="-122"/>
            </a:endParaRP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F23831E0-12DE-1F36-A22B-A4C246425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B155C2DE-731D-4031-CB10-47F4C964F334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1FDA98E-9F58-4D47-1C16-1E7935275817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C3F6622-3C3B-0AC3-69AB-4DD11086CD1A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43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D9E6B328-8162-51FB-A561-C65FC6342F6D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06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OUTPUTS, ARTIFACTS Y CUSTOM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5" name="Imagen 4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1093C18C-9E95-22CF-06AB-8150945FD9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608" y="2163757"/>
            <a:ext cx="5047023" cy="2489037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B67BBF7-CA30-8E6A-0F4A-D9EF0871ADB8}"/>
              </a:ext>
            </a:extLst>
          </p:cNvPr>
          <p:cNvCxnSpPr/>
          <p:nvPr/>
        </p:nvCxnSpPr>
        <p:spPr>
          <a:xfrm>
            <a:off x="625098" y="2393627"/>
            <a:ext cx="2362200" cy="167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6624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68893"/>
            <a:ext cx="15659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Outputs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555523" y="1423657"/>
            <a:ext cx="7819390" cy="3017520"/>
          </a:xfrm>
          <a:custGeom>
            <a:avLst/>
            <a:gdLst/>
            <a:ahLst/>
            <a:cxnLst/>
            <a:rect l="l" t="t" r="r" b="b"/>
            <a:pathLst>
              <a:path w="7819390" h="3017520">
                <a:moveTo>
                  <a:pt x="7819390" y="2194560"/>
                </a:moveTo>
                <a:lnTo>
                  <a:pt x="3429558" y="2194560"/>
                </a:lnTo>
                <a:lnTo>
                  <a:pt x="3429558" y="1920240"/>
                </a:lnTo>
                <a:lnTo>
                  <a:pt x="1920544" y="1920240"/>
                </a:lnTo>
                <a:lnTo>
                  <a:pt x="1920544" y="1645920"/>
                </a:lnTo>
                <a:lnTo>
                  <a:pt x="4801374" y="1645920"/>
                </a:lnTo>
                <a:lnTo>
                  <a:pt x="4801374" y="1371600"/>
                </a:lnTo>
                <a:lnTo>
                  <a:pt x="2743644" y="1371600"/>
                </a:lnTo>
                <a:lnTo>
                  <a:pt x="2743644" y="1097280"/>
                </a:lnTo>
                <a:lnTo>
                  <a:pt x="1371815" y="1097280"/>
                </a:lnTo>
                <a:lnTo>
                  <a:pt x="1371815" y="822960"/>
                </a:lnTo>
                <a:lnTo>
                  <a:pt x="3566731" y="822960"/>
                </a:lnTo>
                <a:lnTo>
                  <a:pt x="3566731" y="548640"/>
                </a:lnTo>
                <a:lnTo>
                  <a:pt x="4527016" y="548640"/>
                </a:lnTo>
                <a:lnTo>
                  <a:pt x="4527016" y="274320"/>
                </a:lnTo>
                <a:lnTo>
                  <a:pt x="1646186" y="274320"/>
                </a:lnTo>
                <a:lnTo>
                  <a:pt x="1646186" y="0"/>
                </a:lnTo>
                <a:lnTo>
                  <a:pt x="0" y="0"/>
                </a:lnTo>
                <a:lnTo>
                  <a:pt x="0" y="274320"/>
                </a:lnTo>
                <a:lnTo>
                  <a:pt x="0" y="548640"/>
                </a:lnTo>
                <a:lnTo>
                  <a:pt x="0" y="3017520"/>
                </a:lnTo>
                <a:lnTo>
                  <a:pt x="7133476" y="3017520"/>
                </a:lnTo>
                <a:lnTo>
                  <a:pt x="7133476" y="2743200"/>
                </a:lnTo>
                <a:lnTo>
                  <a:pt x="6859117" y="2743200"/>
                </a:lnTo>
                <a:lnTo>
                  <a:pt x="6859117" y="2468880"/>
                </a:lnTo>
                <a:lnTo>
                  <a:pt x="7819390" y="2468880"/>
                </a:lnTo>
                <a:lnTo>
                  <a:pt x="7819390" y="2194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2825" y="1127485"/>
            <a:ext cx="784352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561340" marR="3296285">
              <a:lnSpc>
                <a:spcPct val="100000"/>
              </a:lnSpc>
              <a:tabLst>
                <a:tab pos="1384300" algn="l"/>
              </a:tabLst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	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1800" spc="-3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18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 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id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1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get-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endParaRPr sz="1800">
              <a:latin typeface="Courier New"/>
              <a:cs typeface="Courier New"/>
            </a:endParaRPr>
          </a:p>
          <a:p>
            <a:pPr marL="1109980" marR="3021965">
              <a:lnSpc>
                <a:spcPct val="100000"/>
              </a:lnSpc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Grab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current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time 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|</a:t>
            </a:r>
            <a:endParaRPr sz="18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curTime=$(date)</a:t>
            </a:r>
            <a:endParaRPr sz="18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"currenttime=${curTime}"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&gt;&gt;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$GITHUB_OUTPUT</a:t>
            </a:r>
            <a:endParaRPr sz="180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from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early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1800" spc="-1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is</a:t>
            </a:r>
            <a:endParaRPr sz="18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18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steps.get-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time.outputs.currenttime</a:t>
            </a:r>
            <a:r>
              <a:rPr sz="1800" spc="-4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}}"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800" y="709649"/>
            <a:ext cx="1640839" cy="40068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10" dirty="0">
                <a:latin typeface="Courier New"/>
                <a:cs typeface="Courier New"/>
              </a:rPr>
              <a:t>outputs.yaml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68893"/>
            <a:ext cx="15659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Outputs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555523" y="1423657"/>
            <a:ext cx="7819390" cy="3017520"/>
          </a:xfrm>
          <a:custGeom>
            <a:avLst/>
            <a:gdLst/>
            <a:ahLst/>
            <a:cxnLst/>
            <a:rect l="l" t="t" r="r" b="b"/>
            <a:pathLst>
              <a:path w="7819390" h="3017520">
                <a:moveTo>
                  <a:pt x="7819390" y="2194560"/>
                </a:moveTo>
                <a:lnTo>
                  <a:pt x="3429558" y="2194560"/>
                </a:lnTo>
                <a:lnTo>
                  <a:pt x="3429558" y="1920240"/>
                </a:lnTo>
                <a:lnTo>
                  <a:pt x="1920544" y="1920240"/>
                </a:lnTo>
                <a:lnTo>
                  <a:pt x="1920544" y="1645920"/>
                </a:lnTo>
                <a:lnTo>
                  <a:pt x="4801374" y="1645920"/>
                </a:lnTo>
                <a:lnTo>
                  <a:pt x="4801374" y="1371600"/>
                </a:lnTo>
                <a:lnTo>
                  <a:pt x="2743644" y="1371600"/>
                </a:lnTo>
                <a:lnTo>
                  <a:pt x="2743644" y="1097280"/>
                </a:lnTo>
                <a:lnTo>
                  <a:pt x="1371815" y="1097280"/>
                </a:lnTo>
                <a:lnTo>
                  <a:pt x="1371815" y="822960"/>
                </a:lnTo>
                <a:lnTo>
                  <a:pt x="3566731" y="822960"/>
                </a:lnTo>
                <a:lnTo>
                  <a:pt x="3566731" y="548640"/>
                </a:lnTo>
                <a:lnTo>
                  <a:pt x="4527016" y="548640"/>
                </a:lnTo>
                <a:lnTo>
                  <a:pt x="4527016" y="274320"/>
                </a:lnTo>
                <a:lnTo>
                  <a:pt x="1646186" y="274320"/>
                </a:lnTo>
                <a:lnTo>
                  <a:pt x="1646186" y="0"/>
                </a:lnTo>
                <a:lnTo>
                  <a:pt x="0" y="0"/>
                </a:lnTo>
                <a:lnTo>
                  <a:pt x="0" y="274320"/>
                </a:lnTo>
                <a:lnTo>
                  <a:pt x="0" y="548640"/>
                </a:lnTo>
                <a:lnTo>
                  <a:pt x="0" y="3017520"/>
                </a:lnTo>
                <a:lnTo>
                  <a:pt x="7133476" y="3017520"/>
                </a:lnTo>
                <a:lnTo>
                  <a:pt x="7133476" y="2743200"/>
                </a:lnTo>
                <a:lnTo>
                  <a:pt x="6859117" y="2743200"/>
                </a:lnTo>
                <a:lnTo>
                  <a:pt x="6859117" y="2468880"/>
                </a:lnTo>
                <a:lnTo>
                  <a:pt x="7819390" y="2468880"/>
                </a:lnTo>
                <a:lnTo>
                  <a:pt x="7819390" y="2194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2825" y="1127485"/>
            <a:ext cx="784352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 dirty="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 dirty="0">
              <a:latin typeface="Courier New"/>
              <a:cs typeface="Courier New"/>
            </a:endParaRPr>
          </a:p>
          <a:p>
            <a:pPr marL="561340" marR="3296285">
              <a:lnSpc>
                <a:spcPct val="100000"/>
              </a:lnSpc>
              <a:tabLst>
                <a:tab pos="1384300" algn="l"/>
              </a:tabLst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	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1800" spc="-3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18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 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 dirty="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id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1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get-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endParaRPr sz="1800" dirty="0">
              <a:latin typeface="Courier New"/>
              <a:cs typeface="Courier New"/>
            </a:endParaRPr>
          </a:p>
          <a:p>
            <a:pPr marL="1109980" marR="3021965">
              <a:lnSpc>
                <a:spcPct val="100000"/>
              </a:lnSpc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Grab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current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time 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|</a:t>
            </a:r>
            <a:endParaRPr sz="1800" dirty="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curTime=$(date)</a:t>
            </a:r>
            <a:endParaRPr sz="1800" dirty="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"currenttime=${curTime}"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&gt;&gt;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$GITHUB_OUTPUT</a:t>
            </a:r>
            <a:endParaRPr sz="1800" dirty="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from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early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1800" spc="-1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is</a:t>
            </a:r>
            <a:endParaRPr sz="1800" dirty="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18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steps.get-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time.outputs.currenttime</a:t>
            </a:r>
            <a:r>
              <a:rPr sz="1800" spc="-4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}}"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800" y="709649"/>
            <a:ext cx="1640839" cy="40068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10" dirty="0">
                <a:latin typeface="Courier New"/>
                <a:cs typeface="Courier New"/>
              </a:rPr>
              <a:t>outputs.yaml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0DACF2-3E94-67AE-BF5C-131EAA1B12E9}"/>
              </a:ext>
            </a:extLst>
          </p:cNvPr>
          <p:cNvSpPr txBox="1"/>
          <p:nvPr/>
        </p:nvSpPr>
        <p:spPr>
          <a:xfrm>
            <a:off x="2116336" y="741002"/>
            <a:ext cx="134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9234E9E-5862-2D56-850B-750C62914927}"/>
              </a:ext>
            </a:extLst>
          </p:cNvPr>
          <p:cNvSpPr txBox="1"/>
          <p:nvPr/>
        </p:nvSpPr>
        <p:spPr>
          <a:xfrm>
            <a:off x="4038600" y="3181350"/>
            <a:ext cx="3886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50" dirty="0">
                <a:latin typeface="Candara" panose="020E0502030303020204" pitchFamily="34" charset="0"/>
              </a:rPr>
              <a:t>Te da la fecha y hora actual y la guardas como </a:t>
            </a:r>
            <a:r>
              <a:rPr lang="es-ES_tradnl" sz="1050" dirty="0" err="1">
                <a:latin typeface="Candara" panose="020E0502030303020204" pitchFamily="34" charset="0"/>
              </a:rPr>
              <a:t>curTime</a:t>
            </a:r>
            <a:r>
              <a:rPr lang="es-ES_tradnl" sz="1050" dirty="0">
                <a:latin typeface="Candara" panose="020E0502030303020204" pitchFamily="34" charset="0"/>
              </a:rPr>
              <a:t>, y luego la exportas como </a:t>
            </a:r>
            <a:r>
              <a:rPr lang="es-ES_tradnl" sz="1050" b="1" dirty="0" err="1">
                <a:latin typeface="Candara" panose="020E0502030303020204" pitchFamily="34" charset="0"/>
              </a:rPr>
              <a:t>currenttime</a:t>
            </a:r>
            <a:endParaRPr lang="es-ES_tradnl" sz="1050" b="1" dirty="0">
              <a:latin typeface="Candara" panose="020E0502030303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B2E0D9-59E4-13EC-8B7E-7E7DB25444EB}"/>
              </a:ext>
            </a:extLst>
          </p:cNvPr>
          <p:cNvSpPr txBox="1"/>
          <p:nvPr/>
        </p:nvSpPr>
        <p:spPr>
          <a:xfrm>
            <a:off x="2286000" y="4469615"/>
            <a:ext cx="51816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Entras en el contexto de </a:t>
            </a:r>
            <a:r>
              <a:rPr lang="es-ES" sz="1050" dirty="0" err="1">
                <a:latin typeface="Candara" panose="020E0502030303020204" pitchFamily="34" charset="0"/>
              </a:rPr>
              <a:t>steps</a:t>
            </a:r>
            <a:r>
              <a:rPr lang="es-ES" sz="1050" dirty="0">
                <a:latin typeface="Candara" panose="020E0502030303020204" pitchFamily="34" charset="0"/>
              </a:rPr>
              <a:t>, accedes al step </a:t>
            </a:r>
            <a:r>
              <a:rPr lang="es-ES" sz="1050" dirty="0" err="1">
                <a:latin typeface="Candara" panose="020E0502030303020204" pitchFamily="34" charset="0"/>
              </a:rPr>
              <a:t>get</a:t>
            </a:r>
            <a:r>
              <a:rPr lang="es-ES" sz="1050" dirty="0">
                <a:latin typeface="Candara" panose="020E0502030303020204" pitchFamily="34" charset="0"/>
              </a:rPr>
              <a:t>-time, luego a los outputs generados en ese step y específicamente al </a:t>
            </a:r>
            <a:r>
              <a:rPr lang="es-ES" sz="1050" b="1" dirty="0">
                <a:latin typeface="Candara" panose="020E0502030303020204" pitchFamily="34" charset="0"/>
              </a:rPr>
              <a:t>output</a:t>
            </a:r>
            <a:r>
              <a:rPr lang="es-ES" sz="1050" dirty="0">
                <a:latin typeface="Candara" panose="020E0502030303020204" pitchFamily="34" charset="0"/>
              </a:rPr>
              <a:t> llamado </a:t>
            </a:r>
            <a:r>
              <a:rPr lang="es-ES" sz="1050" dirty="0" err="1">
                <a:latin typeface="Candara" panose="020E0502030303020204" pitchFamily="34" charset="0"/>
              </a:rPr>
              <a:t>currenttime</a:t>
            </a:r>
            <a:r>
              <a:rPr lang="es-ES" sz="1050" dirty="0">
                <a:latin typeface="Candara" panose="020E0502030303020204" pitchFamily="34" charset="0"/>
              </a:rPr>
              <a:t>, y finalmente lo muestras por pantalla con echo en el siguiente step.</a:t>
            </a:r>
            <a:endParaRPr lang="es-ES_tradnl" sz="1050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9E276-F8E9-EDB1-1F5A-D1E57745D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1C4E947-9A2D-278B-2500-66502488A29C}"/>
              </a:ext>
            </a:extLst>
          </p:cNvPr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03030"/>
                </a:solidFill>
                <a:latin typeface="Telegraf, Inter, sans-serif"/>
                <a:ea typeface="Telegraf, Inter, sans-serif" pitchFamily="34" charset="-122"/>
                <a:cs typeface="Telegraf, Inter, sans-serif" pitchFamily="34" charset="-120"/>
              </a:rPr>
              <a:t>Custom Actions</a:t>
            </a:r>
            <a:endParaRPr lang="en-US" sz="3200" dirty="0">
              <a:solidFill>
                <a:srgbClr val="303030"/>
              </a:solidFill>
              <a:latin typeface="Telegraf, Inter, sans-serif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86415D-EF92-A612-C9A2-66380DF4EDF6}"/>
              </a:ext>
            </a:extLst>
          </p:cNvPr>
          <p:cNvSpPr/>
          <p:nvPr/>
        </p:nvSpPr>
        <p:spPr>
          <a:xfrm>
            <a:off x="4046628" y="11460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Custom Actions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F53FF8-21CE-708D-3B10-3205461B534E}"/>
              </a:ext>
            </a:extLst>
          </p:cNvPr>
          <p:cNvSpPr/>
          <p:nvPr/>
        </p:nvSpPr>
        <p:spPr>
          <a:xfrm>
            <a:off x="4046628" y="1557532"/>
            <a:ext cx="36576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F5D8FDC-D1A3-D9FD-2C1C-F3A0913539ED}"/>
              </a:ext>
            </a:extLst>
          </p:cNvPr>
          <p:cNvSpPr/>
          <p:nvPr/>
        </p:nvSpPr>
        <p:spPr>
          <a:xfrm>
            <a:off x="4046628" y="1685536"/>
            <a:ext cx="46401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Tres tipos de acciones personalizadas:</a:t>
            </a: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Docker: ejecuta código en un contenedor.</a:t>
            </a: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JavaScript: usa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Node.js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 y @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actions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/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core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.</a:t>
            </a: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Composite: combina múltiples pasos en una sola acción.</a:t>
            </a: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+ Almacenamiento:</a:t>
            </a: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Guardadas en un repositorio.</a:t>
            </a: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Ubicadas en un directorio propio dentro del repo.</a:t>
            </a:r>
            <a:b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</a:b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Reutilizables en varios </a:t>
            </a:r>
            <a:r>
              <a:rPr lang="es-ES" sz="1400" dirty="0" err="1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workflows</a:t>
            </a:r>
            <a:r>
              <a:rPr lang="es-ES" sz="1400" dirty="0">
                <a:solidFill>
                  <a:srgbClr val="0F172A"/>
                </a:solidFill>
                <a:latin typeface="Telegraf, Inter, sans-serif" pitchFamily="34" charset="0"/>
                <a:ea typeface="Telegraf, Inter, sans-serif" pitchFamily="34" charset="-122"/>
              </a:rPr>
              <a:t>.</a:t>
            </a:r>
          </a:p>
        </p:txBody>
      </p:sp>
      <p:pic>
        <p:nvPicPr>
          <p:cNvPr id="9" name="Image 0" descr="/home/claude/edem_azul.png">
            <a:extLst>
              <a:ext uri="{FF2B5EF4-FFF2-40B4-BE49-F238E27FC236}">
                <a16:creationId xmlns:a16="http://schemas.microsoft.com/office/drawing/2014/main" id="{56D467EF-886B-1768-7969-4CB213556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4D012BF6-6D23-0635-4DBE-742CAA93283F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EFCE6B4-0F67-5B36-99CA-A66667EBF15C}"/>
              </a:ext>
            </a:extLst>
          </p:cNvPr>
          <p:cNvSpPr/>
          <p:nvPr/>
        </p:nvSpPr>
        <p:spPr>
          <a:xfrm>
            <a:off x="1280160" y="4736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54A039C-C5E2-2F78-AF64-47A87E844E1F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46</a:t>
            </a:r>
            <a:endParaRPr lang="en-US" sz="900" dirty="0"/>
          </a:p>
        </p:txBody>
      </p:sp>
      <p:sp>
        <p:nvSpPr>
          <p:cNvPr id="14" name="Header Tema">
            <a:extLst>
              <a:ext uri="{FF2B5EF4-FFF2-40B4-BE49-F238E27FC236}">
                <a16:creationId xmlns:a16="http://schemas.microsoft.com/office/drawing/2014/main" id="{340B88E4-F890-EA86-B62C-40414EE4DA31}"/>
              </a:ext>
            </a:extLst>
          </p:cNvPr>
          <p:cNvSpPr/>
          <p:nvPr/>
        </p:nvSpPr>
        <p:spPr>
          <a:xfrm>
            <a:off x="457200" y="320040"/>
            <a:ext cx="8229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SECCIÓN 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06</a:t>
            </a:r>
            <a:r>
              <a:rPr lang="es-ES" sz="800" b="1" kern="0" spc="200" dirty="0">
                <a:solidFill>
                  <a:srgbClr val="94A3B8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 · OUTPUTS, ARTIFACTS Y CUSTOM ACTIONS</a:t>
            </a:r>
            <a:endParaRPr lang="es-ES" sz="800" dirty="0">
              <a:latin typeface="Telegraf, Inter, sans-serif"/>
              <a:ea typeface="Telegraf, Inter, sans-serif"/>
            </a:endParaRPr>
          </a:p>
        </p:txBody>
      </p:sp>
      <p:pic>
        <p:nvPicPr>
          <p:cNvPr id="5" name="Picture 2" descr="Docker Logo and symbol, meaning, history, PNG, brand">
            <a:extLst>
              <a:ext uri="{FF2B5EF4-FFF2-40B4-BE49-F238E27FC236}">
                <a16:creationId xmlns:a16="http://schemas.microsoft.com/office/drawing/2014/main" id="{8FA751EF-0A48-14FC-2347-B047300D0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" y="2113382"/>
            <a:ext cx="274320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927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45315-A5F5-3105-3AF4-AE39332B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tiqueta">
            <a:extLst>
              <a:ext uri="{FF2B5EF4-FFF2-40B4-BE49-F238E27FC236}">
                <a16:creationId xmlns:a16="http://schemas.microsoft.com/office/drawing/2014/main" id="{CF9450BE-496B-43E9-31BF-361518B44245}"/>
              </a:ext>
            </a:extLst>
          </p:cNvPr>
          <p:cNvSpPr/>
          <p:nvPr/>
        </p:nvSpPr>
        <p:spPr>
          <a:xfrm>
            <a:off x="457200" y="900000"/>
            <a:ext cx="4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kern="0" spc="200">
                <a:solidFill>
                  <a:srgbClr val="EA580C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VALORACIONES</a:t>
            </a:r>
          </a:p>
        </p:txBody>
      </p:sp>
      <p:pic>
        <p:nvPicPr>
          <p:cNvPr id="900" name="Logo EDEM">
            <a:extLst>
              <a:ext uri="{FF2B5EF4-FFF2-40B4-BE49-F238E27FC236}">
                <a16:creationId xmlns:a16="http://schemas.microsoft.com/office/drawing/2014/main" id="{0F28129A-2ABA-3997-5ECB-1E12F2B65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03111"/>
            <a:ext cx="594360" cy="141282"/>
          </a:xfrm>
          <a:prstGeom prst="rect">
            <a:avLst/>
          </a:prstGeom>
        </p:spPr>
      </p:pic>
      <p:sp>
        <p:nvSpPr>
          <p:cNvPr id="901" name="FootSep">
            <a:extLst>
              <a:ext uri="{FF2B5EF4-FFF2-40B4-BE49-F238E27FC236}">
                <a16:creationId xmlns:a16="http://schemas.microsoft.com/office/drawing/2014/main" id="{FC8582CC-6FBE-A0D1-9091-F0A3D9E9C2B0}"/>
              </a:ext>
            </a:extLst>
          </p:cNvPr>
          <p:cNvSpPr/>
          <p:nvPr/>
        </p:nvSpPr>
        <p:spPr>
          <a:xfrm>
            <a:off x="1188720" y="4773168"/>
            <a:ext cx="0" cy="16459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2" name="FootText">
            <a:extLst>
              <a:ext uri="{FF2B5EF4-FFF2-40B4-BE49-F238E27FC236}">
                <a16:creationId xmlns:a16="http://schemas.microsoft.com/office/drawing/2014/main" id="{115852D3-D3EB-C7F1-801B-DD48A85352F3}"/>
              </a:ext>
            </a:extLst>
          </p:cNvPr>
          <p:cNvSpPr/>
          <p:nvPr/>
        </p:nvSpPr>
        <p:spPr>
          <a:xfrm>
            <a:off x="1280160" y="4736592"/>
            <a:ext cx="35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Máster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en</a:t>
            </a:r>
            <a:r>
              <a:rPr lang="en-US" sz="950" dirty="0">
                <a:solidFill>
                  <a:srgbClr val="475569"/>
                </a:solidFill>
                <a:latin typeface="Telegraf" panose="00000500000000000000" pitchFamily="50" charset="0"/>
                <a:ea typeface="Telegraf, Inter, sans-serif" pitchFamily="34" charset="-122"/>
                <a:cs typeface="Telegraf, Inter, sans-serif" pitchFamily="34" charset="-120"/>
              </a:rPr>
              <a:t> IA, Big Data y Cloud</a:t>
            </a:r>
            <a:endParaRPr lang="en-US" sz="950" dirty="0">
              <a:latin typeface="Telegraf" panose="00000500000000000000" pitchFamily="50" charset="0"/>
            </a:endParaRPr>
          </a:p>
        </p:txBody>
      </p:sp>
      <p:sp>
        <p:nvSpPr>
          <p:cNvPr id="903" name="PgNum">
            <a:extLst>
              <a:ext uri="{FF2B5EF4-FFF2-40B4-BE49-F238E27FC236}">
                <a16:creationId xmlns:a16="http://schemas.microsoft.com/office/drawing/2014/main" id="{08FB7A8E-9F4C-C248-B327-F97BBD267FCE}"/>
              </a:ext>
            </a:extLst>
          </p:cNvPr>
          <p:cNvSpPr/>
          <p:nvPr/>
        </p:nvSpPr>
        <p:spPr>
          <a:xfrm>
            <a:off x="8000000" y="4736592"/>
            <a:ext cx="6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kern="0" spc="200">
                <a:solidFill>
                  <a:srgbClr val="FFFFFF"/>
                </a:solidFill>
                <a:latin typeface="Telegraf, Inter, sans-serif" pitchFamily="34" charset="0"/>
                <a:ea typeface="Telegraf, Inter, sans-serif" pitchFamily="34" charset="-122"/>
                <a:cs typeface="Telegraf, Inter, sans-serif" pitchFamily="34" charset="-120"/>
              </a:rPr>
              <a:t>24</a:t>
            </a:r>
          </a:p>
        </p:txBody>
      </p:sp>
      <p:sp>
        <p:nvSpPr>
          <p:cNvPr id="5" name="Titulo">
            <a:extLst>
              <a:ext uri="{FF2B5EF4-FFF2-40B4-BE49-F238E27FC236}">
                <a16:creationId xmlns:a16="http://schemas.microsoft.com/office/drawing/2014/main" id="{5484A474-156F-27DE-0331-50D8B387530A}"/>
              </a:ext>
            </a:extLst>
          </p:cNvPr>
          <p:cNvSpPr/>
          <p:nvPr/>
        </p:nvSpPr>
        <p:spPr>
          <a:xfrm>
            <a:off x="457200" y="1152786"/>
            <a:ext cx="4200000" cy="228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3600" b="1" kern="0" dirty="0">
                <a:solidFill>
                  <a:srgbClr val="0F172A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Valora la sesión para que mejoremos las próximas</a:t>
            </a:r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55C7D1B9-9D4C-6577-8252-83826E65BF51}"/>
              </a:ext>
            </a:extLst>
          </p:cNvPr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Telegraf, Inter, sans-serif"/>
              </a:rPr>
              <a:t>47</a:t>
            </a:r>
            <a:endParaRPr lang="en-US" sz="900" dirty="0"/>
          </a:p>
        </p:txBody>
      </p:sp>
      <p:pic>
        <p:nvPicPr>
          <p:cNvPr id="2" name="Imagen 1" descr="Código QR&#10;&#10;Descripción generada automáticamente">
            <a:extLst>
              <a:ext uri="{FF2B5EF4-FFF2-40B4-BE49-F238E27FC236}">
                <a16:creationId xmlns:a16="http://schemas.microsoft.com/office/drawing/2014/main" id="{128409D5-05CE-D192-CD8F-ABE00DF46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179" y="498451"/>
            <a:ext cx="3154821" cy="402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894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e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463040" cy="3477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0" b="1">
                <a:solidFill>
                  <a:srgbClr val="FFFFFF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¡Gracias!</a:t>
            </a:r>
            <a:endParaRPr lang="en-US" sz="11000">
              <a:latin typeface="Telegraf, Inter, sans-serif"/>
              <a:ea typeface="Telegraf, Inter, sans-serif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3931920"/>
            <a:ext cx="548640" cy="0"/>
          </a:xfrm>
          <a:prstGeom prst="line">
            <a:avLst/>
          </a:prstGeom>
          <a:noFill/>
          <a:ln w="19050">
            <a:solidFill>
              <a:srgbClr val="F658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5720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 err="1">
                <a:solidFill>
                  <a:srgbClr val="FFFFFF"/>
                </a:solidFill>
                <a:latin typeface="Telegraf, Inter, sans-serif" pitchFamily="34" charset="0"/>
                <a:ea typeface="Telegraf, Inter, sans-serif"/>
                <a:cs typeface="Telegraf, Inter, sans-serif" pitchFamily="34" charset="-120"/>
              </a:rPr>
              <a:t>reyesvazqueznacho@gmail</a:t>
            </a:r>
            <a:r>
              <a:rPr lang="en-US" sz="1300" b="1" dirty="0" err="1">
                <a:solidFill>
                  <a:srgbClr val="FFFFFF"/>
                </a:solidFill>
                <a:latin typeface="Telegraf, Inter, sans-serif"/>
                <a:ea typeface="Telegraf, Inter, sans-serif"/>
                <a:cs typeface="Telegraf, Inter, sans-serif" pitchFamily="34" charset="-120"/>
              </a:rPr>
              <a:t>.com</a:t>
            </a:r>
            <a:endParaRPr lang="en-US" sz="1300" dirty="0">
              <a:latin typeface="Telegraf, Inter, sans-serif"/>
              <a:ea typeface="Telegraf, Inter, sans-serif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54AEAF5-2A21-4D3F-4676-0851D7605693}"/>
              </a:ext>
            </a:extLst>
          </p:cNvPr>
          <p:cNvSpPr/>
          <p:nvPr/>
        </p:nvSpPr>
        <p:spPr>
          <a:xfrm>
            <a:off x="457200" y="4766856"/>
            <a:ext cx="4898571" cy="95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chemeClr val="bg1"/>
                </a:solidFill>
                <a:latin typeface="Telegraf"/>
                <a:ea typeface="Telegraf, Inter, sans-serif"/>
              </a:rPr>
              <a:t>MÁSTER EN DISEÑO IA, BIG DATA Y CLOUD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237115E246B534A971A41501FADE14A" ma:contentTypeVersion="3" ma:contentTypeDescription="Crear nuevo documento." ma:contentTypeScope="" ma:versionID="8488e66a757a7c28c1f406945b174231">
  <xsd:schema xmlns:xsd="http://www.w3.org/2001/XMLSchema" xmlns:xs="http://www.w3.org/2001/XMLSchema" xmlns:p="http://schemas.microsoft.com/office/2006/metadata/properties" xmlns:ns2="473d8722-113c-480a-8d02-49c63dca9a9a" targetNamespace="http://schemas.microsoft.com/office/2006/metadata/properties" ma:root="true" ma:fieldsID="ae74edc5b526f0fe811b41a6e43193a4" ns2:_="">
    <xsd:import namespace="473d8722-113c-480a-8d02-49c63dca9a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3d8722-113c-480a-8d02-49c63dca9a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FF859C-667B-4874-BE98-F0849AA57B6E}">
  <ds:schemaRefs>
    <ds:schemaRef ds:uri="http://www.w3.org/XML/1998/namespace"/>
    <ds:schemaRef ds:uri="473d8722-113c-480a-8d02-49c63dca9a9a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9432EF9-18CE-472B-85AD-19EC48AC9A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9B9767-A938-4B12-B376-7171CFD508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3d8722-113c-480a-8d02-49c63dca9a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3199</Words>
  <Application>Microsoft Office PowerPoint</Application>
  <PresentationFormat>Presentación en pantalla (16:9)</PresentationFormat>
  <Paragraphs>505</Paragraphs>
  <Slides>48</Slides>
  <Notes>39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6" baseType="lpstr">
      <vt:lpstr>Arial</vt:lpstr>
      <vt:lpstr>Calibri</vt:lpstr>
      <vt:lpstr>Cambria</vt:lpstr>
      <vt:lpstr>Candara</vt:lpstr>
      <vt:lpstr>Courier New</vt:lpstr>
      <vt:lpstr>Telegraf</vt:lpstr>
      <vt:lpstr>Telegraf, Inter, sans-serif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Primer Workflow</vt:lpstr>
      <vt:lpstr>Primer Workflow</vt:lpstr>
      <vt:lpstr>Presentación de PowerPoint</vt:lpstr>
      <vt:lpstr>Presentación de PowerPoint</vt:lpstr>
      <vt:lpstr>Presentación de PowerPoint</vt:lpstr>
      <vt:lpstr>second.yaml</vt:lpstr>
      <vt:lpstr>second.yaml</vt:lpstr>
      <vt:lpstr>third.yaml</vt:lpstr>
      <vt:lpstr>third.yaml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Outputs</vt:lpstr>
      <vt:lpstr>Outputs</vt:lpstr>
      <vt:lpstr>Presentación de PowerPoint</vt:lpstr>
      <vt:lpstr>Presentación de PowerPoint</vt:lpstr>
      <vt:lpstr>Presentación de PowerPoint</vt:lpstr>
    </vt:vector>
  </TitlesOfParts>
  <Company>EDEM Escuela de Empresarios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profesores EDEM</dc:title>
  <dc:subject>PptxGenJS Presentation</dc:subject>
  <dc:creator>Marca · Marina de Empresas</dc:creator>
  <cp:lastModifiedBy>Javier Plaza Rosique</cp:lastModifiedBy>
  <cp:revision>318</cp:revision>
  <dcterms:created xsi:type="dcterms:W3CDTF">2026-05-05T11:38:42Z</dcterms:created>
  <dcterms:modified xsi:type="dcterms:W3CDTF">2026-10-08T07:24:22Z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0x010100C237115E246B534A971A41501FADE14A</vt:lpwstr>
  </property>
  <property fmtid="{D5CDD505-2E9C-101B-9397-08002B2CF9AE}" pid="3" name="MediaServiceImageTags">
    <vt:lpwstr/>
  </property>
</Properties>
</file>