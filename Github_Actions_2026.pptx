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348" r:id="rId2"/>
    <p:sldId id="260" r:id="rId3"/>
    <p:sldId id="261" r:id="rId4"/>
    <p:sldId id="262" r:id="rId5"/>
    <p:sldId id="263" r:id="rId6"/>
    <p:sldId id="264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349" r:id="rId16"/>
    <p:sldId id="282" r:id="rId17"/>
    <p:sldId id="352" r:id="rId18"/>
    <p:sldId id="284" r:id="rId19"/>
    <p:sldId id="285" r:id="rId20"/>
    <p:sldId id="286" r:id="rId21"/>
    <p:sldId id="287" r:id="rId22"/>
    <p:sldId id="288" r:id="rId23"/>
    <p:sldId id="353" r:id="rId24"/>
    <p:sldId id="289" r:id="rId25"/>
    <p:sldId id="354" r:id="rId26"/>
    <p:sldId id="355" r:id="rId27"/>
    <p:sldId id="292" r:id="rId28"/>
    <p:sldId id="356" r:id="rId29"/>
    <p:sldId id="293" r:id="rId30"/>
    <p:sldId id="294" r:id="rId31"/>
    <p:sldId id="358" r:id="rId32"/>
    <p:sldId id="357" r:id="rId33"/>
    <p:sldId id="361" r:id="rId34"/>
    <p:sldId id="362" r:id="rId35"/>
    <p:sldId id="363" r:id="rId36"/>
    <p:sldId id="299" r:id="rId37"/>
    <p:sldId id="300" r:id="rId38"/>
    <p:sldId id="301" r:id="rId39"/>
    <p:sldId id="359" r:id="rId40"/>
    <p:sldId id="364" r:id="rId41"/>
    <p:sldId id="302" r:id="rId42"/>
    <p:sldId id="303" r:id="rId43"/>
    <p:sldId id="360" r:id="rId44"/>
    <p:sldId id="307" r:id="rId45"/>
    <p:sldId id="317" r:id="rId4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70"/>
    <p:restoredTop sz="94614"/>
  </p:normalViewPr>
  <p:slideViewPr>
    <p:cSldViewPr>
      <p:cViewPr varScale="1">
        <p:scale>
          <a:sx n="155" d="100"/>
          <a:sy n="155" d="100"/>
        </p:scale>
        <p:origin x="192" y="3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F923F-84C9-7248-8718-892C508170CC}" type="datetimeFigureOut">
              <a:rPr lang="es-ES_tradnl" smtClean="0"/>
              <a:t>10/2/26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3A0EB8-D172-5443-B620-574183CD801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7733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3A0EB8-D172-5443-B620-574183CD8011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4877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975" y="768062"/>
            <a:ext cx="7313930" cy="278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88525" y="0"/>
            <a:ext cx="5555615" cy="5143500"/>
          </a:xfrm>
          <a:custGeom>
            <a:avLst/>
            <a:gdLst/>
            <a:ahLst/>
            <a:cxnLst/>
            <a:rect l="l" t="t" r="r" b="b"/>
            <a:pathLst>
              <a:path w="5555615" h="5143500">
                <a:moveTo>
                  <a:pt x="55553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5555399" y="0"/>
                </a:lnTo>
                <a:lnTo>
                  <a:pt x="55553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88525" y="0"/>
            <a:ext cx="5555615" cy="5143500"/>
          </a:xfrm>
          <a:custGeom>
            <a:avLst/>
            <a:gdLst/>
            <a:ahLst/>
            <a:cxnLst/>
            <a:rect l="l" t="t" r="r" b="b"/>
            <a:pathLst>
              <a:path w="5555615" h="5143500">
                <a:moveTo>
                  <a:pt x="55553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5555399" y="0"/>
                </a:lnTo>
                <a:lnTo>
                  <a:pt x="55553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88525" y="0"/>
            <a:ext cx="5555615" cy="5143500"/>
          </a:xfrm>
          <a:custGeom>
            <a:avLst/>
            <a:gdLst/>
            <a:ahLst/>
            <a:cxnLst/>
            <a:rect l="l" t="t" r="r" b="b"/>
            <a:pathLst>
              <a:path w="5555615" h="5143500">
                <a:moveTo>
                  <a:pt x="55553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5555399" y="0"/>
                </a:lnTo>
                <a:lnTo>
                  <a:pt x="55553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4F0D2652-678F-40B4-94EF-2CBEB051C531}" type="datetimeFigureOut">
              <a:rPr lang="es-ES" smtClean="0"/>
              <a:t>10/2/26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83680" y="4783455"/>
            <a:ext cx="2103120" cy="276999"/>
          </a:xfrm>
        </p:spPr>
        <p:txBody>
          <a:bodyPr/>
          <a:lstStyle/>
          <a:p>
            <a:fld id="{96217E86-EA14-4673-9189-8821E129ED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623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0150" y="168893"/>
            <a:ext cx="2886504" cy="1767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5574" y="831531"/>
            <a:ext cx="3818254" cy="3366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github.com/en/actions/reference/workflows-and-actions/events-that-trigger-workflow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actions/reference/workflows-and-actions/context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8240F3F-326C-4E65-9BA5-C6F3C25EFE22}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6773A51-7DAD-462E-8CF9-9EB691C2E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716" y="1730427"/>
            <a:ext cx="3248568" cy="87570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E9E8E4F-1F4C-4F2B-AB8F-11E890C4C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052" y="904604"/>
            <a:ext cx="1677897" cy="676298"/>
          </a:xfrm>
          <a:prstGeom prst="rect">
            <a:avLst/>
          </a:prstGeom>
        </p:spPr>
      </p:pic>
      <p:sp>
        <p:nvSpPr>
          <p:cNvPr id="7" name="Marcador de texto 106">
            <a:extLst>
              <a:ext uri="{FF2B5EF4-FFF2-40B4-BE49-F238E27FC236}">
                <a16:creationId xmlns:a16="http://schemas.microsoft.com/office/drawing/2014/main" id="{4CE94872-411C-429C-A774-02ED4A665F85}"/>
              </a:ext>
            </a:extLst>
          </p:cNvPr>
          <p:cNvSpPr txBox="1">
            <a:spLocks/>
          </p:cNvSpPr>
          <p:nvPr/>
        </p:nvSpPr>
        <p:spPr>
          <a:xfrm>
            <a:off x="0" y="2916127"/>
            <a:ext cx="9144000" cy="1995508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666666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3300" dirty="0">
                <a:solidFill>
                  <a:schemeClr val="bg1"/>
                </a:solidFill>
                <a:latin typeface="Candara"/>
              </a:rPr>
              <a:t>Máster en Big Data &amp; Cloud | VII Edición</a:t>
            </a:r>
            <a:endParaRPr lang="es-ES" sz="3000" dirty="0">
              <a:solidFill>
                <a:schemeClr val="bg1"/>
              </a:solidFill>
              <a:latin typeface="Candara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s-ES" sz="2400" dirty="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2400" dirty="0">
                <a:solidFill>
                  <a:schemeClr val="bg1"/>
                </a:solidFill>
              </a:rPr>
              <a:t>GitHub </a:t>
            </a:r>
            <a:r>
              <a:rPr lang="es-ES" sz="2400" dirty="0" err="1">
                <a:solidFill>
                  <a:schemeClr val="bg1"/>
                </a:solidFill>
              </a:rPr>
              <a:t>Actions</a:t>
            </a:r>
            <a:r>
              <a:rPr lang="es-ES" sz="2400" dirty="0">
                <a:solidFill>
                  <a:schemeClr val="bg1"/>
                </a:solidFill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2400" dirty="0">
                <a:solidFill>
                  <a:schemeClr val="bg1"/>
                </a:solidFill>
              </a:rPr>
              <a:t>Ignacio Reyes Vázquez</a:t>
            </a:r>
            <a:endParaRPr lang="es-E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5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37230" y="0"/>
            <a:ext cx="5906770" cy="5143500"/>
            <a:chOff x="3237675" y="0"/>
            <a:chExt cx="5906770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2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5706299" y="0"/>
                  </a:lnTo>
                  <a:lnTo>
                    <a:pt x="57062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4960" y="185802"/>
            <a:ext cx="2886504" cy="859482"/>
          </a:xfrm>
          <a:prstGeom prst="rect">
            <a:avLst/>
          </a:prstGeom>
        </p:spPr>
        <p:txBody>
          <a:bodyPr vert="horz" wrap="square" lIns="0" tIns="27205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Contenido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275574" y="831531"/>
            <a:ext cx="3818254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000" dirty="0">
                <a:latin typeface="Candara" panose="020E0502030303020204" pitchFamily="34" charset="0"/>
              </a:rPr>
              <a:t>¿</a:t>
            </a:r>
            <a:r>
              <a:rPr sz="2000" dirty="0" err="1">
                <a:latin typeface="Candara" panose="020E0502030303020204" pitchFamily="34" charset="0"/>
              </a:rPr>
              <a:t>Qué</a:t>
            </a:r>
            <a:r>
              <a:rPr sz="2000" dirty="0">
                <a:latin typeface="Candara" panose="020E0502030303020204" pitchFamily="34" charset="0"/>
              </a:rPr>
              <a:t> es GitHub Actions?</a:t>
            </a:r>
          </a:p>
          <a:p>
            <a:r>
              <a:rPr sz="2000" dirty="0" err="1">
                <a:latin typeface="Candara" panose="020E0502030303020204" pitchFamily="34" charset="0"/>
              </a:rPr>
              <a:t>Componentes</a:t>
            </a:r>
            <a:r>
              <a:rPr sz="2000" dirty="0">
                <a:latin typeface="Candara" panose="020E0502030303020204" pitchFamily="34" charset="0"/>
              </a:rPr>
              <a:t> de GitHub Actions</a:t>
            </a:r>
          </a:p>
          <a:p>
            <a:r>
              <a:rPr sz="2000" dirty="0" err="1">
                <a:latin typeface="Candara" panose="020E0502030303020204" pitchFamily="34" charset="0"/>
              </a:rPr>
              <a:t>Componentes</a:t>
            </a:r>
            <a:r>
              <a:rPr sz="2000" dirty="0">
                <a:latin typeface="Candara" panose="020E0502030303020204" pitchFamily="34" charset="0"/>
              </a:rPr>
              <a:t> de a </a:t>
            </a:r>
            <a:r>
              <a:rPr lang="es-ES" sz="2000" dirty="0" err="1">
                <a:latin typeface="Candara" panose="020E0502030303020204" pitchFamily="34" charset="0"/>
              </a:rPr>
              <a:t>workflow</a:t>
            </a:r>
            <a:endParaRPr sz="2000" dirty="0">
              <a:latin typeface="Candara" panose="020E0502030303020204" pitchFamily="34" charset="0"/>
            </a:endParaRPr>
          </a:p>
          <a:p>
            <a:r>
              <a:rPr sz="2000" dirty="0">
                <a:latin typeface="Candara" panose="020E0502030303020204" pitchFamily="34" charset="0"/>
              </a:rPr>
              <a:t>Crear </a:t>
            </a:r>
            <a:r>
              <a:rPr sz="2000" dirty="0" err="1">
                <a:latin typeface="Candara" panose="020E0502030303020204" pitchFamily="34" charset="0"/>
              </a:rPr>
              <a:t>nuestro</a:t>
            </a:r>
            <a:r>
              <a:rPr sz="2000" dirty="0">
                <a:latin typeface="Candara" panose="020E0502030303020204" pitchFamily="34" charset="0"/>
              </a:rPr>
              <a:t> primer </a:t>
            </a:r>
            <a:r>
              <a:rPr lang="es-ES" sz="2000" dirty="0" err="1">
                <a:latin typeface="Candara" panose="020E0502030303020204" pitchFamily="34" charset="0"/>
              </a:rPr>
              <a:t>workflow</a:t>
            </a:r>
            <a:endParaRPr sz="2000" dirty="0">
              <a:latin typeface="Candara" panose="020E0502030303020204" pitchFamily="34" charset="0"/>
            </a:endParaRPr>
          </a:p>
          <a:p>
            <a:r>
              <a:rPr sz="2000" dirty="0" err="1">
                <a:latin typeface="Candara" panose="020E0502030303020204" pitchFamily="34" charset="0"/>
              </a:rPr>
              <a:t>Componentes</a:t>
            </a:r>
            <a:r>
              <a:rPr sz="2000" dirty="0">
                <a:latin typeface="Candara" panose="020E0502030303020204" pitchFamily="34" charset="0"/>
              </a:rPr>
              <a:t> de </a:t>
            </a:r>
            <a:r>
              <a:rPr lang="es-ES" sz="2000" dirty="0">
                <a:latin typeface="Candara" panose="020E0502030303020204" pitchFamily="34" charset="0"/>
              </a:rPr>
              <a:t>una</a:t>
            </a:r>
            <a:r>
              <a:rPr sz="2000" dirty="0">
                <a:latin typeface="Candara" panose="020E0502030303020204" pitchFamily="34" charset="0"/>
              </a:rPr>
              <a:t> </a:t>
            </a:r>
            <a:r>
              <a:rPr lang="es-ES" sz="2000" dirty="0" err="1">
                <a:latin typeface="Candara" panose="020E0502030303020204" pitchFamily="34" charset="0"/>
              </a:rPr>
              <a:t>custom</a:t>
            </a:r>
            <a:r>
              <a:rPr sz="2000" dirty="0">
                <a:latin typeface="Candara" panose="020E0502030303020204" pitchFamily="34" charset="0"/>
              </a:rPr>
              <a:t> </a:t>
            </a:r>
            <a:r>
              <a:rPr lang="es-ES" sz="2000" dirty="0" err="1">
                <a:latin typeface="Candara" panose="020E0502030303020204" pitchFamily="34" charset="0"/>
              </a:rPr>
              <a:t>action</a:t>
            </a:r>
            <a:endParaRPr sz="2000" dirty="0">
              <a:latin typeface="Candara" panose="020E0502030303020204" pitchFamily="34" charset="0"/>
            </a:endParaRPr>
          </a:p>
          <a:p>
            <a:r>
              <a:rPr sz="2000" dirty="0">
                <a:latin typeface="Candara" panose="020E0502030303020204" pitchFamily="34" charset="0"/>
              </a:rPr>
              <a:t>Crear </a:t>
            </a:r>
            <a:r>
              <a:rPr sz="2000" dirty="0" err="1">
                <a:latin typeface="Candara" panose="020E0502030303020204" pitchFamily="34" charset="0"/>
              </a:rPr>
              <a:t>nuestro</a:t>
            </a:r>
            <a:r>
              <a:rPr sz="2000" dirty="0">
                <a:latin typeface="Candara" panose="020E0502030303020204" pitchFamily="34" charset="0"/>
              </a:rPr>
              <a:t> primer </a:t>
            </a:r>
            <a:r>
              <a:rPr lang="es-ES" sz="2000" dirty="0" err="1">
                <a:latin typeface="Candara" panose="020E0502030303020204" pitchFamily="34" charset="0"/>
              </a:rPr>
              <a:t>custom</a:t>
            </a:r>
            <a:r>
              <a:rPr lang="es-ES" sz="2000" dirty="0">
                <a:latin typeface="Candara" panose="020E0502030303020204" pitchFamily="34" charset="0"/>
              </a:rPr>
              <a:t> </a:t>
            </a:r>
            <a:r>
              <a:rPr lang="es-ES" sz="2000" dirty="0" err="1">
                <a:latin typeface="Candara" panose="020E0502030303020204" pitchFamily="34" charset="0"/>
              </a:rPr>
              <a:t>action</a:t>
            </a:r>
            <a:endParaRPr lang="es-ES" sz="2000" dirty="0">
              <a:latin typeface="Candara" panose="020E0502030303020204" pitchFamily="34" charset="0"/>
            </a:endParaRPr>
          </a:p>
          <a:p>
            <a:r>
              <a:rPr sz="2000" dirty="0" err="1">
                <a:latin typeface="Candara" panose="020E0502030303020204" pitchFamily="34" charset="0"/>
              </a:rPr>
              <a:t>Advertencias</a:t>
            </a:r>
            <a:r>
              <a:rPr sz="2000" dirty="0">
                <a:latin typeface="Candara" panose="020E0502030303020204" pitchFamily="34" charset="0"/>
              </a:rPr>
              <a:t> y </a:t>
            </a:r>
            <a:r>
              <a:rPr lang="es-ES" sz="2000" dirty="0">
                <a:latin typeface="Candara" panose="020E0502030303020204" pitchFamily="34" charset="0"/>
              </a:rPr>
              <a:t>trucos</a:t>
            </a:r>
            <a:endParaRPr sz="2000" dirty="0">
              <a:latin typeface="Candara" panose="020E0502030303020204" pitchFamily="34" charset="0"/>
            </a:endParaRPr>
          </a:p>
          <a:p>
            <a:r>
              <a:rPr lang="es-ES" sz="2000" dirty="0">
                <a:latin typeface="Candara" panose="020E0502030303020204" pitchFamily="34" charset="0"/>
              </a:rPr>
              <a:t>Poniendo todo en conjunto</a:t>
            </a:r>
            <a:endParaRPr sz="2000" dirty="0">
              <a:latin typeface="Candara" panose="020E0502030303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7172" y="1565512"/>
            <a:ext cx="2800350" cy="2282190"/>
            <a:chOff x="257172" y="1565512"/>
            <a:chExt cx="2800350" cy="228219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2" y="1565512"/>
              <a:ext cx="2800025" cy="22821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197" y="1746487"/>
              <a:ext cx="2399975" cy="18821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1" y="2206650"/>
            <a:ext cx="5257799" cy="701040"/>
          </a:xfrm>
          <a:custGeom>
            <a:avLst/>
            <a:gdLst/>
            <a:ahLst/>
            <a:cxnLst/>
            <a:rect l="l" t="t" r="r" b="b"/>
            <a:pathLst>
              <a:path w="4203065" h="701039">
                <a:moveTo>
                  <a:pt x="4202652" y="701039"/>
                </a:moveTo>
                <a:lnTo>
                  <a:pt x="0" y="701039"/>
                </a:lnTo>
                <a:lnTo>
                  <a:pt x="0" y="0"/>
                </a:lnTo>
                <a:lnTo>
                  <a:pt x="4202652" y="0"/>
                </a:lnTo>
                <a:lnTo>
                  <a:pt x="4202652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0" y="2235253"/>
            <a:ext cx="672020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¿</a:t>
            </a:r>
            <a:r>
              <a:rPr dirty="0" err="1">
                <a:latin typeface="Candara" panose="020E0502030303020204" pitchFamily="34" charset="0"/>
              </a:rPr>
              <a:t>Qué</a:t>
            </a:r>
            <a:r>
              <a:rPr dirty="0">
                <a:latin typeface="Candara" panose="020E0502030303020204" pitchFamily="34" charset="0"/>
              </a:rPr>
              <a:t> es GitHub Actions?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37230" y="11446"/>
            <a:ext cx="5906770" cy="5143500"/>
            <a:chOff x="3237675" y="0"/>
            <a:chExt cx="590677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2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5706299" y="0"/>
                  </a:lnTo>
                  <a:lnTo>
                    <a:pt x="57062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225394" cy="119583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dirty="0">
                <a:solidFill>
                  <a:schemeClr val="bg1"/>
                </a:solidFill>
                <a:latin typeface="Candara" panose="020E0502030303020204" pitchFamily="34" charset="0"/>
              </a:rPr>
              <a:t>GitHub Actions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42536" y="590550"/>
            <a:ext cx="449707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is a </a:t>
            </a:r>
            <a:r>
              <a:rPr dirty="0" err="1">
                <a:latin typeface="Candara" panose="020E0502030303020204" pitchFamily="34" charset="0"/>
              </a:rPr>
              <a:t>integración</a:t>
            </a:r>
            <a:r>
              <a:rPr dirty="0">
                <a:latin typeface="Candara" panose="020E0502030303020204" pitchFamily="34" charset="0"/>
              </a:rPr>
              <a:t> continua y </a:t>
            </a:r>
            <a:r>
              <a:rPr dirty="0" err="1">
                <a:latin typeface="Candara" panose="020E0502030303020204" pitchFamily="34" charset="0"/>
              </a:rPr>
              <a:t>entrega</a:t>
            </a:r>
            <a:r>
              <a:rPr dirty="0">
                <a:latin typeface="Candara" panose="020E0502030303020204" pitchFamily="34" charset="0"/>
              </a:rPr>
              <a:t> continua (CI/CD) </a:t>
            </a:r>
            <a:r>
              <a:rPr dirty="0" err="1">
                <a:latin typeface="Candara" panose="020E0502030303020204" pitchFamily="34" charset="0"/>
              </a:rPr>
              <a:t>plataforma</a:t>
            </a:r>
            <a:r>
              <a:rPr dirty="0">
                <a:latin typeface="Candara" panose="020E0502030303020204" pitchFamily="34" charset="0"/>
              </a:rPr>
              <a:t> that allows you a </a:t>
            </a:r>
            <a:r>
              <a:rPr dirty="0" err="1">
                <a:latin typeface="Candara" panose="020E0502030303020204" pitchFamily="34" charset="0"/>
              </a:rPr>
              <a:t>auamate</a:t>
            </a:r>
            <a:r>
              <a:rPr dirty="0">
                <a:latin typeface="Candara" panose="020E0502030303020204" pitchFamily="34" charset="0"/>
              </a:rPr>
              <a:t> </a:t>
            </a:r>
            <a:r>
              <a:rPr dirty="0" err="1">
                <a:latin typeface="Candara" panose="020E0502030303020204" pitchFamily="34" charset="0"/>
              </a:rPr>
              <a:t>tu</a:t>
            </a:r>
            <a:r>
              <a:rPr dirty="0">
                <a:latin typeface="Candara" panose="020E0502030303020204" pitchFamily="34" charset="0"/>
              </a:rPr>
              <a:t> </a:t>
            </a:r>
            <a:r>
              <a:rPr dirty="0" err="1">
                <a:latin typeface="Candara" panose="020E0502030303020204" pitchFamily="34" charset="0"/>
              </a:rPr>
              <a:t>compilación</a:t>
            </a:r>
            <a:r>
              <a:rPr dirty="0">
                <a:latin typeface="Candara" panose="020E0502030303020204" pitchFamily="34" charset="0"/>
              </a:rPr>
              <a:t>, </a:t>
            </a:r>
            <a:r>
              <a:rPr dirty="0" err="1">
                <a:latin typeface="Candara" panose="020E0502030303020204" pitchFamily="34" charset="0"/>
              </a:rPr>
              <a:t>prueba</a:t>
            </a:r>
            <a:r>
              <a:rPr dirty="0">
                <a:latin typeface="Candara" panose="020E0502030303020204" pitchFamily="34" charset="0"/>
              </a:rPr>
              <a:t>, y </a:t>
            </a:r>
            <a:r>
              <a:rPr dirty="0" err="1">
                <a:latin typeface="Candara" panose="020E0502030303020204" pitchFamily="34" charset="0"/>
              </a:rPr>
              <a:t>despliegue</a:t>
            </a:r>
            <a:r>
              <a:rPr dirty="0">
                <a:latin typeface="Candara" panose="020E0502030303020204" pitchFamily="34" charset="0"/>
              </a:rPr>
              <a:t> pipeline.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FDB36723-B811-C99A-4C1D-9ADB32F93C78}"/>
              </a:ext>
            </a:extLst>
          </p:cNvPr>
          <p:cNvSpPr txBox="1"/>
          <p:nvPr/>
        </p:nvSpPr>
        <p:spPr>
          <a:xfrm>
            <a:off x="4042091" y="2854285"/>
            <a:ext cx="449707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>
                <a:latin typeface="Candara" panose="020E0502030303020204" pitchFamily="34" charset="0"/>
              </a:rPr>
              <a:t>CI = Integración Continua: Cada vez que cambias algo en tu código, se revisa automáticamente.</a:t>
            </a:r>
          </a:p>
          <a:p>
            <a:r>
              <a:rPr lang="es-ES" dirty="0">
                <a:latin typeface="Candara" panose="020E0502030303020204" pitchFamily="34" charset="0"/>
              </a:rPr>
              <a:t>CD = Despliegue Continuo: Si todo está bien, el programa se publica o se entrega automáticamente.</a:t>
            </a:r>
            <a:endParaRPr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1966863"/>
            <a:ext cx="2971488" cy="597599"/>
            <a:chOff x="381312" y="2022162"/>
            <a:chExt cx="3618865" cy="671195"/>
          </a:xfrm>
        </p:grpSpPr>
        <p:sp>
          <p:nvSpPr>
            <p:cNvPr id="3" name="object 3"/>
            <p:cNvSpPr/>
            <p:nvPr/>
          </p:nvSpPr>
          <p:spPr>
            <a:xfrm>
              <a:off x="386075" y="2026924"/>
              <a:ext cx="3609340" cy="661670"/>
            </a:xfrm>
            <a:custGeom>
              <a:avLst/>
              <a:gdLst/>
              <a:ahLst/>
              <a:cxnLst/>
              <a:rect l="l" t="t" r="r" b="b"/>
              <a:pathLst>
                <a:path w="3609340" h="661669">
                  <a:moveTo>
                    <a:pt x="3609299" y="661199"/>
                  </a:moveTo>
                  <a:lnTo>
                    <a:pt x="0" y="661199"/>
                  </a:lnTo>
                  <a:lnTo>
                    <a:pt x="0" y="0"/>
                  </a:lnTo>
                  <a:lnTo>
                    <a:pt x="3609299" y="0"/>
                  </a:lnTo>
                  <a:lnTo>
                    <a:pt x="3609299" y="661199"/>
                  </a:lnTo>
                  <a:close/>
                </a:path>
              </a:pathLst>
            </a:custGeom>
            <a:solidFill>
              <a:srgbClr val="F4F1F3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86075" y="2026924"/>
              <a:ext cx="3609340" cy="661670"/>
            </a:xfrm>
            <a:custGeom>
              <a:avLst/>
              <a:gdLst/>
              <a:ahLst/>
              <a:cxnLst/>
              <a:rect l="l" t="t" r="r" b="b"/>
              <a:pathLst>
                <a:path w="3609340" h="661669">
                  <a:moveTo>
                    <a:pt x="0" y="0"/>
                  </a:moveTo>
                  <a:lnTo>
                    <a:pt x="3609299" y="0"/>
                  </a:lnTo>
                  <a:lnTo>
                    <a:pt x="3609299" y="661199"/>
                  </a:lnTo>
                  <a:lnTo>
                    <a:pt x="0" y="66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434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0600" y="1926732"/>
            <a:ext cx="73279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r>
              <a:rPr dirty="0">
                <a:latin typeface="Candara" panose="020E0502030303020204" pitchFamily="34" charset="0"/>
              </a:rPr>
              <a:t> </a:t>
            </a:r>
            <a:r>
              <a:rPr dirty="0">
                <a:solidFill>
                  <a:schemeClr val="bg1"/>
                </a:solidFill>
                <a:latin typeface="Candara" panose="020E0502030303020204" pitchFamily="34" charset="0"/>
              </a:rPr>
              <a:t>de the GitHub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0600" y="2631582"/>
            <a:ext cx="47053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>
                <a:latin typeface="Candara" panose="020E0502030303020204" pitchFamily="34" charset="0"/>
              </a:rPr>
              <a:t>Actions plataforma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4F7034-0528-8EBA-40D4-34CFCC56427A}"/>
              </a:ext>
            </a:extLst>
          </p:cNvPr>
          <p:cNvSpPr txBox="1"/>
          <p:nvPr/>
        </p:nvSpPr>
        <p:spPr>
          <a:xfrm>
            <a:off x="304800" y="2618088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800" b="1" dirty="0" err="1">
                <a:solidFill>
                  <a:srgbClr val="FFFFFF"/>
                </a:solidFill>
                <a:latin typeface="Candara" panose="020E0502030303020204" pitchFamily="34" charset="0"/>
                <a:cs typeface="Arial"/>
              </a:rPr>
              <a:t>Actions</a:t>
            </a:r>
            <a:r>
              <a:rPr lang="es-ES" sz="3800" b="1" spc="-229" dirty="0">
                <a:solidFill>
                  <a:srgbClr val="FFFFFF"/>
                </a:solidFill>
                <a:latin typeface="Candara" panose="020E0502030303020204" pitchFamily="34" charset="0"/>
                <a:cs typeface="Arial"/>
              </a:rPr>
              <a:t> </a:t>
            </a:r>
            <a:r>
              <a:rPr lang="es-ES" sz="3800" b="1" spc="-10" dirty="0" err="1">
                <a:solidFill>
                  <a:srgbClr val="FFFFFF"/>
                </a:solidFill>
                <a:latin typeface="Candara" panose="020E0502030303020204" pitchFamily="34" charset="0"/>
                <a:cs typeface="Arial"/>
              </a:rPr>
              <a:t>platform</a:t>
            </a:r>
            <a:endParaRPr lang="es-ES" sz="3800" dirty="0">
              <a:latin typeface="Candara" panose="020E0502030303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</a:t>
            </a:r>
            <a:r>
              <a:rPr lang="es-ES" dirty="0"/>
              <a:t> </a:t>
            </a:r>
            <a:r>
              <a:rPr lang="es-ES" dirty="0" err="1"/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0" y="438150"/>
            <a:ext cx="21336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800" dirty="0" err="1">
                <a:latin typeface="Candara" panose="020E0502030303020204" pitchFamily="34" charset="0"/>
              </a:rPr>
              <a:t>Componentes</a:t>
            </a:r>
            <a:endParaRPr sz="2800" dirty="0">
              <a:latin typeface="Candara" panose="020E0502030303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4198" y="1428750"/>
            <a:ext cx="3421104" cy="194796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Runners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Steps</a:t>
            </a:r>
          </a:p>
        </p:txBody>
      </p:sp>
      <p:pic>
        <p:nvPicPr>
          <p:cNvPr id="1026" name="Picture 2" descr="Qué es GitHub y por qué es útil en la actualidad 💻 | HACK A BOSS">
            <a:extLst>
              <a:ext uri="{FF2B5EF4-FFF2-40B4-BE49-F238E27FC236}">
                <a16:creationId xmlns:a16="http://schemas.microsoft.com/office/drawing/2014/main" id="{4AB8F57C-2AE6-A028-5CD5-DA03759F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89" y="2614752"/>
            <a:ext cx="2638425" cy="175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74" y="768062"/>
            <a:ext cx="7585425" cy="394851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sz="3200" dirty="0">
                <a:latin typeface="Candara" panose="020E0502030303020204" pitchFamily="34" charset="0"/>
              </a:rPr>
              <a:t>Se configura un </a:t>
            </a:r>
            <a:r>
              <a:rPr lang="es-ES" sz="3200" b="1" i="1" dirty="0" err="1">
                <a:latin typeface="Candara" panose="020E0502030303020204" pitchFamily="34" charset="0"/>
              </a:rPr>
              <a:t>workflow</a:t>
            </a:r>
            <a:r>
              <a:rPr lang="es-ES" sz="3200" dirty="0">
                <a:latin typeface="Candara" panose="020E0502030303020204" pitchFamily="34" charset="0"/>
              </a:rPr>
              <a:t> de GitHub </a:t>
            </a:r>
            <a:r>
              <a:rPr lang="es-ES" sz="3200" dirty="0" err="1">
                <a:latin typeface="Candara" panose="020E0502030303020204" pitchFamily="34" charset="0"/>
              </a:rPr>
              <a:t>Actions</a:t>
            </a:r>
            <a:r>
              <a:rPr lang="es-ES" sz="3200" dirty="0">
                <a:latin typeface="Candara" panose="020E0502030303020204" pitchFamily="34" charset="0"/>
              </a:rPr>
              <a:t> para que se active cuando se produce un </a:t>
            </a:r>
            <a:r>
              <a:rPr lang="es-ES" sz="3200" b="1" i="1" dirty="0">
                <a:latin typeface="Candara" panose="020E0502030303020204" pitchFamily="34" charset="0"/>
              </a:rPr>
              <a:t>evento</a:t>
            </a:r>
            <a:r>
              <a:rPr lang="es-ES" sz="3200" dirty="0">
                <a:latin typeface="Candara" panose="020E0502030303020204" pitchFamily="34" charset="0"/>
              </a:rPr>
              <a:t> que, a continuación, ejecuta una serie de </a:t>
            </a:r>
            <a:r>
              <a:rPr lang="es-ES" sz="3200" b="1" i="1" dirty="0" err="1">
                <a:latin typeface="Candara" panose="020E0502030303020204" pitchFamily="34" charset="0"/>
              </a:rPr>
              <a:t>jobs</a:t>
            </a:r>
            <a:r>
              <a:rPr lang="es-ES" sz="3200" dirty="0">
                <a:latin typeface="Candara" panose="020E0502030303020204" pitchFamily="34" charset="0"/>
              </a:rPr>
              <a:t> en un </a:t>
            </a:r>
            <a:r>
              <a:rPr lang="es-ES" sz="3200" b="1" i="1" dirty="0">
                <a:latin typeface="Candara" panose="020E0502030303020204" pitchFamily="34" charset="0"/>
              </a:rPr>
              <a:t>runner</a:t>
            </a:r>
            <a:r>
              <a:rPr lang="es-ES" sz="3200" dirty="0">
                <a:latin typeface="Candara" panose="020E0502030303020204" pitchFamily="34" charset="0"/>
              </a:rPr>
              <a:t> que incluyen uno o varios </a:t>
            </a:r>
            <a:r>
              <a:rPr lang="es-ES" sz="3200" b="1" i="1" dirty="0" err="1">
                <a:latin typeface="Candara" panose="020E0502030303020204" pitchFamily="34" charset="0"/>
              </a:rPr>
              <a:t>steps</a:t>
            </a:r>
            <a:r>
              <a:rPr lang="es-ES" sz="3200" dirty="0">
                <a:latin typeface="Candara" panose="020E0502030303020204" pitchFamily="34" charset="0"/>
              </a:rPr>
              <a:t> que llaman a uno o varios scripts o una o varias </a:t>
            </a:r>
            <a:r>
              <a:rPr lang="es-ES" sz="3200" b="1" i="1" dirty="0">
                <a:latin typeface="Candara" panose="020E0502030303020204" pitchFamily="34" charset="0"/>
              </a:rPr>
              <a:t>acciones.</a:t>
            </a:r>
          </a:p>
          <a:p>
            <a:br>
              <a:rPr lang="es-ES" sz="3200" dirty="0">
                <a:latin typeface="Candara" panose="020E0502030303020204" pitchFamily="34" charset="0"/>
              </a:rPr>
            </a:br>
            <a:endParaRPr lang="es-ES" sz="32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1601" y="2050132"/>
            <a:ext cx="3276600" cy="701040"/>
          </a:xfrm>
          <a:custGeom>
            <a:avLst/>
            <a:gdLst/>
            <a:ahLst/>
            <a:cxnLst/>
            <a:rect l="l" t="t" r="r" b="b"/>
            <a:pathLst>
              <a:path w="3409315" h="701039">
                <a:moveTo>
                  <a:pt x="3409088" y="701039"/>
                </a:moveTo>
                <a:lnTo>
                  <a:pt x="0" y="701039"/>
                </a:lnTo>
                <a:lnTo>
                  <a:pt x="0" y="0"/>
                </a:lnTo>
                <a:lnTo>
                  <a:pt x="3409088" y="0"/>
                </a:lnTo>
                <a:lnTo>
                  <a:pt x="3409088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0600" y="2050132"/>
            <a:ext cx="463613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Los</a:t>
            </a:r>
            <a:r>
              <a:rPr dirty="0"/>
              <a:t> component</a:t>
            </a:r>
            <a:r>
              <a:rPr lang="es-ES" dirty="0"/>
              <a:t>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1100" y="2948333"/>
            <a:ext cx="3417799" cy="36933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sz="2400" dirty="0">
                <a:latin typeface="Candara" panose="020E0502030303020204" pitchFamily="34" charset="0"/>
              </a:rPr>
              <a:t>.</a:t>
            </a:r>
            <a:r>
              <a:rPr sz="2400" dirty="0" err="1">
                <a:latin typeface="Candara" panose="020E0502030303020204" pitchFamily="34" charset="0"/>
              </a:rPr>
              <a:t>github</a:t>
            </a:r>
            <a:r>
              <a:rPr sz="2400" dirty="0">
                <a:latin typeface="Candara" panose="020E0502030303020204" pitchFamily="34" charset="0"/>
              </a:rPr>
              <a:t>/</a:t>
            </a:r>
            <a:r>
              <a:rPr lang="es-ES" sz="2400" dirty="0" err="1">
                <a:latin typeface="Candara" panose="020E0502030303020204" pitchFamily="34" charset="0"/>
              </a:rPr>
              <a:t>workflows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41100" y="3310753"/>
            <a:ext cx="5094199" cy="163057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r>
              <a:rPr sz="2400" dirty="0">
                <a:latin typeface="Candara" panose="020E0502030303020204" pitchFamily="34" charset="0"/>
              </a:rPr>
              <a:t>+</a:t>
            </a:r>
            <a:r>
              <a:rPr lang="es-ES" sz="2400" dirty="0">
                <a:latin typeface="Candara" panose="020E0502030303020204" pitchFamily="34" charset="0"/>
              </a:rPr>
              <a:t> Un repositorio puede tener múltiples </a:t>
            </a:r>
            <a:r>
              <a:rPr lang="es-ES" sz="2400" dirty="0" err="1">
                <a:latin typeface="Candara" panose="020E0502030303020204" pitchFamily="34" charset="0"/>
              </a:rPr>
              <a:t>workflows</a:t>
            </a:r>
            <a:r>
              <a:rPr lang="es-ES" sz="2400" dirty="0">
                <a:latin typeface="Candara" panose="020E0502030303020204" pitchFamily="34" charset="0"/>
              </a:rPr>
              <a:t>, cada uno de los cuales puede realizar un conjunto diferente de tareas.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1100" y="973848"/>
            <a:ext cx="52505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latin typeface="Candara" panose="020E0502030303020204" pitchFamily="34" charset="0"/>
              </a:rPr>
              <a:t>+ Un proceso automatizado configurable que ejecutará uno o más trabajos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+Definido en el directorio del repositorio: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A1099DE-563A-B295-9E84-3CCA8C9F2933}"/>
              </a:ext>
            </a:extLst>
          </p:cNvPr>
          <p:cNvSpPr txBox="1"/>
          <p:nvPr/>
        </p:nvSpPr>
        <p:spPr>
          <a:xfrm>
            <a:off x="3741100" y="204038"/>
            <a:ext cx="4576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3200" b="1" dirty="0" err="1"/>
              <a:t>Workflow</a:t>
            </a:r>
            <a:endParaRPr lang="es-ES_tradnl" sz="3200" b="1" dirty="0"/>
          </a:p>
        </p:txBody>
      </p:sp>
      <p:pic>
        <p:nvPicPr>
          <p:cNvPr id="3074" name="Picture 2" descr="Workflow - Free seo and web icons">
            <a:extLst>
              <a:ext uri="{FF2B5EF4-FFF2-40B4-BE49-F238E27FC236}">
                <a16:creationId xmlns:a16="http://schemas.microsoft.com/office/drawing/2014/main" id="{12701F29-CD37-632D-F410-118747CF1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027" y="2948333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5076190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Event</a:t>
            </a:r>
            <a:endParaRPr lang="es-ES" sz="3200" b="1" dirty="0">
              <a:latin typeface="Candara" panose="020E0502030303020204" pitchFamily="34" charset="0"/>
            </a:endParaRPr>
          </a:p>
          <a:p>
            <a:endParaRPr lang="es-ES" sz="2400" b="1" dirty="0"/>
          </a:p>
          <a:p>
            <a:r>
              <a:rPr lang="es-ES" sz="2400" dirty="0">
                <a:latin typeface="Candara" panose="020E0502030303020204" pitchFamily="34" charset="0"/>
              </a:rPr>
              <a:t>+  Actividad específica que se produce en el repositorio y que puede utilizarse como </a:t>
            </a:r>
            <a:r>
              <a:rPr lang="es-ES" sz="2400" dirty="0" err="1">
                <a:latin typeface="Candara" panose="020E0502030303020204" pitchFamily="34" charset="0"/>
              </a:rPr>
              <a:t>trigger</a:t>
            </a:r>
            <a:r>
              <a:rPr lang="es-ES" sz="2400" dirty="0">
                <a:latin typeface="Candara" panose="020E0502030303020204" pitchFamily="34" charset="0"/>
              </a:rPr>
              <a:t> de 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   A veces se denomina «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 </a:t>
            </a:r>
            <a:r>
              <a:rPr lang="es-ES" sz="2400" dirty="0" err="1">
                <a:latin typeface="Candara" panose="020E0502030303020204" pitchFamily="34" charset="0"/>
              </a:rPr>
              <a:t>triggers</a:t>
            </a:r>
            <a:r>
              <a:rPr lang="es-ES" sz="2400" dirty="0">
                <a:latin typeface="Candara" panose="020E0502030303020204" pitchFamily="34" charset="0"/>
              </a:rPr>
              <a:t>».</a:t>
            </a:r>
          </a:p>
          <a:p>
            <a:r>
              <a:rPr lang="es-ES" sz="2400" dirty="0">
                <a:latin typeface="Candara" panose="020E0502030303020204" pitchFamily="34" charset="0"/>
                <a:hlinkClick r:id="rId2"/>
              </a:rPr>
              <a:t>+    Eventos que desencadenan workflows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D3C126E9-E9A4-3894-3EFA-B89CA037D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7B2C860D-18BC-3D46-CDB3-08A6D440829E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4098" name="Picture 2" descr="Start workflow Vector Icons free download in SVG, PNG Format">
            <a:extLst>
              <a:ext uri="{FF2B5EF4-FFF2-40B4-BE49-F238E27FC236}">
                <a16:creationId xmlns:a16="http://schemas.microsoft.com/office/drawing/2014/main" id="{A6524CF5-6EF9-987C-B006-B09A29255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27" y="3105150"/>
            <a:ext cx="13525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5149215" cy="3767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Runner</a:t>
            </a:r>
            <a:endParaRPr lang="es-ES" sz="3200" b="1" dirty="0">
              <a:latin typeface="Candara" panose="020E0502030303020204" pitchFamily="34" charset="0"/>
            </a:endParaRPr>
          </a:p>
          <a:p>
            <a:endParaRPr sz="3200" b="1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Una instancia de servidor virtual que ejecuta los trabajos en tu flujo de trabajo cuando se activa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Proporcionado por GitHub y </a:t>
            </a:r>
            <a:r>
              <a:rPr lang="es-ES" sz="2400" dirty="0" err="1">
                <a:latin typeface="Candara" panose="020E0502030303020204" pitchFamily="34" charset="0"/>
              </a:rPr>
              <a:t>autohosteado</a:t>
            </a:r>
            <a:endParaRPr lang="es-ES" sz="2400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Windows, Ubuntu y MacOS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4EBD403-0D5C-7D6F-B381-5E919F571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D245A2CB-14CC-46D1-61C2-6022C37A8946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5122" name="Picture 2" descr="207.700+ Computer Logo Ilustraciones de Stock, gráficos vectoriales libres  de derechos y clip art - iStock | Computer icon">
            <a:extLst>
              <a:ext uri="{FF2B5EF4-FFF2-40B4-BE49-F238E27FC236}">
                <a16:creationId xmlns:a16="http://schemas.microsoft.com/office/drawing/2014/main" id="{81696F15-7C72-EABF-D629-911DDD94C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27" y="2800350"/>
            <a:ext cx="18097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3821200" y="516001"/>
            <a:ext cx="5095875" cy="54912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Job</a:t>
            </a:r>
          </a:p>
          <a:p>
            <a:endParaRPr lang="es-ES" dirty="0"/>
          </a:p>
          <a:p>
            <a:r>
              <a:rPr lang="es-ES" sz="2400" dirty="0">
                <a:latin typeface="Candara" panose="020E0502030303020204" pitchFamily="34" charset="0"/>
              </a:rPr>
              <a:t>+ Serie de </a:t>
            </a:r>
            <a:r>
              <a:rPr lang="es-ES" sz="2400" dirty="0" err="1">
                <a:latin typeface="Candara" panose="020E0502030303020204" pitchFamily="34" charset="0"/>
              </a:rPr>
              <a:t>steps</a:t>
            </a:r>
            <a:r>
              <a:rPr lang="es-ES" sz="2400" dirty="0">
                <a:latin typeface="Candara" panose="020E0502030303020204" pitchFamily="34" charset="0"/>
              </a:rPr>
              <a:t> en un 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 que se ejecutan en el mismo ejecutor.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Cada </a:t>
            </a:r>
            <a:r>
              <a:rPr lang="es-ES" sz="2400" dirty="0" err="1">
                <a:latin typeface="Candara" panose="020E0502030303020204" pitchFamily="34" charset="0"/>
              </a:rPr>
              <a:t>job</a:t>
            </a:r>
            <a:r>
              <a:rPr lang="es-ES" sz="2400" dirty="0">
                <a:latin typeface="Candara" panose="020E0502030303020204" pitchFamily="34" charset="0"/>
              </a:rPr>
              <a:t> se ejecuta en un entorno de ejecutor especificado por su propiedad</a:t>
            </a:r>
          </a:p>
          <a:p>
            <a:r>
              <a:rPr lang="es-ES" sz="2400" dirty="0">
                <a:latin typeface="Candara" panose="020E0502030303020204" pitchFamily="34" charset="0"/>
              </a:rPr>
              <a:t> 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Los </a:t>
            </a:r>
            <a:r>
              <a:rPr lang="es-ES" sz="2400" dirty="0" err="1">
                <a:latin typeface="Candara" panose="020E0502030303020204" pitchFamily="34" charset="0"/>
              </a:rPr>
              <a:t>jobs</a:t>
            </a:r>
            <a:r>
              <a:rPr lang="es-ES" sz="2400" dirty="0">
                <a:latin typeface="Candara" panose="020E0502030303020204" pitchFamily="34" charset="0"/>
              </a:rPr>
              <a:t> se ejecutan en paralelo de forma predeterminada.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Un 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 puede ejecutar un número ilimitado* de </a:t>
            </a:r>
            <a:r>
              <a:rPr lang="es-ES" sz="2400" dirty="0" err="1">
                <a:latin typeface="Candara" panose="020E0502030303020204" pitchFamily="34" charset="0"/>
              </a:rPr>
              <a:t>jobs</a:t>
            </a:r>
            <a:r>
              <a:rPr lang="es-ES" sz="2400" dirty="0">
                <a:latin typeface="Candara" panose="020E0502030303020204" pitchFamily="34" charset="0"/>
              </a:rPr>
              <a:t>.</a:t>
            </a:r>
          </a:p>
          <a:p>
            <a:br>
              <a:rPr lang="es-ES" dirty="0"/>
            </a:br>
            <a:endParaRPr lang="es-ES" dirty="0"/>
          </a:p>
          <a:p>
            <a:br>
              <a:rPr lang="es-ES" dirty="0"/>
            </a:br>
            <a:endParaRPr lang="es-ES" dirty="0"/>
          </a:p>
          <a:p>
            <a:endParaRPr lang="es-ES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243FB8B-7B61-9840-CB0D-56DABFD507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3460D92-41C2-B8E0-6575-3EB96FE7DBB3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08334364-80C4-A008-7700-531761364384}"/>
              </a:ext>
            </a:extLst>
          </p:cNvPr>
          <p:cNvSpPr txBox="1"/>
          <p:nvPr/>
        </p:nvSpPr>
        <p:spPr>
          <a:xfrm>
            <a:off x="3821200" y="2800350"/>
            <a:ext cx="1280795" cy="3657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spc="-10" dirty="0">
                <a:solidFill>
                  <a:srgbClr val="444344"/>
                </a:solidFill>
                <a:latin typeface="Courier New"/>
                <a:cs typeface="Courier New"/>
              </a:rPr>
              <a:t>runs-</a:t>
            </a:r>
            <a:r>
              <a:rPr sz="2400" spc="-25" dirty="0">
                <a:solidFill>
                  <a:srgbClr val="444344"/>
                </a:solidFill>
                <a:latin typeface="Courier New"/>
                <a:cs typeface="Courier New"/>
              </a:rPr>
              <a:t>on</a:t>
            </a:r>
            <a:endParaRPr sz="2400" dirty="0">
              <a:latin typeface="Courier New"/>
              <a:cs typeface="Courier New"/>
            </a:endParaRPr>
          </a:p>
        </p:txBody>
      </p:sp>
      <p:pic>
        <p:nvPicPr>
          <p:cNvPr id="6146" name="Picture 2" descr="Workflow - Free professions and jobs icons">
            <a:extLst>
              <a:ext uri="{FF2B5EF4-FFF2-40B4-BE49-F238E27FC236}">
                <a16:creationId xmlns:a16="http://schemas.microsoft.com/office/drawing/2014/main" id="{EC2E856C-0C8A-CEE1-4371-C56A89038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27" y="3020824"/>
            <a:ext cx="173355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4913630" cy="35830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Steps</a:t>
            </a:r>
            <a:endParaRPr lang="es-ES" sz="3200" b="1" dirty="0">
              <a:latin typeface="Candara" panose="020E0502030303020204" pitchFamily="34" charset="0"/>
            </a:endParaRPr>
          </a:p>
          <a:p>
            <a:endParaRPr sz="3200" b="1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Ya sea un script de </a:t>
            </a:r>
            <a:r>
              <a:rPr lang="es-ES" sz="2400" dirty="0" err="1">
                <a:latin typeface="Candara" panose="020E0502030303020204" pitchFamily="34" charset="0"/>
              </a:rPr>
              <a:t>shell</a:t>
            </a:r>
            <a:r>
              <a:rPr lang="es-ES" sz="2400" dirty="0">
                <a:latin typeface="Candara" panose="020E0502030303020204" pitchFamily="34" charset="0"/>
              </a:rPr>
              <a:t> que se ejecutará o una acción que se llevará a cabo.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Se ejecutan en orden y dependen unos de otros.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Todos los pasos de un trabajo se ejecutan en el mismo ejecutor.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02DABBB-9299-839F-BAFF-1C3E5CF470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97BE841-6420-7B33-9797-C543F6D64DAB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7170" name="Picture 2" descr="Workflow process icon simple thin outline | Premium Vector">
            <a:extLst>
              <a:ext uri="{FF2B5EF4-FFF2-40B4-BE49-F238E27FC236}">
                <a16:creationId xmlns:a16="http://schemas.microsoft.com/office/drawing/2014/main" id="{9C3E7AC2-90B9-917E-A6CC-7501A0F86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27" y="2800350"/>
            <a:ext cx="1820950" cy="182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5179695" cy="3767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3200" b="1" dirty="0">
                <a:latin typeface="Candara" panose="020E0502030303020204" pitchFamily="34" charset="0"/>
              </a:rPr>
              <a:t>Action</a:t>
            </a:r>
          </a:p>
          <a:p>
            <a:endParaRPr lang="es-ES" sz="3200" b="1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Un script o pieza de automatización autónomo, modular y compartible que realiza una tarea específica.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Se puede encadenar en un flujo de trabajo para realizar tareas de automatización complejas.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B8399D0-C586-452B-7EAE-CF4970C65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7030599-632A-C70A-887A-801EED233DD3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8198" name="Picture 6" descr="Workflow process icon | Premium Vector">
            <a:extLst>
              <a:ext uri="{FF2B5EF4-FFF2-40B4-BE49-F238E27FC236}">
                <a16:creationId xmlns:a16="http://schemas.microsoft.com/office/drawing/2014/main" id="{2A5E2AB1-71A0-FCF9-E0E4-2B8ECAAE9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192145"/>
            <a:ext cx="2222500" cy="111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933F96-20ED-1CB6-1515-7CEADDD93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0" y="168893"/>
            <a:ext cx="5105400" cy="4909036"/>
          </a:xfrm>
        </p:spPr>
        <p:txBody>
          <a:bodyPr/>
          <a:lstStyle/>
          <a:p>
            <a:r>
              <a:rPr lang="es-ES" sz="1400" b="0" dirty="0">
                <a:latin typeface="Candara" panose="020E0502030303020204" pitchFamily="34" charset="0"/>
              </a:rPr>
              <a:t>Piensa en GitHub </a:t>
            </a:r>
            <a:r>
              <a:rPr lang="es-ES" sz="1400" b="0" dirty="0" err="1">
                <a:latin typeface="Candara" panose="020E0502030303020204" pitchFamily="34" charset="0"/>
              </a:rPr>
              <a:t>Actions</a:t>
            </a:r>
            <a:r>
              <a:rPr lang="es-ES" sz="1400" b="0" dirty="0">
                <a:latin typeface="Candara" panose="020E0502030303020204" pitchFamily="34" charset="0"/>
              </a:rPr>
              <a:t> como una cadena de trabajo automática:</a:t>
            </a:r>
          </a:p>
          <a:p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Evento (</a:t>
            </a:r>
            <a:r>
              <a:rPr lang="es-ES" sz="1400" b="0" i="1" u="sng" dirty="0" err="1">
                <a:latin typeface="Candara" panose="020E0502030303020204" pitchFamily="34" charset="0"/>
              </a:rPr>
              <a:t>Event</a:t>
            </a:r>
            <a:r>
              <a:rPr lang="es-ES" sz="1400" b="0" i="1" u="sng" dirty="0">
                <a:latin typeface="Candara" panose="020E0502030303020204" pitchFamily="34" charset="0"/>
              </a:rPr>
              <a:t>)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Algo ocurre en el repositorio. Ejemplo: subes código o pulsas un botón.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 err="1">
                <a:latin typeface="Candara" panose="020E0502030303020204" pitchFamily="34" charset="0"/>
              </a:rPr>
              <a:t>Workflow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Es el proceso automático que se activa cuando ocurre ese evento.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Jobs</a:t>
            </a:r>
            <a:br>
              <a:rPr lang="es-ES" sz="1400" b="0" i="1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Son las tareas grandes dentro del </a:t>
            </a:r>
            <a:r>
              <a:rPr lang="es-ES" sz="1400" b="0" dirty="0" err="1">
                <a:latin typeface="Candara" panose="020E0502030303020204" pitchFamily="34" charset="0"/>
              </a:rPr>
              <a:t>workflow</a:t>
            </a:r>
            <a:r>
              <a:rPr lang="es-ES" sz="1400" b="0" dirty="0">
                <a:latin typeface="Candara" panose="020E0502030303020204" pitchFamily="34" charset="0"/>
              </a:rPr>
              <a:t>.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Cada </a:t>
            </a:r>
            <a:r>
              <a:rPr lang="es-ES" sz="1400" b="0" dirty="0" err="1">
                <a:latin typeface="Candara" panose="020E0502030303020204" pitchFamily="34" charset="0"/>
              </a:rPr>
              <a:t>job</a:t>
            </a:r>
            <a:r>
              <a:rPr lang="es-ES" sz="1400" b="0" dirty="0">
                <a:latin typeface="Candara" panose="020E0502030303020204" pitchFamily="34" charset="0"/>
              </a:rPr>
              <a:t> hace una parte del trabajo.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Runner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Es la maquina/ordenador donde se ejecuta cada </a:t>
            </a:r>
            <a:r>
              <a:rPr lang="es-ES" sz="1400" b="0" dirty="0" err="1">
                <a:latin typeface="Candara" panose="020E0502030303020204" pitchFamily="34" charset="0"/>
              </a:rPr>
              <a:t>job</a:t>
            </a:r>
            <a:r>
              <a:rPr lang="es-ES" sz="1400" b="0" dirty="0">
                <a:latin typeface="Candara" panose="020E0502030303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 err="1">
                <a:latin typeface="Candara" panose="020E0502030303020204" pitchFamily="34" charset="0"/>
              </a:rPr>
              <a:t>Steps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Son los pasos pequeños dentro de un </a:t>
            </a:r>
            <a:r>
              <a:rPr lang="es-ES" sz="1400" b="0" dirty="0" err="1">
                <a:latin typeface="Candara" panose="020E0502030303020204" pitchFamily="34" charset="0"/>
              </a:rPr>
              <a:t>job</a:t>
            </a:r>
            <a:r>
              <a:rPr lang="es-ES" sz="1400" b="0" dirty="0">
                <a:latin typeface="Candara" panose="020E0502030303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Action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Es una tarea ya preparada que puedes usar en un step para no tener que programarlo todo desde cero.</a:t>
            </a:r>
          </a:p>
          <a:p>
            <a:endParaRPr lang="es-ES_tradnl" sz="1100" b="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8726CF60-0D1C-5B86-9344-D07114D47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0C6F0EE-F17B-C7D2-0383-693A5C641B5D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CEDBD2D-D680-DF84-ACA9-2C3F6660762E}"/>
              </a:ext>
            </a:extLst>
          </p:cNvPr>
          <p:cNvSpPr txBox="1"/>
          <p:nvPr/>
        </p:nvSpPr>
        <p:spPr>
          <a:xfrm>
            <a:off x="290150" y="2893098"/>
            <a:ext cx="16129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1" dirty="0">
                <a:latin typeface="Candara" panose="020E0502030303020204" pitchFamily="34" charset="0"/>
              </a:rPr>
              <a:t>Resumen</a:t>
            </a:r>
            <a:endParaRPr sz="2400" b="1" dirty="0">
              <a:latin typeface="Candara" panose="020E0502030303020204" pitchFamily="34" charset="0"/>
            </a:endParaRPr>
          </a:p>
        </p:txBody>
      </p:sp>
      <p:pic>
        <p:nvPicPr>
          <p:cNvPr id="2050" name="Picture 2" descr="Resumen - Iconos gratis de archivos y carpetas">
            <a:extLst>
              <a:ext uri="{FF2B5EF4-FFF2-40B4-BE49-F238E27FC236}">
                <a16:creationId xmlns:a16="http://schemas.microsoft.com/office/drawing/2014/main" id="{47B8CFFA-81A1-1203-D8D3-C26F9E992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129" y="2876745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092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6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37675" y="0"/>
            <a:ext cx="5906770" cy="5143500"/>
            <a:chOff x="3237675" y="0"/>
            <a:chExt cx="5906770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3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5706300" y="5143500"/>
                  </a:lnTo>
                  <a:lnTo>
                    <a:pt x="5706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597400" cy="119583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Our First Workflow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6225" y="1660397"/>
            <a:ext cx="1551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Must contain: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0271" y="1943808"/>
            <a:ext cx="1073150" cy="11689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Event</a:t>
            </a:r>
          </a:p>
          <a:p>
            <a:r>
              <a:rPr dirty="0">
                <a:latin typeface="Candara" panose="020E0502030303020204" pitchFamily="34" charset="0"/>
              </a:rPr>
              <a:t>Job</a:t>
            </a:r>
          </a:p>
          <a:p>
            <a:r>
              <a:rPr dirty="0">
                <a:latin typeface="Candara" panose="020E0502030303020204" pitchFamily="34" charset="0"/>
              </a:rPr>
              <a:t>Runner</a:t>
            </a:r>
          </a:p>
          <a:p>
            <a:r>
              <a:rPr dirty="0">
                <a:latin typeface="Candara" panose="020E0502030303020204" pitchFamily="34" charset="0"/>
              </a:rPr>
              <a:t>Step</a:t>
            </a:r>
          </a:p>
        </p:txBody>
      </p:sp>
      <p:sp>
        <p:nvSpPr>
          <p:cNvPr id="10" name="object 10"/>
          <p:cNvSpPr/>
          <p:nvPr/>
        </p:nvSpPr>
        <p:spPr>
          <a:xfrm>
            <a:off x="3607866" y="2680525"/>
            <a:ext cx="5121910" cy="1280160"/>
          </a:xfrm>
          <a:custGeom>
            <a:avLst/>
            <a:gdLst/>
            <a:ahLst/>
            <a:cxnLst/>
            <a:rect l="l" t="t" r="r" b="b"/>
            <a:pathLst>
              <a:path w="5121909" h="1280160">
                <a:moveTo>
                  <a:pt x="5121478" y="960120"/>
                </a:moveTo>
                <a:lnTo>
                  <a:pt x="1600466" y="960120"/>
                </a:lnTo>
                <a:lnTo>
                  <a:pt x="1600466" y="640080"/>
                </a:lnTo>
                <a:lnTo>
                  <a:pt x="4161193" y="640080"/>
                </a:lnTo>
                <a:lnTo>
                  <a:pt x="4161193" y="320040"/>
                </a:lnTo>
                <a:lnTo>
                  <a:pt x="1920557" y="320040"/>
                </a:lnTo>
                <a:lnTo>
                  <a:pt x="1920557" y="0"/>
                </a:lnTo>
                <a:lnTo>
                  <a:pt x="0" y="0"/>
                </a:lnTo>
                <a:lnTo>
                  <a:pt x="0" y="320040"/>
                </a:lnTo>
                <a:lnTo>
                  <a:pt x="0" y="640080"/>
                </a:lnTo>
                <a:lnTo>
                  <a:pt x="0" y="960120"/>
                </a:lnTo>
                <a:lnTo>
                  <a:pt x="0" y="1280160"/>
                </a:lnTo>
                <a:lnTo>
                  <a:pt x="5121478" y="1280160"/>
                </a:lnTo>
                <a:lnTo>
                  <a:pt x="5121478" y="9601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pic>
        <p:nvPicPr>
          <p:cNvPr id="17" name="Imagen 1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A3BF9A2-99E3-9C3B-073E-2D641FAD6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445" y="947085"/>
            <a:ext cx="4937331" cy="301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42DF28-02B3-7CAC-1B1D-E0EC29B1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3F7BD6-33F1-0DC3-2CA9-B1311F177848}"/>
              </a:ext>
            </a:extLst>
          </p:cNvPr>
          <p:cNvSpPr/>
          <p:nvPr/>
        </p:nvSpPr>
        <p:spPr>
          <a:xfrm>
            <a:off x="0" y="506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1ED0B02-DE9D-BB3D-0E65-FF634DD88114}"/>
              </a:ext>
            </a:extLst>
          </p:cNvPr>
          <p:cNvGrpSpPr/>
          <p:nvPr/>
        </p:nvGrpSpPr>
        <p:grpSpPr>
          <a:xfrm>
            <a:off x="3237230" y="108775"/>
            <a:ext cx="5906770" cy="5143500"/>
            <a:chOff x="3237675" y="0"/>
            <a:chExt cx="5906770" cy="51435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E820E66-1DDE-5328-0F1E-8F42BBF78E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2F3912F-94A8-9F2B-ED34-9EA209E486F9}"/>
                </a:ext>
              </a:extLst>
            </p:cNvPr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3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5706300" y="5143500"/>
                  </a:lnTo>
                  <a:lnTo>
                    <a:pt x="5706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EC27FA0-B448-9F98-9FAB-CDC00326B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597400" cy="119583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Our First Workflow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154E48F-E5D6-222C-272D-A8ECF1AF5678}"/>
              </a:ext>
            </a:extLst>
          </p:cNvPr>
          <p:cNvSpPr txBox="1"/>
          <p:nvPr/>
        </p:nvSpPr>
        <p:spPr>
          <a:xfrm>
            <a:off x="476225" y="1660397"/>
            <a:ext cx="1551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Must contain: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119E6CB-642C-CE8D-E726-8747B9ABBFF9}"/>
              </a:ext>
            </a:extLst>
          </p:cNvPr>
          <p:cNvSpPr txBox="1"/>
          <p:nvPr/>
        </p:nvSpPr>
        <p:spPr>
          <a:xfrm>
            <a:off x="480271" y="1943808"/>
            <a:ext cx="1073150" cy="11689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Event</a:t>
            </a:r>
          </a:p>
          <a:p>
            <a:r>
              <a:rPr dirty="0">
                <a:latin typeface="Candara" panose="020E0502030303020204" pitchFamily="34" charset="0"/>
              </a:rPr>
              <a:t>Job</a:t>
            </a:r>
          </a:p>
          <a:p>
            <a:r>
              <a:rPr dirty="0">
                <a:latin typeface="Candara" panose="020E0502030303020204" pitchFamily="34" charset="0"/>
              </a:rPr>
              <a:t>Runner</a:t>
            </a:r>
          </a:p>
          <a:p>
            <a:r>
              <a:rPr dirty="0">
                <a:latin typeface="Candara" panose="020E0502030303020204" pitchFamily="34" charset="0"/>
              </a:rPr>
              <a:t>Step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308DA38-2DF9-9F0F-07A2-11F684E20AE4}"/>
              </a:ext>
            </a:extLst>
          </p:cNvPr>
          <p:cNvSpPr/>
          <p:nvPr/>
        </p:nvSpPr>
        <p:spPr>
          <a:xfrm>
            <a:off x="3607866" y="2680525"/>
            <a:ext cx="5121910" cy="1280160"/>
          </a:xfrm>
          <a:custGeom>
            <a:avLst/>
            <a:gdLst/>
            <a:ahLst/>
            <a:cxnLst/>
            <a:rect l="l" t="t" r="r" b="b"/>
            <a:pathLst>
              <a:path w="5121909" h="1280160">
                <a:moveTo>
                  <a:pt x="5121478" y="960120"/>
                </a:moveTo>
                <a:lnTo>
                  <a:pt x="1600466" y="960120"/>
                </a:lnTo>
                <a:lnTo>
                  <a:pt x="1600466" y="640080"/>
                </a:lnTo>
                <a:lnTo>
                  <a:pt x="4161193" y="640080"/>
                </a:lnTo>
                <a:lnTo>
                  <a:pt x="4161193" y="320040"/>
                </a:lnTo>
                <a:lnTo>
                  <a:pt x="1920557" y="320040"/>
                </a:lnTo>
                <a:lnTo>
                  <a:pt x="1920557" y="0"/>
                </a:lnTo>
                <a:lnTo>
                  <a:pt x="0" y="0"/>
                </a:lnTo>
                <a:lnTo>
                  <a:pt x="0" y="320040"/>
                </a:lnTo>
                <a:lnTo>
                  <a:pt x="0" y="640080"/>
                </a:lnTo>
                <a:lnTo>
                  <a:pt x="0" y="960120"/>
                </a:lnTo>
                <a:lnTo>
                  <a:pt x="0" y="1280160"/>
                </a:lnTo>
                <a:lnTo>
                  <a:pt x="5121478" y="1280160"/>
                </a:lnTo>
                <a:lnTo>
                  <a:pt x="5121478" y="9601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pic>
        <p:nvPicPr>
          <p:cNvPr id="17" name="Imagen 1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EE5978C-9520-D318-4EF9-071DB79A1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445" y="947085"/>
            <a:ext cx="4937331" cy="3013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DAB79FE-82AC-9799-A60B-26523F3193C7}"/>
              </a:ext>
            </a:extLst>
          </p:cNvPr>
          <p:cNvSpPr txBox="1"/>
          <p:nvPr/>
        </p:nvSpPr>
        <p:spPr>
          <a:xfrm>
            <a:off x="6776937" y="1299966"/>
            <a:ext cx="2286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El </a:t>
            </a:r>
            <a:r>
              <a:rPr lang="es-ES" sz="1100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 se ejecuta </a:t>
            </a:r>
            <a:r>
              <a:rPr lang="es-ES" sz="1100" b="1" dirty="0">
                <a:latin typeface="Candara" panose="020E0502030303020204" pitchFamily="34" charset="0"/>
              </a:rPr>
              <a:t>manualmente</a:t>
            </a:r>
            <a:r>
              <a:rPr lang="es-ES" sz="1100" dirty="0">
                <a:latin typeface="Candara" panose="020E0502030303020204" pitchFamily="34" charset="0"/>
              </a:rPr>
              <a:t> al pulsar </a:t>
            </a:r>
            <a:r>
              <a:rPr lang="es-ES" sz="1100" i="1" dirty="0">
                <a:latin typeface="Candara" panose="020E0502030303020204" pitchFamily="34" charset="0"/>
              </a:rPr>
              <a:t>Run </a:t>
            </a:r>
            <a:r>
              <a:rPr lang="es-ES" sz="1100" i="1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.</a:t>
            </a:r>
          </a:p>
          <a:p>
            <a:endParaRPr lang="es-ES_tradn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DD8179-3A55-2FD8-E3A1-B0803A75929C}"/>
              </a:ext>
            </a:extLst>
          </p:cNvPr>
          <p:cNvSpPr txBox="1"/>
          <p:nvPr/>
        </p:nvSpPr>
        <p:spPr>
          <a:xfrm>
            <a:off x="4609032" y="2083594"/>
            <a:ext cx="25908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Define los trabajos que va a realizar el </a:t>
            </a:r>
            <a:r>
              <a:rPr lang="es-ES" sz="1100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.</a:t>
            </a:r>
          </a:p>
          <a:p>
            <a:endParaRPr lang="es-ES_tradnl" sz="1100" dirty="0">
              <a:latin typeface="Candara" panose="020E0502030303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E7FD1E8-D8EA-9ABA-040F-B13911B198F2}"/>
              </a:ext>
            </a:extLst>
          </p:cNvPr>
          <p:cNvSpPr txBox="1"/>
          <p:nvPr/>
        </p:nvSpPr>
        <p:spPr>
          <a:xfrm>
            <a:off x="5608548" y="2512006"/>
            <a:ext cx="2590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Es el nombre del </a:t>
            </a:r>
            <a:r>
              <a:rPr lang="es-ES" sz="1100" dirty="0" err="1"/>
              <a:t>job</a:t>
            </a:r>
            <a:endParaRPr lang="es-ES_tradnl" sz="1100" dirty="0">
              <a:latin typeface="Candara" panose="020E0502030303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00BB8B-A7B1-30B4-0B66-B5AE74C09609}"/>
              </a:ext>
            </a:extLst>
          </p:cNvPr>
          <p:cNvSpPr txBox="1"/>
          <p:nvPr/>
        </p:nvSpPr>
        <p:spPr>
          <a:xfrm>
            <a:off x="7697160" y="2430562"/>
            <a:ext cx="1318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El </a:t>
            </a:r>
            <a:r>
              <a:rPr lang="es-ES" sz="1100" dirty="0" err="1">
                <a:latin typeface="Candara" panose="020E0502030303020204" pitchFamily="34" charset="0"/>
              </a:rPr>
              <a:t>job</a:t>
            </a:r>
            <a:r>
              <a:rPr lang="es-ES" sz="1100" dirty="0">
                <a:latin typeface="Candara" panose="020E0502030303020204" pitchFamily="34" charset="0"/>
              </a:rPr>
              <a:t> se ejecuta en una </a:t>
            </a:r>
            <a:r>
              <a:rPr lang="es-ES" sz="1100" b="1" dirty="0">
                <a:latin typeface="Candara" panose="020E0502030303020204" pitchFamily="34" charset="0"/>
              </a:rPr>
              <a:t>máquina virtual con Ubuntu</a:t>
            </a:r>
            <a:r>
              <a:rPr lang="es-ES" sz="1100" dirty="0">
                <a:latin typeface="Candara" panose="020E0502030303020204" pitchFamily="34" charset="0"/>
              </a:rPr>
              <a:t> (runner de GitHub).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FEDEF9-7FA5-2C78-C771-1C88A1966912}"/>
              </a:ext>
            </a:extLst>
          </p:cNvPr>
          <p:cNvSpPr txBox="1"/>
          <p:nvPr/>
        </p:nvSpPr>
        <p:spPr>
          <a:xfrm>
            <a:off x="3193643" y="2918506"/>
            <a:ext cx="128481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Son los pasos que se ejecutan dentro del </a:t>
            </a:r>
            <a:r>
              <a:rPr lang="es-ES" sz="1100" dirty="0" err="1">
                <a:latin typeface="Candara" panose="020E0502030303020204" pitchFamily="34" charset="0"/>
              </a:rPr>
              <a:t>job</a:t>
            </a:r>
            <a:r>
              <a:rPr lang="es-ES" sz="1100" dirty="0">
                <a:latin typeface="Candara" panose="020E0502030303020204" pitchFamily="34" charset="0"/>
              </a:rPr>
              <a:t>, en orden.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6426F90-7E40-0488-F58A-EC4ED125136F}"/>
              </a:ext>
            </a:extLst>
          </p:cNvPr>
          <p:cNvSpPr txBox="1"/>
          <p:nvPr/>
        </p:nvSpPr>
        <p:spPr>
          <a:xfrm>
            <a:off x="5492126" y="3663808"/>
            <a:ext cx="22050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Ejecuta un comando que muestra un mensaje por pantalla.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6000D94-2B10-E837-FBF2-8303B08E8B3F}"/>
              </a:ext>
            </a:extLst>
          </p:cNvPr>
          <p:cNvSpPr txBox="1"/>
          <p:nvPr/>
        </p:nvSpPr>
        <p:spPr>
          <a:xfrm>
            <a:off x="399309" y="344227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</p:spTree>
    <p:extLst>
      <p:ext uri="{BB962C8B-B14F-4D97-AF65-F5344CB8AC3E}">
        <p14:creationId xmlns:p14="http://schemas.microsoft.com/office/powerpoint/2010/main" val="673920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1814075"/>
            <a:ext cx="3505200" cy="529075"/>
          </a:xfrm>
          <a:custGeom>
            <a:avLst/>
            <a:gdLst/>
            <a:ahLst/>
            <a:cxnLst/>
            <a:rect l="l" t="t" r="r" b="b"/>
            <a:pathLst>
              <a:path w="1948179" h="701039">
                <a:moveTo>
                  <a:pt x="1947551" y="701039"/>
                </a:moveTo>
                <a:lnTo>
                  <a:pt x="0" y="701039"/>
                </a:lnTo>
                <a:lnTo>
                  <a:pt x="0" y="0"/>
                </a:lnTo>
                <a:lnTo>
                  <a:pt x="1947551" y="0"/>
                </a:lnTo>
                <a:lnTo>
                  <a:pt x="1947551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1778006"/>
            <a:ext cx="8464799" cy="118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Profundizando </a:t>
            </a:r>
            <a:r>
              <a:rPr lang="es-ES" dirty="0">
                <a:solidFill>
                  <a:schemeClr val="bg1"/>
                </a:solidFill>
              </a:rPr>
              <a:t>en los componentes del </a:t>
            </a:r>
            <a:r>
              <a:rPr lang="es-ES" dirty="0" err="1">
                <a:solidFill>
                  <a:schemeClr val="bg1"/>
                </a:solidFill>
              </a:rPr>
              <a:t>workflow</a:t>
            </a:r>
            <a:endParaRPr lang="es-E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1481022"/>
          </a:xfrm>
          <a:prstGeom prst="rect">
            <a:avLst/>
          </a:prstGeom>
        </p:spPr>
        <p:txBody>
          <a:bodyPr vert="horz" wrap="square" lIns="0" tIns="308459" rIns="0" bIns="0" rtlCol="0">
            <a:spAutoFit/>
          </a:bodyPr>
          <a:lstStyle/>
          <a:p>
            <a:r>
              <a:rPr>
                <a:latin typeface="Candara" panose="020E0502030303020204" pitchFamily="34" charset="0"/>
              </a:rPr>
              <a:t>Workflow components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42450" y="404557"/>
            <a:ext cx="4504055" cy="251158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r>
              <a:rPr lang="es-ES" sz="2800" b="1" dirty="0" err="1">
                <a:latin typeface="Candara" panose="020E0502030303020204" pitchFamily="34" charset="0"/>
              </a:rPr>
              <a:t>jobs</a:t>
            </a:r>
            <a:r>
              <a:rPr sz="2800" b="1" dirty="0">
                <a:latin typeface="Candara" panose="020E0502030303020204" pitchFamily="34" charset="0"/>
              </a:rPr>
              <a:t>.&lt;</a:t>
            </a:r>
            <a:r>
              <a:rPr lang="es-ES" sz="2800" b="1" dirty="0">
                <a:latin typeface="Candara" panose="020E0502030303020204" pitchFamily="34" charset="0"/>
              </a:rPr>
              <a:t>Jobs-id</a:t>
            </a:r>
            <a:r>
              <a:rPr sz="2800" b="1" dirty="0">
                <a:latin typeface="Candara" panose="020E0502030303020204" pitchFamily="34" charset="0"/>
              </a:rPr>
              <a:t>&gt;</a:t>
            </a:r>
          </a:p>
          <a:p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Es un </a:t>
            </a:r>
            <a:r>
              <a:rPr lang="es-ES" dirty="0" err="1">
                <a:latin typeface="Candara" panose="020E0502030303020204" pitchFamily="34" charset="0"/>
              </a:rPr>
              <a:t>String</a:t>
            </a:r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Debe ser única dentro del </a:t>
            </a:r>
            <a:r>
              <a:rPr lang="es-ES" dirty="0" err="1">
                <a:latin typeface="Candara" panose="020E0502030303020204" pitchFamily="34" charset="0"/>
              </a:rPr>
              <a:t>workflow</a:t>
            </a:r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Debe comenzar con una letra o _</a:t>
            </a:r>
          </a:p>
          <a:p>
            <a:r>
              <a:rPr lang="es-ES" dirty="0">
                <a:latin typeface="Candara" panose="020E0502030303020204" pitchFamily="34" charset="0"/>
              </a:rPr>
              <a:t>y solo puede contener caracteres alfanuméricos, -, o _</a:t>
            </a:r>
          </a:p>
          <a:p>
            <a:endParaRPr dirty="0">
              <a:latin typeface="Candara" panose="020E0502030303020204" pitchFamily="34" charset="0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9E32B031-4B49-8CD3-32C8-12A4D518D1EE}"/>
              </a:ext>
            </a:extLst>
          </p:cNvPr>
          <p:cNvSpPr txBox="1"/>
          <p:nvPr/>
        </p:nvSpPr>
        <p:spPr>
          <a:xfrm>
            <a:off x="444500" y="2425151"/>
            <a:ext cx="1997075" cy="995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500"/>
              </a:lnSpc>
              <a:spcBef>
                <a:spcPts val="100"/>
              </a:spcBef>
              <a:tabLst>
                <a:tab pos="294005" algn="l"/>
                <a:tab pos="1420495" algn="l"/>
              </a:tabLst>
            </a:pPr>
            <a:r>
              <a:rPr sz="1800" b="1" dirty="0">
                <a:latin typeface="Candara" panose="020E0502030303020204" pitchFamily="34" charset="0"/>
                <a:cs typeface="Trebuchet MS"/>
              </a:rPr>
              <a:t>6	</a:t>
            </a:r>
            <a:r>
              <a:rPr sz="1800" b="1" spc="-10" dirty="0">
                <a:latin typeface="Candara" panose="020E0502030303020204" pitchFamily="34" charset="0"/>
                <a:cs typeface="Trebuchet MS"/>
              </a:rPr>
              <a:t>workftow</a:t>
            </a:r>
            <a:r>
              <a:rPr sz="1800" b="1" dirty="0">
                <a:latin typeface="Candara" panose="020E0502030303020204" pitchFamily="34" charset="0"/>
                <a:cs typeface="Trebuchet MS"/>
              </a:rPr>
              <a:t>	</a:t>
            </a:r>
            <a:r>
              <a:rPr lang="es-ES" sz="1800" b="1" spc="60" dirty="0">
                <a:latin typeface="Candara" panose="020E0502030303020204" pitchFamily="34" charset="0"/>
                <a:cs typeface="Trebuchet MS"/>
              </a:rPr>
              <a:t>debe contener </a:t>
            </a:r>
            <a:r>
              <a:rPr lang="es-ES" sz="1800" b="1" spc="60" dirty="0" err="1">
                <a:latin typeface="Candara" panose="020E0502030303020204" pitchFamily="34" charset="0"/>
                <a:cs typeface="Trebuchet MS"/>
              </a:rPr>
              <a:t>jobs</a:t>
            </a:r>
            <a:r>
              <a:rPr sz="1800" b="1" spc="60" dirty="0">
                <a:latin typeface="Candara" panose="020E0502030303020204" pitchFamily="34" charset="0"/>
                <a:cs typeface="Trebuchet MS"/>
              </a:rPr>
              <a:t> </a:t>
            </a:r>
            <a:r>
              <a:rPr lang="en-GB" sz="1800" b="1" spc="180" dirty="0">
                <a:latin typeface="Candara" panose="020E0502030303020204" pitchFamily="34" charset="0"/>
                <a:cs typeface="Trebuchet MS"/>
              </a:rPr>
              <a:t>contain</a:t>
            </a:r>
            <a:r>
              <a:rPr sz="1800" b="1" spc="180" dirty="0">
                <a:latin typeface="Candara" panose="020E0502030303020204" pitchFamily="34" charset="0"/>
                <a:cs typeface="Trebuchet MS"/>
              </a:rPr>
              <a:t>:jobs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3963080" y="538801"/>
            <a:ext cx="4890770" cy="36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1800" b="1" dirty="0" err="1">
                <a:latin typeface="Candara" panose="020E0502030303020204" pitchFamily="34" charset="0"/>
              </a:rPr>
              <a:t>Steps</a:t>
            </a:r>
            <a:endParaRPr lang="es-ES" sz="1800" b="1" dirty="0">
              <a:latin typeface="Candara" panose="020E0502030303020204" pitchFamily="34" charset="0"/>
            </a:endParaRPr>
          </a:p>
          <a:p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Una serie de tareas</a:t>
            </a:r>
          </a:p>
          <a:p>
            <a:r>
              <a:rPr lang="es-ES" dirty="0">
                <a:latin typeface="Candara" panose="020E0502030303020204" pitchFamily="34" charset="0"/>
              </a:rPr>
              <a:t>+    Cada paso se ejecuta en su propio proceso en el entorno del ejecutor</a:t>
            </a:r>
          </a:p>
          <a:p>
            <a:r>
              <a:rPr lang="es-ES" dirty="0">
                <a:latin typeface="Candara" panose="020E0502030303020204" pitchFamily="34" charset="0"/>
              </a:rPr>
              <a:t>+    Tiene acceso al espacio de trabajo y al sistema de archivos</a:t>
            </a:r>
          </a:p>
          <a:p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Debe incluir uses o run-uses: establece el paso para utilizar una acción de GitHub.</a:t>
            </a:r>
          </a:p>
          <a:p>
            <a:r>
              <a:rPr lang="es-ES" dirty="0">
                <a:latin typeface="Candara" panose="020E0502030303020204" pitchFamily="34" charset="0"/>
              </a:rPr>
              <a:t>+ Ejecutar: ejecuta programas de línea de comandos utilizando el </a:t>
            </a:r>
            <a:r>
              <a:rPr lang="es-ES" dirty="0" err="1">
                <a:latin typeface="Candara" panose="020E0502030303020204" pitchFamily="34" charset="0"/>
              </a:rPr>
              <a:t>shell</a:t>
            </a:r>
            <a:r>
              <a:rPr lang="es-ES" dirty="0">
                <a:latin typeface="Candara" panose="020E0502030303020204" pitchFamily="34" charset="0"/>
              </a:rPr>
              <a:t> del sistema operativo.</a:t>
            </a:r>
          </a:p>
          <a:p>
            <a:endParaRPr dirty="0">
              <a:latin typeface="Candara" panose="020E0502030303020204" pitchFamily="34" charset="0"/>
            </a:endParaRP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A297D586-7D65-6310-6F75-CE34EF1A3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1286097"/>
          </a:xfrm>
          <a:prstGeom prst="rect">
            <a:avLst/>
          </a:prstGeom>
        </p:spPr>
        <p:txBody>
          <a:bodyPr vert="horz" wrap="square" lIns="0" tIns="308459" rIns="0" bIns="0" rtlCol="0">
            <a:spAutoFit/>
          </a:bodyPr>
          <a:lstStyle/>
          <a:p>
            <a:pPr marL="167005" marR="5080">
              <a:lnSpc>
                <a:spcPts val="3829"/>
              </a:lnSpc>
              <a:spcBef>
                <a:spcPts val="204"/>
              </a:spcBef>
            </a:pPr>
            <a:r>
              <a:rPr sz="3200" spc="-10" dirty="0">
                <a:solidFill>
                  <a:srgbClr val="000000"/>
                </a:solidFill>
                <a:latin typeface="Candara" panose="020E0502030303020204" pitchFamily="34" charset="0"/>
              </a:rPr>
              <a:t>Workflow </a:t>
            </a:r>
            <a:r>
              <a:rPr sz="3200" spc="-40" dirty="0">
                <a:solidFill>
                  <a:srgbClr val="000000"/>
                </a:solidFill>
                <a:latin typeface="Candara" panose="020E0502030303020204" pitchFamily="34" charset="0"/>
              </a:rPr>
              <a:t>components</a:t>
            </a:r>
            <a:endParaRPr sz="3200" dirty="0">
              <a:latin typeface="Candara" panose="020E0502030303020204" pitchFamily="34" charset="0"/>
            </a:endParaRP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A92DB206-AE65-AF45-6BF7-0CEB0ED9E2D2}"/>
              </a:ext>
            </a:extLst>
          </p:cNvPr>
          <p:cNvSpPr txBox="1"/>
          <p:nvPr/>
        </p:nvSpPr>
        <p:spPr>
          <a:xfrm>
            <a:off x="444500" y="2484206"/>
            <a:ext cx="1292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4005" algn="l"/>
              </a:tabLst>
            </a:pPr>
            <a:r>
              <a:rPr lang="es-ES" sz="1800" b="1" spc="-30" dirty="0">
                <a:latin typeface="Candara" panose="020E0502030303020204" pitchFamily="34" charset="0"/>
                <a:cs typeface="Trebuchet MS"/>
              </a:rPr>
              <a:t>Un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FE3D5222-7084-097B-8384-DF625231F8AD}"/>
              </a:ext>
            </a:extLst>
          </p:cNvPr>
          <p:cNvSpPr txBox="1"/>
          <p:nvPr/>
        </p:nvSpPr>
        <p:spPr>
          <a:xfrm>
            <a:off x="942272" y="2496906"/>
            <a:ext cx="422909" cy="27432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b="1" spc="170" dirty="0">
                <a:solidFill>
                  <a:srgbClr val="FFFFFF"/>
                </a:solidFill>
                <a:latin typeface="Candara" panose="020E0502030303020204" pitchFamily="34" charset="0"/>
                <a:cs typeface="Trebuchet MS"/>
              </a:rPr>
              <a:t>job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E629B80E-3611-487D-4ADF-7043A463446B}"/>
              </a:ext>
            </a:extLst>
          </p:cNvPr>
          <p:cNvSpPr txBox="1"/>
          <p:nvPr/>
        </p:nvSpPr>
        <p:spPr>
          <a:xfrm>
            <a:off x="1494606" y="2484206"/>
            <a:ext cx="589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 spc="60" dirty="0">
                <a:latin typeface="Candara" panose="020E0502030303020204" pitchFamily="34" charset="0"/>
                <a:cs typeface="Trebuchet MS"/>
              </a:rPr>
              <a:t>debe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87BF6A0F-D98F-806C-F3F8-EFE9A1793234}"/>
              </a:ext>
            </a:extLst>
          </p:cNvPr>
          <p:cNvSpPr txBox="1"/>
          <p:nvPr/>
        </p:nvSpPr>
        <p:spPr>
          <a:xfrm>
            <a:off x="444500" y="2817581"/>
            <a:ext cx="27012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8555" algn="l"/>
                <a:tab pos="1702435" algn="l"/>
                <a:tab pos="2124710" algn="l"/>
              </a:tabLst>
            </a:pPr>
            <a:r>
              <a:rPr lang="en-GB" b="1" spc="125" dirty="0" err="1">
                <a:latin typeface="Candara" panose="020E0502030303020204" pitchFamily="34" charset="0"/>
                <a:cs typeface="Trebuchet MS"/>
              </a:rPr>
              <a:t>c</a:t>
            </a:r>
            <a:r>
              <a:rPr lang="en-GB" sz="1800" b="1" spc="125" dirty="0" err="1">
                <a:latin typeface="Candara" panose="020E0502030303020204" pitchFamily="34" charset="0"/>
                <a:cs typeface="Trebuchet MS"/>
              </a:rPr>
              <a:t>ontener</a:t>
            </a:r>
            <a:r>
              <a:rPr lang="en-GB" b="1" spc="125" dirty="0">
                <a:latin typeface="Candara" panose="020E0502030303020204" pitchFamily="34" charset="0"/>
                <a:cs typeface="Trebuchet MS"/>
              </a:rPr>
              <a:t> </a:t>
            </a:r>
            <a:r>
              <a:rPr lang="en-GB" sz="1800" b="1" spc="75" dirty="0">
                <a:latin typeface="Candara" panose="020E0502030303020204" pitchFamily="34" charset="0"/>
                <a:cs typeface="Trebuchet MS"/>
              </a:rPr>
              <a:t>uno</a:t>
            </a:r>
            <a:r>
              <a:rPr lang="en-GB" b="1" spc="75" dirty="0">
                <a:latin typeface="Candara" panose="020E0502030303020204" pitchFamily="34" charset="0"/>
                <a:cs typeface="Trebuchet MS"/>
              </a:rPr>
              <a:t> </a:t>
            </a:r>
            <a:r>
              <a:rPr lang="es-ES" sz="1800" b="1" dirty="0">
                <a:latin typeface="Candara" panose="020E0502030303020204" pitchFamily="34" charset="0"/>
                <a:cs typeface="Trebuchet MS"/>
              </a:rPr>
              <a:t>o mas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66555BDB-DF61-248D-C537-59354F3E93E6}"/>
              </a:ext>
            </a:extLst>
          </p:cNvPr>
          <p:cNvSpPr txBox="1"/>
          <p:nvPr/>
        </p:nvSpPr>
        <p:spPr>
          <a:xfrm>
            <a:off x="444500" y="3150956"/>
            <a:ext cx="870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 spc="275" dirty="0" err="1">
                <a:latin typeface="Candara" panose="020E0502030303020204" pitchFamily="34" charset="0"/>
                <a:cs typeface="Trebuchet MS"/>
              </a:rPr>
              <a:t>steps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0" y="2190750"/>
            <a:ext cx="2209800" cy="496742"/>
          </a:xfrm>
          <a:custGeom>
            <a:avLst/>
            <a:gdLst/>
            <a:ahLst/>
            <a:cxnLst/>
            <a:rect l="l" t="t" r="r" b="b"/>
            <a:pathLst>
              <a:path w="2536190" h="701039">
                <a:moveTo>
                  <a:pt x="2536078" y="701039"/>
                </a:moveTo>
                <a:lnTo>
                  <a:pt x="0" y="701039"/>
                </a:lnTo>
                <a:lnTo>
                  <a:pt x="0" y="0"/>
                </a:lnTo>
                <a:lnTo>
                  <a:pt x="2536078" y="0"/>
                </a:lnTo>
                <a:lnTo>
                  <a:pt x="2536078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67122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Nuestro segundo </a:t>
            </a:r>
            <a:r>
              <a:rPr lang="es-ES" dirty="0" err="1">
                <a:solidFill>
                  <a:schemeClr val="tx1"/>
                </a:solidFill>
              </a:rPr>
              <a:t>workflow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second.yaml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5869" y="982116"/>
            <a:ext cx="7376159" cy="4023360"/>
          </a:xfrm>
          <a:custGeom>
            <a:avLst/>
            <a:gdLst/>
            <a:ahLst/>
            <a:cxnLst/>
            <a:rect l="l" t="t" r="r" b="b"/>
            <a:pathLst>
              <a:path w="7376159" h="4023360">
                <a:moveTo>
                  <a:pt x="7376046" y="3017520"/>
                </a:moveTo>
                <a:lnTo>
                  <a:pt x="5532044" y="3017520"/>
                </a:lnTo>
                <a:lnTo>
                  <a:pt x="5532044" y="2682240"/>
                </a:lnTo>
                <a:lnTo>
                  <a:pt x="5364404" y="2682240"/>
                </a:lnTo>
                <a:lnTo>
                  <a:pt x="5364404" y="2346960"/>
                </a:lnTo>
                <a:lnTo>
                  <a:pt x="1676374" y="2346960"/>
                </a:lnTo>
                <a:lnTo>
                  <a:pt x="1676374" y="2011680"/>
                </a:lnTo>
                <a:lnTo>
                  <a:pt x="4358576" y="2011680"/>
                </a:lnTo>
                <a:lnTo>
                  <a:pt x="4358576" y="1676400"/>
                </a:lnTo>
                <a:lnTo>
                  <a:pt x="5532044" y="1676400"/>
                </a:lnTo>
                <a:lnTo>
                  <a:pt x="5532044" y="1341120"/>
                </a:lnTo>
                <a:lnTo>
                  <a:pt x="1844014" y="1341120"/>
                </a:lnTo>
                <a:lnTo>
                  <a:pt x="1844014" y="1005840"/>
                </a:lnTo>
                <a:lnTo>
                  <a:pt x="838187" y="1005840"/>
                </a:lnTo>
                <a:lnTo>
                  <a:pt x="838187" y="670560"/>
                </a:lnTo>
                <a:lnTo>
                  <a:pt x="3352749" y="670560"/>
                </a:lnTo>
                <a:lnTo>
                  <a:pt x="3352749" y="335280"/>
                </a:lnTo>
                <a:lnTo>
                  <a:pt x="502907" y="335280"/>
                </a:lnTo>
                <a:lnTo>
                  <a:pt x="502907" y="0"/>
                </a:lnTo>
                <a:lnTo>
                  <a:pt x="0" y="0"/>
                </a:lnTo>
                <a:lnTo>
                  <a:pt x="0" y="4023360"/>
                </a:lnTo>
                <a:lnTo>
                  <a:pt x="5364404" y="4023360"/>
                </a:lnTo>
                <a:lnTo>
                  <a:pt x="5364404" y="3688080"/>
                </a:lnTo>
                <a:lnTo>
                  <a:pt x="7040778" y="3688080"/>
                </a:lnTo>
                <a:lnTo>
                  <a:pt x="7040778" y="3352800"/>
                </a:lnTo>
                <a:lnTo>
                  <a:pt x="7376046" y="3352800"/>
                </a:lnTo>
                <a:lnTo>
                  <a:pt x="7376046" y="3017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3175" y="622949"/>
            <a:ext cx="7401559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320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(second)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2700" marR="4027804" indent="33528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8034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say</a:t>
            </a:r>
            <a:r>
              <a:rPr sz="2200" b="1" spc="-10" dirty="0">
                <a:solidFill>
                  <a:srgbClr val="0033B3"/>
                </a:solidFill>
                <a:latin typeface="Courier New"/>
                <a:cs typeface="Courier New"/>
              </a:rPr>
              <a:t>_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hello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683260" marR="1849755">
              <a:lnSpc>
                <a:spcPct val="100000"/>
              </a:lnSpc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200" spc="-9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ubuntu-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latest</a:t>
            </a:r>
            <a:endParaRPr sz="2200" dirty="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there!"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uses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actions/checkout@v3</a:t>
            </a:r>
            <a:endParaRPr sz="2200" dirty="0">
              <a:latin typeface="Courier New"/>
              <a:cs typeface="Courier New"/>
            </a:endParaRPr>
          </a:p>
          <a:p>
            <a:pPr marL="1353185" marR="508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185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cat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./github/workflows/list.txt 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10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display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contents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of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list.txt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"I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am</a:t>
            </a:r>
            <a:r>
              <a:rPr sz="22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4!"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E58BE-0592-EE16-2A1F-32F5FE43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253A39-5C9E-9FED-2BEF-340645FC7A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second.yaml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ECE708-BE0A-534C-ACEF-569DC83445A1}"/>
              </a:ext>
            </a:extLst>
          </p:cNvPr>
          <p:cNvSpPr/>
          <p:nvPr/>
        </p:nvSpPr>
        <p:spPr>
          <a:xfrm>
            <a:off x="375869" y="982116"/>
            <a:ext cx="7376159" cy="4023360"/>
          </a:xfrm>
          <a:custGeom>
            <a:avLst/>
            <a:gdLst/>
            <a:ahLst/>
            <a:cxnLst/>
            <a:rect l="l" t="t" r="r" b="b"/>
            <a:pathLst>
              <a:path w="7376159" h="4023360">
                <a:moveTo>
                  <a:pt x="7376046" y="3017520"/>
                </a:moveTo>
                <a:lnTo>
                  <a:pt x="5532044" y="3017520"/>
                </a:lnTo>
                <a:lnTo>
                  <a:pt x="5532044" y="2682240"/>
                </a:lnTo>
                <a:lnTo>
                  <a:pt x="5364404" y="2682240"/>
                </a:lnTo>
                <a:lnTo>
                  <a:pt x="5364404" y="2346960"/>
                </a:lnTo>
                <a:lnTo>
                  <a:pt x="1676374" y="2346960"/>
                </a:lnTo>
                <a:lnTo>
                  <a:pt x="1676374" y="2011680"/>
                </a:lnTo>
                <a:lnTo>
                  <a:pt x="4358576" y="2011680"/>
                </a:lnTo>
                <a:lnTo>
                  <a:pt x="4358576" y="1676400"/>
                </a:lnTo>
                <a:lnTo>
                  <a:pt x="5532044" y="1676400"/>
                </a:lnTo>
                <a:lnTo>
                  <a:pt x="5532044" y="1341120"/>
                </a:lnTo>
                <a:lnTo>
                  <a:pt x="1844014" y="1341120"/>
                </a:lnTo>
                <a:lnTo>
                  <a:pt x="1844014" y="1005840"/>
                </a:lnTo>
                <a:lnTo>
                  <a:pt x="838187" y="1005840"/>
                </a:lnTo>
                <a:lnTo>
                  <a:pt x="838187" y="670560"/>
                </a:lnTo>
                <a:lnTo>
                  <a:pt x="3352749" y="670560"/>
                </a:lnTo>
                <a:lnTo>
                  <a:pt x="3352749" y="335280"/>
                </a:lnTo>
                <a:lnTo>
                  <a:pt x="502907" y="335280"/>
                </a:lnTo>
                <a:lnTo>
                  <a:pt x="502907" y="0"/>
                </a:lnTo>
                <a:lnTo>
                  <a:pt x="0" y="0"/>
                </a:lnTo>
                <a:lnTo>
                  <a:pt x="0" y="4023360"/>
                </a:lnTo>
                <a:lnTo>
                  <a:pt x="5364404" y="4023360"/>
                </a:lnTo>
                <a:lnTo>
                  <a:pt x="5364404" y="3688080"/>
                </a:lnTo>
                <a:lnTo>
                  <a:pt x="7040778" y="3688080"/>
                </a:lnTo>
                <a:lnTo>
                  <a:pt x="7040778" y="3352800"/>
                </a:lnTo>
                <a:lnTo>
                  <a:pt x="7376046" y="3352800"/>
                </a:lnTo>
                <a:lnTo>
                  <a:pt x="7376046" y="3017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B76CEAC-0396-436C-C8FC-C605A5E52AB2}"/>
              </a:ext>
            </a:extLst>
          </p:cNvPr>
          <p:cNvSpPr txBox="1"/>
          <p:nvPr/>
        </p:nvSpPr>
        <p:spPr>
          <a:xfrm>
            <a:off x="363175" y="622949"/>
            <a:ext cx="7401559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320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(second)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2700" marR="4027804" indent="33528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80340">
              <a:lnSpc>
                <a:spcPct val="100000"/>
              </a:lnSpc>
            </a:pPr>
            <a:r>
              <a:rPr sz="2200" spc="-10" dirty="0" err="1">
                <a:solidFill>
                  <a:srgbClr val="0033B3"/>
                </a:solidFill>
                <a:latin typeface="Courier New"/>
                <a:cs typeface="Courier New"/>
              </a:rPr>
              <a:t>say</a:t>
            </a:r>
            <a:r>
              <a:rPr sz="2200" b="1" spc="-10" dirty="0" err="1">
                <a:solidFill>
                  <a:srgbClr val="0033B3"/>
                </a:solidFill>
                <a:latin typeface="Courier New"/>
                <a:cs typeface="Courier New"/>
              </a:rPr>
              <a:t>_</a:t>
            </a:r>
            <a:r>
              <a:rPr sz="2200" spc="-10" dirty="0" err="1">
                <a:solidFill>
                  <a:srgbClr val="0033B3"/>
                </a:solidFill>
                <a:latin typeface="Courier New"/>
                <a:cs typeface="Courier New"/>
              </a:rPr>
              <a:t>hello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683260" marR="1849755">
              <a:lnSpc>
                <a:spcPct val="100000"/>
              </a:lnSpc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200" spc="-9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ubuntu-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latest</a:t>
            </a:r>
            <a:endParaRPr sz="2200" dirty="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there!"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uses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actions/checkout@v3</a:t>
            </a:r>
            <a:endParaRPr sz="2200" dirty="0">
              <a:latin typeface="Courier New"/>
              <a:cs typeface="Courier New"/>
            </a:endParaRPr>
          </a:p>
          <a:p>
            <a:pPr marL="1353185" marR="508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185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cat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./github/workflows/list.txt 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10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display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contents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of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list.txt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"I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am</a:t>
            </a:r>
            <a:r>
              <a:rPr sz="22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4!"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AEBC62-29B5-6FE6-8548-DD5A77FABE90}"/>
              </a:ext>
            </a:extLst>
          </p:cNvPr>
          <p:cNvSpPr txBox="1"/>
          <p:nvPr/>
        </p:nvSpPr>
        <p:spPr>
          <a:xfrm>
            <a:off x="1935255" y="174200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61113A-F22E-617E-0B78-700B27DE44CC}"/>
              </a:ext>
            </a:extLst>
          </p:cNvPr>
          <p:cNvSpPr txBox="1"/>
          <p:nvPr/>
        </p:nvSpPr>
        <p:spPr>
          <a:xfrm>
            <a:off x="6248400" y="543532"/>
            <a:ext cx="210634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Es el </a:t>
            </a:r>
            <a:r>
              <a:rPr lang="es-ES" sz="1050" b="1" dirty="0">
                <a:latin typeface="Candara" panose="020E0502030303020204" pitchFamily="34" charset="0"/>
              </a:rPr>
              <a:t>nombre del </a:t>
            </a:r>
            <a:r>
              <a:rPr lang="es-ES" sz="1050" b="1" dirty="0" err="1">
                <a:latin typeface="Candara" panose="020E0502030303020204" pitchFamily="34" charset="0"/>
              </a:rPr>
              <a:t>workflow</a:t>
            </a:r>
            <a:r>
              <a:rPr lang="es-ES" sz="1050" dirty="0">
                <a:latin typeface="Candara" panose="020E0502030303020204" pitchFamily="34" charset="0"/>
              </a:rPr>
              <a:t>.</a:t>
            </a:r>
            <a:br>
              <a:rPr lang="es-ES" sz="1050" dirty="0">
                <a:latin typeface="Candara" panose="020E0502030303020204" pitchFamily="34" charset="0"/>
              </a:rPr>
            </a:br>
            <a:r>
              <a:rPr lang="es-ES" sz="1050" dirty="0">
                <a:latin typeface="Candara" panose="020E0502030303020204" pitchFamily="34" charset="0"/>
              </a:rPr>
              <a:t>Es solo para identificarlo en la interfaz 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097EB4-F84B-6E96-7495-9C502B03D6A5}"/>
              </a:ext>
            </a:extLst>
          </p:cNvPr>
          <p:cNvSpPr txBox="1"/>
          <p:nvPr/>
        </p:nvSpPr>
        <p:spPr>
          <a:xfrm>
            <a:off x="3962400" y="1352550"/>
            <a:ext cx="3124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El </a:t>
            </a:r>
            <a:r>
              <a:rPr lang="es-ES" sz="1050" dirty="0" err="1">
                <a:latin typeface="Candara" panose="020E0502030303020204" pitchFamily="34" charset="0"/>
              </a:rPr>
              <a:t>workflow</a:t>
            </a:r>
            <a:r>
              <a:rPr lang="es-ES" sz="1050" dirty="0">
                <a:latin typeface="Candara" panose="020E0502030303020204" pitchFamily="34" charset="0"/>
              </a:rPr>
              <a:t> se ejecuta </a:t>
            </a:r>
            <a:r>
              <a:rPr lang="es-ES" sz="1050" b="1" dirty="0">
                <a:latin typeface="Candara" panose="020E0502030303020204" pitchFamily="34" charset="0"/>
              </a:rPr>
              <a:t>manualmente</a:t>
            </a:r>
            <a:r>
              <a:rPr lang="es-ES" sz="1050" dirty="0">
                <a:latin typeface="Candara" panose="020E0502030303020204" pitchFamily="34" charset="0"/>
              </a:rPr>
              <a:t> desde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68DD6F-66BE-7BAF-C889-A6125B3D3B4C}"/>
              </a:ext>
            </a:extLst>
          </p:cNvPr>
          <p:cNvSpPr txBox="1"/>
          <p:nvPr/>
        </p:nvSpPr>
        <p:spPr>
          <a:xfrm>
            <a:off x="2286000" y="2038350"/>
            <a:ext cx="1447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Identificador</a:t>
            </a:r>
            <a:r>
              <a:rPr lang="es-ES" sz="1050" dirty="0">
                <a:latin typeface="Candara" panose="020E0502030303020204" pitchFamily="34" charset="0"/>
              </a:rPr>
              <a:t> del </a:t>
            </a:r>
            <a:r>
              <a:rPr lang="es-ES" sz="1050" dirty="0" err="1">
                <a:latin typeface="Candara" panose="020E0502030303020204" pitchFamily="34" charset="0"/>
              </a:rPr>
              <a:t>job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755D95-F8E6-897C-054B-73C2C9D8D9E4}"/>
              </a:ext>
            </a:extLst>
          </p:cNvPr>
          <p:cNvSpPr txBox="1"/>
          <p:nvPr/>
        </p:nvSpPr>
        <p:spPr>
          <a:xfrm>
            <a:off x="5995329" y="2268231"/>
            <a:ext cx="21825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Es el </a:t>
            </a:r>
            <a:r>
              <a:rPr lang="es-ES" sz="1050" b="1" dirty="0">
                <a:latin typeface="Candara" panose="020E0502030303020204" pitchFamily="34" charset="0"/>
              </a:rPr>
              <a:t>nombre visible del </a:t>
            </a:r>
            <a:r>
              <a:rPr lang="es-ES" sz="1050" b="1" dirty="0" err="1">
                <a:latin typeface="Candara" panose="020E0502030303020204" pitchFamily="34" charset="0"/>
              </a:rPr>
              <a:t>job</a:t>
            </a:r>
            <a:r>
              <a:rPr lang="es-ES" sz="1050" dirty="0">
                <a:latin typeface="Candara" panose="020E0502030303020204" pitchFamily="34" charset="0"/>
              </a:rPr>
              <a:t> en la interfaz 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EAA9518-D850-A715-B89A-65BC1272D0E3}"/>
              </a:ext>
            </a:extLst>
          </p:cNvPr>
          <p:cNvSpPr txBox="1"/>
          <p:nvPr/>
        </p:nvSpPr>
        <p:spPr>
          <a:xfrm>
            <a:off x="4769401" y="2693160"/>
            <a:ext cx="21825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Runner</a:t>
            </a:r>
            <a:r>
              <a:rPr lang="es-ES" sz="1050" dirty="0">
                <a:latin typeface="Candara" panose="020E0502030303020204" pitchFamily="34" charset="0"/>
              </a:rPr>
              <a:t> de </a:t>
            </a:r>
            <a:r>
              <a:rPr lang="es-ES" sz="1050" dirty="0" err="1">
                <a:latin typeface="Candara" panose="020E0502030303020204" pitchFamily="34" charset="0"/>
              </a:rPr>
              <a:t>Github</a:t>
            </a:r>
            <a:r>
              <a:rPr lang="es-ES" sz="1050" dirty="0">
                <a:latin typeface="Candara" panose="020E0502030303020204" pitchFamily="34" charset="0"/>
              </a:rPr>
              <a:t> de Ubuntu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FE9FF11-4508-B05F-8AAA-62FF80BB1406}"/>
              </a:ext>
            </a:extLst>
          </p:cNvPr>
          <p:cNvSpPr txBox="1"/>
          <p:nvPr/>
        </p:nvSpPr>
        <p:spPr>
          <a:xfrm>
            <a:off x="5811532" y="3349582"/>
            <a:ext cx="21825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Muestra mensaje</a:t>
            </a:r>
            <a:r>
              <a:rPr lang="es-ES" sz="1050" dirty="0">
                <a:latin typeface="Candara" panose="020E0502030303020204" pitchFamily="34" charset="0"/>
              </a:rPr>
              <a:t> “</a:t>
            </a:r>
            <a:r>
              <a:rPr lang="es-ES" sz="1050" dirty="0" err="1">
                <a:latin typeface="Candara" panose="020E0502030303020204" pitchFamily="34" charset="0"/>
              </a:rPr>
              <a:t>Hello</a:t>
            </a:r>
            <a:r>
              <a:rPr lang="es-ES" sz="1050" dirty="0">
                <a:latin typeface="Candara" panose="020E0502030303020204" pitchFamily="34" charset="0"/>
              </a:rPr>
              <a:t> </a:t>
            </a:r>
            <a:r>
              <a:rPr lang="es-ES" sz="1050" dirty="0" err="1">
                <a:latin typeface="Candara" panose="020E0502030303020204" pitchFamily="34" charset="0"/>
              </a:rPr>
              <a:t>there</a:t>
            </a:r>
            <a:r>
              <a:rPr lang="es-ES" sz="1050" dirty="0">
                <a:latin typeface="Candara" panose="020E0502030303020204" pitchFamily="34" charset="0"/>
              </a:rPr>
              <a:t>”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45F8EF-DF70-E370-90E8-BBD93D2CDB2C}"/>
              </a:ext>
            </a:extLst>
          </p:cNvPr>
          <p:cNvSpPr txBox="1"/>
          <p:nvPr/>
        </p:nvSpPr>
        <p:spPr>
          <a:xfrm>
            <a:off x="7813546" y="3345494"/>
            <a:ext cx="12954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Usa una </a:t>
            </a:r>
            <a:r>
              <a:rPr lang="es-ES" sz="1050" b="1" dirty="0" err="1">
                <a:latin typeface="Candara" panose="020E0502030303020204" pitchFamily="34" charset="0"/>
              </a:rPr>
              <a:t>action</a:t>
            </a:r>
            <a:r>
              <a:rPr lang="es-ES" sz="1050" b="1" dirty="0">
                <a:latin typeface="Candara" panose="020E0502030303020204" pitchFamily="34" charset="0"/>
              </a:rPr>
              <a:t> oficial de GitHub</a:t>
            </a:r>
            <a:r>
              <a:rPr lang="es-ES" sz="1050" dirty="0">
                <a:latin typeface="Candara" panose="020E0502030303020204" pitchFamily="34" charset="0"/>
              </a:rPr>
              <a:t> que: Descarga el código del repositorio al runner. Esto es necesario si quieres: leer archivos, compilar y ejecutar pruebas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4F9A228-1863-08A9-02A6-F4CDA4BA129B}"/>
              </a:ext>
            </a:extLst>
          </p:cNvPr>
          <p:cNvCxnSpPr/>
          <p:nvPr/>
        </p:nvCxnSpPr>
        <p:spPr>
          <a:xfrm>
            <a:off x="6096000" y="3790950"/>
            <a:ext cx="17175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82C24CE-8046-2A8C-9972-5728F11EC1F6}"/>
              </a:ext>
            </a:extLst>
          </p:cNvPr>
          <p:cNvSpPr txBox="1"/>
          <p:nvPr/>
        </p:nvSpPr>
        <p:spPr>
          <a:xfrm>
            <a:off x="105989" y="3691742"/>
            <a:ext cx="12603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latin typeface="Candara" panose="020E0502030303020204" pitchFamily="34" charset="0"/>
              </a:rPr>
              <a:t>Muestra</a:t>
            </a:r>
            <a:r>
              <a:rPr lang="es-ES" sz="1000" dirty="0">
                <a:latin typeface="Candara" panose="020E0502030303020204" pitchFamily="34" charset="0"/>
              </a:rPr>
              <a:t> el contenido de ese archivo en la consola. (Tiene </a:t>
            </a:r>
            <a:r>
              <a:rPr lang="es-ES" sz="1000" b="1" dirty="0">
                <a:latin typeface="Candara" panose="020E0502030303020204" pitchFamily="34" charset="0"/>
              </a:rPr>
              <a:t>nombre descriptivo </a:t>
            </a:r>
            <a:r>
              <a:rPr lang="es-ES" sz="1000" dirty="0">
                <a:latin typeface="Candara" panose="020E0502030303020204" pitchFamily="34" charset="0"/>
              </a:rPr>
              <a:t>el step)</a:t>
            </a:r>
            <a:endParaRPr lang="es-ES_tradnl" sz="10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285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76800" y="2050132"/>
            <a:ext cx="1760220" cy="701040"/>
          </a:xfrm>
          <a:custGeom>
            <a:avLst/>
            <a:gdLst/>
            <a:ahLst/>
            <a:cxnLst/>
            <a:rect l="l" t="t" r="r" b="b"/>
            <a:pathLst>
              <a:path w="1760220" h="701039">
                <a:moveTo>
                  <a:pt x="1760039" y="701039"/>
                </a:moveTo>
                <a:lnTo>
                  <a:pt x="0" y="701039"/>
                </a:lnTo>
                <a:lnTo>
                  <a:pt x="0" y="0"/>
                </a:lnTo>
                <a:lnTo>
                  <a:pt x="1760039" y="0"/>
                </a:lnTo>
                <a:lnTo>
                  <a:pt x="1760039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0600" y="2050132"/>
            <a:ext cx="710310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Hablemos de </a:t>
            </a:r>
            <a:r>
              <a:rPr dirty="0"/>
              <a:t>…	</a:t>
            </a:r>
            <a:r>
              <a:rPr lang="es-ES" dirty="0"/>
              <a:t>       </a:t>
            </a:r>
            <a:r>
              <a:rPr dirty="0"/>
              <a:t>inputs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790449"/>
          </a:xfrm>
          <a:prstGeom prst="rect">
            <a:avLst/>
          </a:prstGeom>
        </p:spPr>
        <p:txBody>
          <a:bodyPr vert="horz" wrap="square" lIns="0" tIns="295124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  <a:latin typeface="Candara" panose="020E0502030303020204" pitchFamily="34" charset="0"/>
              </a:rPr>
              <a:t>Inputs</a:t>
            </a:r>
            <a:endParaRPr sz="320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5986" y="718945"/>
            <a:ext cx="443115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8784" algn="l"/>
              </a:tabLst>
            </a:pPr>
            <a:r>
              <a:rPr sz="2400" spc="100" dirty="0">
                <a:latin typeface="Candara" panose="020E0502030303020204" pitchFamily="34" charset="0"/>
                <a:cs typeface="Arial MT"/>
              </a:rPr>
              <a:t>+</a:t>
            </a:r>
            <a:r>
              <a:rPr sz="2400" dirty="0">
                <a:latin typeface="Candara" panose="020E0502030303020204" pitchFamily="34" charset="0"/>
                <a:cs typeface="Arial MT"/>
              </a:rPr>
              <a:t>	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Solo aplicable cuando usamos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2248" y="1138045"/>
            <a:ext cx="160615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spc="-25" dirty="0">
                <a:latin typeface="Candara" panose="020E0502030303020204" pitchFamily="34" charset="0"/>
                <a:cs typeface="Arial MT"/>
              </a:rPr>
              <a:t>El evento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2864" y="1146167"/>
            <a:ext cx="2526442" cy="3657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spc="-10" dirty="0" err="1">
                <a:latin typeface="Candara" panose="020E0502030303020204" pitchFamily="34" charset="0"/>
                <a:cs typeface="Courier New"/>
              </a:rPr>
              <a:t>workflow_dispatch</a:t>
            </a:r>
            <a:endParaRPr sz="2400" dirty="0">
              <a:latin typeface="Candara" panose="020E0502030303020204" pitchFamily="34" charset="0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1816" y="1590533"/>
            <a:ext cx="1905000" cy="3657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lang="es-ES" sz="2400" spc="-10" dirty="0">
                <a:latin typeface="Candara" panose="020E0502030303020204" pitchFamily="34" charset="0"/>
                <a:cs typeface="Courier New"/>
              </a:rPr>
              <a:t> </a:t>
            </a:r>
            <a:r>
              <a:rPr sz="2400" spc="-10" dirty="0" err="1">
                <a:latin typeface="Candara" panose="020E0502030303020204" pitchFamily="34" charset="0"/>
                <a:cs typeface="Courier New"/>
              </a:rPr>
              <a:t>workflow_call</a:t>
            </a:r>
            <a:endParaRPr sz="2400" dirty="0">
              <a:latin typeface="Candara" panose="020E0502030303020204" pitchFamily="34" charset="0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0181" y="1557145"/>
            <a:ext cx="84932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dirty="0">
                <a:latin typeface="Candara" panose="020E0502030303020204" pitchFamily="34" charset="0"/>
                <a:cs typeface="Arial MT"/>
              </a:rPr>
              <a:t>en un 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5986" y="1799080"/>
            <a:ext cx="4154170" cy="2491516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438784">
              <a:lnSpc>
                <a:spcPct val="100000"/>
              </a:lnSpc>
              <a:spcBef>
                <a:spcPts val="1495"/>
              </a:spcBef>
            </a:pPr>
            <a:r>
              <a:rPr sz="2400" spc="-10" dirty="0">
                <a:latin typeface="Candara" panose="020E0502030303020204" pitchFamily="34" charset="0"/>
                <a:cs typeface="Arial MT"/>
              </a:rPr>
              <a:t>workflow…</a:t>
            </a:r>
            <a:r>
              <a:rPr sz="2400" spc="-95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o en una acción</a:t>
            </a:r>
            <a:endParaRPr sz="2400" dirty="0">
              <a:latin typeface="Candara" panose="020E0502030303020204" pitchFamily="34" charset="0"/>
              <a:cs typeface="Arial MT"/>
            </a:endParaRPr>
          </a:p>
          <a:p>
            <a:pPr marL="438784" marR="5080" indent="-426720">
              <a:lnSpc>
                <a:spcPct val="114599"/>
              </a:lnSpc>
              <a:spcBef>
                <a:spcPts val="975"/>
              </a:spcBef>
              <a:tabLst>
                <a:tab pos="438784" algn="l"/>
              </a:tabLst>
            </a:pPr>
            <a:r>
              <a:rPr sz="2400" spc="100" dirty="0">
                <a:latin typeface="Candara" panose="020E0502030303020204" pitchFamily="34" charset="0"/>
                <a:cs typeface="Arial MT"/>
              </a:rPr>
              <a:t>+</a:t>
            </a:r>
            <a:r>
              <a:rPr sz="2400" dirty="0">
                <a:latin typeface="Candara" panose="020E0502030303020204" pitchFamily="34" charset="0"/>
                <a:cs typeface="Arial MT"/>
              </a:rPr>
              <a:t>	</a:t>
            </a:r>
            <a:r>
              <a:rPr lang="es-ES" sz="2400" spc="-35" dirty="0">
                <a:latin typeface="Candara" panose="020E0502030303020204" pitchFamily="34" charset="0"/>
                <a:cs typeface="Arial MT"/>
              </a:rPr>
              <a:t>Define las entradas que el </a:t>
            </a:r>
            <a:r>
              <a:rPr lang="es-ES" sz="2400" spc="-35" dirty="0" err="1">
                <a:latin typeface="Candara" panose="020E0502030303020204" pitchFamily="34" charset="0"/>
                <a:cs typeface="Arial MT"/>
              </a:rPr>
              <a:t>workflow</a:t>
            </a:r>
            <a:r>
              <a:rPr lang="es-ES" sz="2400" spc="-35" dirty="0">
                <a:latin typeface="Candara" panose="020E0502030303020204" pitchFamily="34" charset="0"/>
                <a:cs typeface="Arial MT"/>
              </a:rPr>
              <a:t>/acción puede aceptar.</a:t>
            </a:r>
          </a:p>
          <a:p>
            <a:pPr marL="438784" marR="5080" indent="-426720">
              <a:lnSpc>
                <a:spcPct val="114599"/>
              </a:lnSpc>
              <a:spcBef>
                <a:spcPts val="975"/>
              </a:spcBef>
              <a:tabLst>
                <a:tab pos="438784" algn="l"/>
              </a:tabLst>
            </a:pPr>
            <a:r>
              <a:rPr sz="2400" spc="100" dirty="0">
                <a:latin typeface="Candara" panose="020E0502030303020204" pitchFamily="34" charset="0"/>
                <a:cs typeface="Arial MT"/>
              </a:rPr>
              <a:t>+</a:t>
            </a:r>
            <a:r>
              <a:rPr sz="2400" dirty="0">
                <a:latin typeface="Candara" panose="020E0502030303020204" pitchFamily="34" charset="0"/>
                <a:cs typeface="Arial MT"/>
              </a:rPr>
              <a:t>	</a:t>
            </a:r>
            <a:r>
              <a:rPr lang="es-ES" sz="2400" spc="-70" dirty="0">
                <a:latin typeface="Candara" panose="020E0502030303020204" pitchFamily="34" charset="0"/>
                <a:cs typeface="Arial MT"/>
              </a:rPr>
              <a:t>Cada</a:t>
            </a:r>
            <a:r>
              <a:rPr sz="2400" spc="-110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spc="60" dirty="0">
                <a:latin typeface="Candara" panose="020E0502030303020204" pitchFamily="34" charset="0"/>
                <a:cs typeface="Arial MT"/>
              </a:rPr>
              <a:t>input</a:t>
            </a:r>
            <a:r>
              <a:rPr sz="2400" spc="-110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tiene que ser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9710" y="4356890"/>
            <a:ext cx="3952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spc="-30" dirty="0">
                <a:latin typeface="Candara" panose="020E0502030303020204" pitchFamily="34" charset="0"/>
                <a:cs typeface="Arial MT"/>
              </a:rPr>
              <a:t>único</a:t>
            </a:r>
            <a:r>
              <a:rPr sz="2400" spc="-30" dirty="0">
                <a:latin typeface="Candara" panose="020E0502030303020204" pitchFamily="34" charset="0"/>
                <a:cs typeface="Arial MT"/>
              </a:rPr>
              <a:t>,</a:t>
            </a:r>
            <a:r>
              <a:rPr sz="2400" spc="-70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b="1" spc="-35" dirty="0">
                <a:latin typeface="Candara" panose="020E0502030303020204" pitchFamily="34" charset="0"/>
                <a:cs typeface="Arial"/>
              </a:rPr>
              <a:t>a</a:t>
            </a:r>
            <a:r>
              <a:rPr lang="es-ES" sz="2400" b="1" spc="-35" dirty="0" err="1">
                <a:latin typeface="Candara" panose="020E0502030303020204" pitchFamily="34" charset="0"/>
                <a:cs typeface="Arial"/>
              </a:rPr>
              <a:t>lfa</a:t>
            </a:r>
            <a:r>
              <a:rPr sz="2400" b="1" spc="-35" dirty="0">
                <a:latin typeface="Candara" panose="020E0502030303020204" pitchFamily="34" charset="0"/>
                <a:cs typeface="Arial"/>
              </a:rPr>
              <a:t>num</a:t>
            </a:r>
            <a:r>
              <a:rPr lang="es-ES" sz="2400" b="1" spc="-35" dirty="0">
                <a:latin typeface="Candara" panose="020E0502030303020204" pitchFamily="34" charset="0"/>
                <a:cs typeface="Arial"/>
              </a:rPr>
              <a:t>é</a:t>
            </a:r>
            <a:r>
              <a:rPr sz="2400" b="1" spc="-35" dirty="0" err="1">
                <a:latin typeface="Candara" panose="020E0502030303020204" pitchFamily="34" charset="0"/>
                <a:cs typeface="Arial"/>
              </a:rPr>
              <a:t>ric</a:t>
            </a:r>
            <a:r>
              <a:rPr lang="es-ES" sz="2400" b="1" spc="-35" dirty="0">
                <a:latin typeface="Candara" panose="020E0502030303020204" pitchFamily="34" charset="0"/>
                <a:cs typeface="Arial"/>
              </a:rPr>
              <a:t>o</a:t>
            </a:r>
            <a:r>
              <a:rPr sz="2400" spc="-35" dirty="0">
                <a:latin typeface="Candara" panose="020E0502030303020204" pitchFamily="34" charset="0"/>
                <a:cs typeface="Arial MT"/>
              </a:rPr>
              <a:t>,</a:t>
            </a:r>
            <a:r>
              <a:rPr sz="2400" spc="-75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b="1" spc="190" dirty="0">
                <a:latin typeface="Candara" panose="020E0502030303020204" pitchFamily="34" charset="0"/>
                <a:cs typeface="Arial"/>
              </a:rPr>
              <a:t>-</a:t>
            </a:r>
            <a:r>
              <a:rPr sz="2400" spc="-155" dirty="0">
                <a:latin typeface="Candara" panose="020E0502030303020204" pitchFamily="34" charset="0"/>
                <a:cs typeface="Arial MT"/>
              </a:rPr>
              <a:t>,</a:t>
            </a:r>
            <a:r>
              <a:rPr sz="2400" spc="-80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dirty="0">
                <a:latin typeface="Candara" panose="020E0502030303020204" pitchFamily="34" charset="0"/>
                <a:cs typeface="Arial MT"/>
              </a:rPr>
              <a:t>o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 _</a:t>
            </a:r>
            <a:endParaRPr sz="2400" dirty="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F6473011-7462-28AF-3AFA-6F000C079F78}"/>
              </a:ext>
            </a:extLst>
          </p:cNvPr>
          <p:cNvSpPr txBox="1"/>
          <p:nvPr/>
        </p:nvSpPr>
        <p:spPr>
          <a:xfrm>
            <a:off x="4791515" y="1565133"/>
            <a:ext cx="304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dirty="0">
                <a:latin typeface="Candara" panose="020E0502030303020204" pitchFamily="34" charset="0"/>
                <a:cs typeface="Arial MT"/>
              </a:rPr>
              <a:t>o</a:t>
            </a:r>
            <a:r>
              <a:rPr sz="2400" spc="-95" dirty="0">
                <a:latin typeface="Candara" panose="020E0502030303020204" pitchFamily="34" charset="0"/>
                <a:cs typeface="Arial MT"/>
              </a:rPr>
              <a:t> 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pic>
        <p:nvPicPr>
          <p:cNvPr id="9220" name="Picture 4" descr="420+ Input Data Icon Stock Illustrations, Royalty-Free ...">
            <a:extLst>
              <a:ext uri="{FF2B5EF4-FFF2-40B4-BE49-F238E27FC236}">
                <a16:creationId xmlns:a16="http://schemas.microsoft.com/office/drawing/2014/main" id="{E21DED8E-CD45-CD3F-3E78-72BEE4A3E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41" y="1590533"/>
            <a:ext cx="23431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87528"/>
            <a:ext cx="1250315" cy="104394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3200" b="1" spc="-10" dirty="0">
                <a:latin typeface="Candara" panose="020E0502030303020204" pitchFamily="34" charset="0"/>
                <a:cs typeface="Arial"/>
              </a:rPr>
              <a:t>Inputs</a:t>
            </a:r>
            <a:endParaRPr sz="3200">
              <a:latin typeface="Candara" panose="020E0502030303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800" b="1" spc="-10" dirty="0">
                <a:latin typeface="Candara" panose="020E0502030303020204" pitchFamily="34" charset="0"/>
                <a:cs typeface="Arial"/>
              </a:rPr>
              <a:t>Properties</a:t>
            </a:r>
            <a:endParaRPr sz="180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0740" y="364678"/>
            <a:ext cx="5146675" cy="762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 marR="5080" indent="-410209">
              <a:lnSpc>
                <a:spcPct val="113599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22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+</a:t>
            </a:r>
            <a:r>
              <a:rPr sz="2200" b="0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	</a:t>
            </a:r>
            <a:r>
              <a:rPr sz="2000" b="0" spc="18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inputs.&lt;input_id&gt;.description</a:t>
            </a:r>
            <a:r>
              <a:rPr sz="2000" b="0" spc="-17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sz="2200" b="0" spc="90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 </a:t>
            </a:r>
            <a:r>
              <a:rPr lang="es-ES" sz="2200" b="0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lo que se le mostrará al usuario</a:t>
            </a:r>
            <a:endParaRPr sz="22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0740" y="993328"/>
            <a:ext cx="5085080" cy="3828484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1510"/>
              </a:spcBef>
            </a:pPr>
            <a:r>
              <a:rPr sz="2000" b="1" spc="-10" dirty="0">
                <a:latin typeface="Candara" panose="020E0502030303020204" pitchFamily="34" charset="0"/>
                <a:cs typeface="Arial"/>
              </a:rPr>
              <a:t>Required</a:t>
            </a:r>
            <a:endParaRPr sz="2000" dirty="0">
              <a:latin typeface="Candara" panose="020E0502030303020204" pitchFamily="34" charset="0"/>
              <a:cs typeface="Arial"/>
            </a:endParaRPr>
          </a:p>
          <a:p>
            <a:pPr marL="422275" marR="5080" indent="-410209">
              <a:lnSpc>
                <a:spcPct val="113599"/>
              </a:lnSpc>
              <a:spcBef>
                <a:spcPts val="1050"/>
              </a:spcBef>
              <a:tabLst>
                <a:tab pos="422275" algn="l"/>
              </a:tabLst>
            </a:pPr>
            <a:r>
              <a:rPr sz="2000" spc="75" dirty="0">
                <a:latin typeface="Candara" panose="020E0502030303020204" pitchFamily="34" charset="0"/>
                <a:cs typeface="Arial MT"/>
              </a:rPr>
              <a:t>+</a:t>
            </a:r>
            <a:r>
              <a:rPr sz="2000" dirty="0">
                <a:latin typeface="Candara" panose="020E0502030303020204" pitchFamily="34" charset="0"/>
                <a:cs typeface="Arial MT"/>
              </a:rPr>
              <a:t>	</a:t>
            </a:r>
            <a:r>
              <a:rPr sz="2000" spc="18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inputs.&lt;input_id&gt;.required</a:t>
            </a:r>
            <a:r>
              <a:rPr sz="2000" spc="-26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lang="es-ES" sz="2000" dirty="0">
                <a:latin typeface="Candara" panose="020E0502030303020204" pitchFamily="34" charset="0"/>
                <a:cs typeface="Arial MT"/>
              </a:rPr>
              <a:t>si es o no es obligatoria</a:t>
            </a:r>
            <a:r>
              <a:rPr sz="2000" spc="-10" dirty="0">
                <a:latin typeface="Candara" panose="020E0502030303020204" pitchFamily="34" charset="0"/>
                <a:cs typeface="Arial MT"/>
              </a:rPr>
              <a:t>.</a:t>
            </a:r>
            <a:endParaRPr sz="2000" dirty="0">
              <a:latin typeface="Candara" panose="020E0502030303020204" pitchFamily="34" charset="0"/>
              <a:cs typeface="Arial MT"/>
            </a:endParaRPr>
          </a:p>
          <a:p>
            <a:pPr marL="422275">
              <a:lnSpc>
                <a:spcPct val="100000"/>
              </a:lnSpc>
              <a:spcBef>
                <a:spcPts val="360"/>
              </a:spcBef>
            </a:pPr>
            <a:r>
              <a:rPr sz="2000" i="1" spc="-10" dirty="0">
                <a:latin typeface="Candara" panose="020E0502030303020204" pitchFamily="34" charset="0"/>
                <a:cs typeface="Trebuchet MS"/>
              </a:rPr>
              <a:t>Optional</a:t>
            </a:r>
            <a:endParaRPr sz="2000" dirty="0">
              <a:latin typeface="Candara" panose="020E0502030303020204" pitchFamily="34" charset="0"/>
              <a:cs typeface="Trebuchet MS"/>
            </a:endParaRPr>
          </a:p>
          <a:p>
            <a:pPr marL="422275" marR="177800" indent="-410209">
              <a:lnSpc>
                <a:spcPct val="113599"/>
              </a:lnSpc>
              <a:spcBef>
                <a:spcPts val="1050"/>
              </a:spcBef>
              <a:tabLst>
                <a:tab pos="422275" algn="l"/>
              </a:tabLst>
            </a:pPr>
            <a:r>
              <a:rPr sz="2000" spc="75" dirty="0">
                <a:latin typeface="Candara" panose="020E0502030303020204" pitchFamily="34" charset="0"/>
                <a:cs typeface="Arial MT"/>
              </a:rPr>
              <a:t>+</a:t>
            </a:r>
            <a:r>
              <a:rPr sz="2000" dirty="0">
                <a:latin typeface="Candara" panose="020E0502030303020204" pitchFamily="34" charset="0"/>
                <a:cs typeface="Arial MT"/>
              </a:rPr>
              <a:t>	</a:t>
            </a:r>
            <a:r>
              <a:rPr sz="2000" spc="20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inputs.&lt;input_id&gt;.default</a:t>
            </a:r>
            <a:r>
              <a:rPr sz="2000" spc="-25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lang="es-ES" sz="2000" spc="90" dirty="0">
                <a:latin typeface="Candara" panose="020E0502030303020204" pitchFamily="34" charset="0"/>
                <a:cs typeface="Arial MT"/>
              </a:rPr>
              <a:t>–</a:t>
            </a:r>
            <a:r>
              <a:rPr sz="2000" spc="90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000" spc="-90" dirty="0">
                <a:latin typeface="Candara" panose="020E0502030303020204" pitchFamily="34" charset="0"/>
                <a:cs typeface="Arial MT"/>
              </a:rPr>
              <a:t>valor por defecto a usar</a:t>
            </a:r>
            <a:r>
              <a:rPr sz="2000" spc="-90" dirty="0">
                <a:latin typeface="Candara" panose="020E0502030303020204" pitchFamily="34" charset="0"/>
                <a:cs typeface="Arial MT"/>
              </a:rPr>
              <a:t>.</a:t>
            </a:r>
            <a:r>
              <a:rPr sz="2000" spc="-60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000" spc="-60" dirty="0">
                <a:latin typeface="Candara" panose="020E0502030303020204" pitchFamily="34" charset="0"/>
                <a:cs typeface="Arial MT"/>
              </a:rPr>
              <a:t> </a:t>
            </a:r>
            <a:r>
              <a:rPr sz="2000" i="1" spc="-10" dirty="0">
                <a:latin typeface="Candara" panose="020E0502030303020204" pitchFamily="34" charset="0"/>
                <a:cs typeface="Trebuchet MS"/>
              </a:rPr>
              <a:t>Optional</a:t>
            </a:r>
            <a:endParaRPr sz="2000" dirty="0">
              <a:latin typeface="Candara" panose="020E0502030303020204" pitchFamily="34" charset="0"/>
              <a:cs typeface="Trebuchet MS"/>
            </a:endParaRPr>
          </a:p>
          <a:p>
            <a:pPr marL="12700">
              <a:spcBef>
                <a:spcPts val="1410"/>
              </a:spcBef>
              <a:tabLst>
                <a:tab pos="422275" algn="l"/>
              </a:tabLst>
            </a:pPr>
            <a:r>
              <a:rPr lang="es-ES" sz="2000" spc="75" dirty="0">
                <a:latin typeface="Candara" panose="020E0502030303020204" pitchFamily="34" charset="0"/>
                <a:cs typeface="Arial MT"/>
              </a:rPr>
              <a:t>+    </a:t>
            </a:r>
            <a:r>
              <a:rPr lang="es-ES" sz="2000" spc="20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</a:t>
            </a:r>
            <a:r>
              <a:rPr lang="es-ES" sz="2000" spc="204" dirty="0" err="1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input_id</a:t>
            </a:r>
            <a:r>
              <a:rPr lang="es-ES" sz="2000" spc="20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&gt;.</a:t>
            </a:r>
            <a:r>
              <a:rPr lang="es-ES" sz="2000" spc="204" dirty="0" err="1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type</a:t>
            </a:r>
            <a:r>
              <a:rPr lang="es-ES" sz="2000" spc="-25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lang="es-ES" sz="2000" spc="90" dirty="0">
                <a:latin typeface="Candara" panose="020E0502030303020204" pitchFamily="34" charset="0"/>
                <a:cs typeface="Arial MT"/>
              </a:rPr>
              <a:t>– </a:t>
            </a:r>
            <a:r>
              <a:rPr lang="es-ES" sz="2000" spc="-90" dirty="0">
                <a:latin typeface="Candara" panose="020E0502030303020204" pitchFamily="34" charset="0"/>
              </a:rPr>
              <a:t>Tipo de dato 	del input.  </a:t>
            </a:r>
            <a:r>
              <a:rPr lang="es-ES" sz="2000" spc="-90" dirty="0" err="1">
                <a:latin typeface="Candara" panose="020E0502030303020204" pitchFamily="34" charset="0"/>
              </a:rPr>
              <a:t>Optional</a:t>
            </a:r>
            <a:endParaRPr lang="es-ES" sz="2000" spc="-90" dirty="0">
              <a:latin typeface="Candara" panose="020E0502030303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  <a:tabLst>
                <a:tab pos="422275" algn="l"/>
              </a:tabLst>
            </a:pPr>
            <a:endParaRPr sz="2000" dirty="0">
              <a:latin typeface="Candara" panose="020E0502030303020204" pitchFamily="34" charset="0"/>
              <a:cs typeface="Arial MT"/>
            </a:endParaRPr>
          </a:p>
        </p:txBody>
      </p:sp>
      <p:pic>
        <p:nvPicPr>
          <p:cNvPr id="5" name="Picture 4" descr="420+ Input Data Icon Stock Illustrations, Royalty-Free ...">
            <a:extLst>
              <a:ext uri="{FF2B5EF4-FFF2-40B4-BE49-F238E27FC236}">
                <a16:creationId xmlns:a16="http://schemas.microsoft.com/office/drawing/2014/main" id="{7F128327-C1F4-4624-CC8C-8A1FB5EA9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41" y="1590533"/>
            <a:ext cx="23431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0" y="2157795"/>
            <a:ext cx="2209800" cy="523110"/>
          </a:xfrm>
          <a:custGeom>
            <a:avLst/>
            <a:gdLst/>
            <a:ahLst/>
            <a:cxnLst/>
            <a:rect l="l" t="t" r="r" b="b"/>
            <a:pathLst>
              <a:path w="2536190" h="701039">
                <a:moveTo>
                  <a:pt x="2536078" y="701039"/>
                </a:moveTo>
                <a:lnTo>
                  <a:pt x="0" y="701039"/>
                </a:lnTo>
                <a:lnTo>
                  <a:pt x="0" y="0"/>
                </a:lnTo>
                <a:lnTo>
                  <a:pt x="2536078" y="0"/>
                </a:lnTo>
                <a:lnTo>
                  <a:pt x="2536078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60264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Nuestro tercer </a:t>
            </a:r>
            <a:r>
              <a:rPr lang="es-ES" dirty="0" err="1"/>
              <a:t>workflow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third.yaml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293" y="606500"/>
            <a:ext cx="6247130" cy="2133600"/>
          </a:xfrm>
          <a:custGeom>
            <a:avLst/>
            <a:gdLst/>
            <a:ahLst/>
            <a:cxnLst/>
            <a:rect l="l" t="t" r="r" b="b"/>
            <a:pathLst>
              <a:path w="6247130" h="2133600">
                <a:moveTo>
                  <a:pt x="6246977" y="1524000"/>
                </a:moveTo>
                <a:lnTo>
                  <a:pt x="2133117" y="1524000"/>
                </a:lnTo>
                <a:lnTo>
                  <a:pt x="2133117" y="1219200"/>
                </a:lnTo>
                <a:lnTo>
                  <a:pt x="1676019" y="1219200"/>
                </a:lnTo>
                <a:lnTo>
                  <a:pt x="1676019" y="914400"/>
                </a:lnTo>
                <a:lnTo>
                  <a:pt x="3047301" y="914400"/>
                </a:lnTo>
                <a:lnTo>
                  <a:pt x="3047301" y="609600"/>
                </a:lnTo>
                <a:lnTo>
                  <a:pt x="457098" y="609600"/>
                </a:lnTo>
                <a:lnTo>
                  <a:pt x="457098" y="304800"/>
                </a:lnTo>
                <a:lnTo>
                  <a:pt x="5180419" y="304800"/>
                </a:lnTo>
                <a:lnTo>
                  <a:pt x="5180419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2133600"/>
                </a:lnTo>
                <a:lnTo>
                  <a:pt x="3352038" y="2133600"/>
                </a:lnTo>
                <a:lnTo>
                  <a:pt x="3352038" y="1828800"/>
                </a:lnTo>
                <a:lnTo>
                  <a:pt x="6246977" y="1828800"/>
                </a:lnTo>
                <a:lnTo>
                  <a:pt x="6246977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93" y="3044901"/>
            <a:ext cx="8380095" cy="1524000"/>
          </a:xfrm>
          <a:custGeom>
            <a:avLst/>
            <a:gdLst/>
            <a:ahLst/>
            <a:cxnLst/>
            <a:rect l="l" t="t" r="r" b="b"/>
            <a:pathLst>
              <a:path w="8380095" h="1524000">
                <a:moveTo>
                  <a:pt x="8380082" y="1219200"/>
                </a:moveTo>
                <a:lnTo>
                  <a:pt x="1523657" y="1219200"/>
                </a:lnTo>
                <a:lnTo>
                  <a:pt x="1523657" y="914400"/>
                </a:lnTo>
                <a:lnTo>
                  <a:pt x="3961498" y="914400"/>
                </a:lnTo>
                <a:lnTo>
                  <a:pt x="3961498" y="609600"/>
                </a:lnTo>
                <a:lnTo>
                  <a:pt x="5028057" y="609600"/>
                </a:lnTo>
                <a:lnTo>
                  <a:pt x="5028057" y="304800"/>
                </a:lnTo>
                <a:lnTo>
                  <a:pt x="1828380" y="304800"/>
                </a:lnTo>
                <a:lnTo>
                  <a:pt x="1828380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914400"/>
                </a:lnTo>
                <a:lnTo>
                  <a:pt x="0" y="1219200"/>
                </a:lnTo>
                <a:lnTo>
                  <a:pt x="0" y="1524000"/>
                </a:lnTo>
                <a:lnTo>
                  <a:pt x="8380082" y="1524000"/>
                </a:lnTo>
                <a:lnTo>
                  <a:pt x="8380082" y="1219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600" y="583639"/>
            <a:ext cx="8407400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0484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(third) </a:t>
            </a:r>
            <a:r>
              <a:rPr sz="20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622300" marR="5339080" indent="-3048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inputs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thename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1231900" marR="2138680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description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'What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is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your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name?'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required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true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622300" marR="3357245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-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there,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inputs.thename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}}!"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third.yaml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293" y="606500"/>
            <a:ext cx="6247130" cy="2133600"/>
          </a:xfrm>
          <a:custGeom>
            <a:avLst/>
            <a:gdLst/>
            <a:ahLst/>
            <a:cxnLst/>
            <a:rect l="l" t="t" r="r" b="b"/>
            <a:pathLst>
              <a:path w="6247130" h="2133600">
                <a:moveTo>
                  <a:pt x="6246977" y="1524000"/>
                </a:moveTo>
                <a:lnTo>
                  <a:pt x="2133117" y="1524000"/>
                </a:lnTo>
                <a:lnTo>
                  <a:pt x="2133117" y="1219200"/>
                </a:lnTo>
                <a:lnTo>
                  <a:pt x="1676019" y="1219200"/>
                </a:lnTo>
                <a:lnTo>
                  <a:pt x="1676019" y="914400"/>
                </a:lnTo>
                <a:lnTo>
                  <a:pt x="3047301" y="914400"/>
                </a:lnTo>
                <a:lnTo>
                  <a:pt x="3047301" y="609600"/>
                </a:lnTo>
                <a:lnTo>
                  <a:pt x="457098" y="609600"/>
                </a:lnTo>
                <a:lnTo>
                  <a:pt x="457098" y="304800"/>
                </a:lnTo>
                <a:lnTo>
                  <a:pt x="5180419" y="304800"/>
                </a:lnTo>
                <a:lnTo>
                  <a:pt x="5180419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2133600"/>
                </a:lnTo>
                <a:lnTo>
                  <a:pt x="3352038" y="2133600"/>
                </a:lnTo>
                <a:lnTo>
                  <a:pt x="3352038" y="1828800"/>
                </a:lnTo>
                <a:lnTo>
                  <a:pt x="6246977" y="1828800"/>
                </a:lnTo>
                <a:lnTo>
                  <a:pt x="6246977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93" y="3044901"/>
            <a:ext cx="8380095" cy="1524000"/>
          </a:xfrm>
          <a:custGeom>
            <a:avLst/>
            <a:gdLst/>
            <a:ahLst/>
            <a:cxnLst/>
            <a:rect l="l" t="t" r="r" b="b"/>
            <a:pathLst>
              <a:path w="8380095" h="1524000">
                <a:moveTo>
                  <a:pt x="8380082" y="1219200"/>
                </a:moveTo>
                <a:lnTo>
                  <a:pt x="1523657" y="1219200"/>
                </a:lnTo>
                <a:lnTo>
                  <a:pt x="1523657" y="914400"/>
                </a:lnTo>
                <a:lnTo>
                  <a:pt x="3961498" y="914400"/>
                </a:lnTo>
                <a:lnTo>
                  <a:pt x="3961498" y="609600"/>
                </a:lnTo>
                <a:lnTo>
                  <a:pt x="5028057" y="609600"/>
                </a:lnTo>
                <a:lnTo>
                  <a:pt x="5028057" y="304800"/>
                </a:lnTo>
                <a:lnTo>
                  <a:pt x="1828380" y="304800"/>
                </a:lnTo>
                <a:lnTo>
                  <a:pt x="1828380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914400"/>
                </a:lnTo>
                <a:lnTo>
                  <a:pt x="0" y="1219200"/>
                </a:lnTo>
                <a:lnTo>
                  <a:pt x="0" y="1524000"/>
                </a:lnTo>
                <a:lnTo>
                  <a:pt x="8380082" y="1524000"/>
                </a:lnTo>
                <a:lnTo>
                  <a:pt x="8380082" y="1219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600" y="583639"/>
            <a:ext cx="8407400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0484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(third) </a:t>
            </a:r>
            <a:r>
              <a:rPr sz="20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622300" marR="5339080" indent="-3048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inputs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thename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1231900" marR="2138680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description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'What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is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your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name?'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required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true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622300" marR="3357245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</a:t>
            </a:r>
            <a:endParaRPr sz="2000" dirty="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-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there,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inputs.thename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}}!"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54F6D1-6527-5C66-DA74-6CADAAD695B8}"/>
              </a:ext>
            </a:extLst>
          </p:cNvPr>
          <p:cNvSpPr txBox="1"/>
          <p:nvPr/>
        </p:nvSpPr>
        <p:spPr>
          <a:xfrm>
            <a:off x="1600200" y="1557884"/>
            <a:ext cx="46446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s-ES" sz="900" dirty="0">
                <a:latin typeface="Candara" panose="020E0502030303020204" pitchFamily="34" charset="0"/>
              </a:rPr>
              <a:t>Define los </a:t>
            </a:r>
            <a:r>
              <a:rPr lang="es-ES" sz="900" b="1" dirty="0">
                <a:latin typeface="Candara" panose="020E0502030303020204" pitchFamily="34" charset="0"/>
              </a:rPr>
              <a:t>parámetros que el usuario puede ingresar</a:t>
            </a:r>
            <a:r>
              <a:rPr lang="es-ES" sz="900" dirty="0">
                <a:latin typeface="Candara" panose="020E0502030303020204" pitchFamily="34" charset="0"/>
              </a:rPr>
              <a:t> al ejecutar el </a:t>
            </a:r>
            <a:r>
              <a:rPr lang="es-ES" sz="900" dirty="0" err="1">
                <a:latin typeface="Candara" panose="020E0502030303020204" pitchFamily="34" charset="0"/>
              </a:rPr>
              <a:t>workflow</a:t>
            </a:r>
            <a:r>
              <a:rPr lang="es-ES" sz="900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A8B88D-6F80-A9B1-0282-DF20981529E4}"/>
              </a:ext>
            </a:extLst>
          </p:cNvPr>
          <p:cNvSpPr txBox="1"/>
          <p:nvPr/>
        </p:nvSpPr>
        <p:spPr>
          <a:xfrm>
            <a:off x="1957119" y="1862685"/>
            <a:ext cx="46446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b="1" dirty="0">
                <a:latin typeface="Candara" panose="020E0502030303020204" pitchFamily="34" charset="0"/>
              </a:rPr>
              <a:t>Identificador</a:t>
            </a:r>
            <a:r>
              <a:rPr lang="es-ES" sz="900" dirty="0">
                <a:latin typeface="Candara" panose="020E0502030303020204" pitchFamily="34" charset="0"/>
              </a:rPr>
              <a:t> del input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2BCCAE7-FE94-5A42-98CA-B839E5C3DA92}"/>
              </a:ext>
            </a:extLst>
          </p:cNvPr>
          <p:cNvSpPr txBox="1"/>
          <p:nvPr/>
        </p:nvSpPr>
        <p:spPr>
          <a:xfrm>
            <a:off x="6317107" y="1860147"/>
            <a:ext cx="2514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+mj-lt"/>
              <a:buAutoNum type="arabicPeriod"/>
            </a:pPr>
            <a:r>
              <a:rPr lang="es-ES" sz="900" b="1" dirty="0" err="1">
                <a:latin typeface="Candara" panose="020E0502030303020204" pitchFamily="34" charset="0"/>
              </a:rPr>
              <a:t>description</a:t>
            </a:r>
            <a:r>
              <a:rPr lang="es-ES" sz="900" dirty="0">
                <a:latin typeface="Candara" panose="020E0502030303020204" pitchFamily="34" charset="0"/>
              </a:rPr>
              <a:t>: '</a:t>
            </a:r>
            <a:r>
              <a:rPr lang="es-ES" sz="900" dirty="0" err="1">
                <a:latin typeface="Candara" panose="020E0502030303020204" pitchFamily="34" charset="0"/>
              </a:rPr>
              <a:t>What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is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your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name</a:t>
            </a:r>
            <a:r>
              <a:rPr lang="es-ES" sz="900" dirty="0">
                <a:latin typeface="Candara" panose="020E0502030303020204" pitchFamily="34" charset="0"/>
              </a:rPr>
              <a:t>?' → le indica al usuario qué ingresar en ese input.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900" b="1" dirty="0" err="1">
                <a:latin typeface="Candara" panose="020E0502030303020204" pitchFamily="34" charset="0"/>
              </a:rPr>
              <a:t>required</a:t>
            </a:r>
            <a:r>
              <a:rPr lang="es-ES" sz="900" dirty="0">
                <a:latin typeface="Candara" panose="020E0502030303020204" pitchFamily="34" charset="0"/>
              </a:rPr>
              <a:t>: true → obliga al usuario a escribir algo; no se puede dejar vacío.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BFAFBF5-F071-D8C5-AE80-958F8CA24C1B}"/>
              </a:ext>
            </a:extLst>
          </p:cNvPr>
          <p:cNvSpPr txBox="1"/>
          <p:nvPr/>
        </p:nvSpPr>
        <p:spPr>
          <a:xfrm>
            <a:off x="6019800" y="3483735"/>
            <a:ext cx="259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latin typeface="Candara" panose="020E0502030303020204" pitchFamily="34" charset="0"/>
              </a:rPr>
              <a:t>Este step ejecuta un comando de </a:t>
            </a:r>
            <a:r>
              <a:rPr lang="es-ES" sz="900" dirty="0" err="1">
                <a:latin typeface="Candara" panose="020E0502030303020204" pitchFamily="34" charset="0"/>
              </a:rPr>
              <a:t>shell</a:t>
            </a:r>
            <a:r>
              <a:rPr lang="es-ES" sz="900" dirty="0">
                <a:latin typeface="Candara" panose="020E0502030303020204" pitchFamily="34" charset="0"/>
              </a:rPr>
              <a:t> (echo).</a:t>
            </a:r>
          </a:p>
          <a:p>
            <a:r>
              <a:rPr lang="es-ES" sz="900" dirty="0">
                <a:latin typeface="Candara" panose="020E0502030303020204" pitchFamily="34" charset="0"/>
              </a:rPr>
              <a:t>${{ </a:t>
            </a:r>
            <a:r>
              <a:rPr lang="es-ES" sz="900" dirty="0" err="1">
                <a:latin typeface="Candara" panose="020E0502030303020204" pitchFamily="34" charset="0"/>
              </a:rPr>
              <a:t>inputs.thename</a:t>
            </a:r>
            <a:r>
              <a:rPr lang="es-ES" sz="900" dirty="0">
                <a:latin typeface="Candara" panose="020E0502030303020204" pitchFamily="34" charset="0"/>
              </a:rPr>
              <a:t> }} es la </a:t>
            </a:r>
            <a:r>
              <a:rPr lang="es-ES" sz="900" b="1" dirty="0">
                <a:latin typeface="Candara" panose="020E0502030303020204" pitchFamily="34" charset="0"/>
              </a:rPr>
              <a:t>variable que contiene el nombre ingresado por el usuario</a:t>
            </a:r>
            <a:r>
              <a:rPr lang="es-ES" sz="900" dirty="0">
                <a:latin typeface="Candara" panose="020E0502030303020204" pitchFamily="34" charset="0"/>
              </a:rPr>
              <a:t> en el </a:t>
            </a:r>
            <a:r>
              <a:rPr lang="es-ES" sz="900" dirty="0" err="1">
                <a:latin typeface="Candara" panose="020E0502030303020204" pitchFamily="34" charset="0"/>
              </a:rPr>
              <a:t>workflow_dispatch</a:t>
            </a:r>
            <a:r>
              <a:rPr lang="es-ES" sz="900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34398FC-62E8-5CE9-89FD-F13E2CB69B5A}"/>
              </a:ext>
            </a:extLst>
          </p:cNvPr>
          <p:cNvSpPr txBox="1"/>
          <p:nvPr/>
        </p:nvSpPr>
        <p:spPr>
          <a:xfrm>
            <a:off x="1922224" y="200184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1" y="2190750"/>
            <a:ext cx="2209800" cy="472440"/>
          </a:xfrm>
          <a:custGeom>
            <a:avLst/>
            <a:gdLst/>
            <a:ahLst/>
            <a:cxnLst/>
            <a:rect l="l" t="t" r="r" b="b"/>
            <a:pathLst>
              <a:path w="2478404" h="701039">
                <a:moveTo>
                  <a:pt x="2478246" y="701039"/>
                </a:moveTo>
                <a:lnTo>
                  <a:pt x="0" y="701039"/>
                </a:lnTo>
                <a:lnTo>
                  <a:pt x="0" y="0"/>
                </a:lnTo>
                <a:lnTo>
                  <a:pt x="2478246" y="0"/>
                </a:lnTo>
                <a:lnTo>
                  <a:pt x="2478246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43561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…y </a:t>
            </a:r>
            <a:r>
              <a:rPr dirty="0"/>
              <a:t>Contexts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51318"/>
            <a:ext cx="175196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Candara" panose="020E0502030303020204" pitchFamily="34" charset="0"/>
                <a:cs typeface="Arial"/>
              </a:rPr>
              <a:t>Contexts</a:t>
            </a:r>
            <a:endParaRPr sz="320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3840" y="364678"/>
            <a:ext cx="5157760" cy="481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+ Proporciona acceso a información sobre ejecuciones de </a:t>
            </a:r>
            <a:r>
              <a:rPr lang="es-ES" sz="2400" b="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workflows</a:t>
            </a:r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, variables, runners, </a:t>
            </a:r>
            <a:r>
              <a:rPr lang="es-ES" sz="2400" b="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jobs</a:t>
            </a:r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 y </a:t>
            </a:r>
            <a:r>
              <a:rPr lang="es-ES" sz="2400" b="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steps</a:t>
            </a:r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.</a:t>
            </a:r>
            <a:b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r>
              <a:rPr lang="es-ES" sz="2400" b="0" dirty="0">
                <a:latin typeface="Candara" panose="020E0502030303020204" pitchFamily="34" charset="0"/>
              </a:rPr>
              <a:t>+ Expuesto como un objeto que contiene propiedades, que pueden ser cadenas u otros objetos</a:t>
            </a:r>
            <a:br>
              <a:rPr lang="es-ES" sz="2400" b="0" dirty="0">
                <a:latin typeface="Candara" panose="020E0502030303020204" pitchFamily="34" charset="0"/>
              </a:rPr>
            </a:br>
            <a:r>
              <a:rPr lang="es-ES" sz="2400" b="0" dirty="0">
                <a:latin typeface="Candara" panose="020E0502030303020204" pitchFamily="34" charset="0"/>
              </a:rPr>
              <a:t>+ </a:t>
            </a:r>
            <a:r>
              <a:rPr lang="es-ES" sz="2400" b="0" dirty="0">
                <a:latin typeface="Candara" panose="020E0502030303020204" pitchFamily="34" charset="0"/>
                <a:hlinkClick r:id="rId2"/>
              </a:rPr>
              <a:t>Doce tipos de contextos</a:t>
            </a:r>
            <a:br>
              <a:rPr lang="es-ES" sz="2400" b="0" dirty="0">
                <a:latin typeface="Candara" panose="020E0502030303020204" pitchFamily="34" charset="0"/>
              </a:rPr>
            </a:br>
            <a:r>
              <a:rPr lang="es-ES" sz="2400" b="0" dirty="0">
                <a:latin typeface="Candara" panose="020E0502030303020204" pitchFamily="34" charset="0"/>
              </a:rPr>
              <a:t>+ Los tipos de contextos disponibles dependerán del contexto en el que se acceda a ellos</a:t>
            </a:r>
            <a:br>
              <a:rPr lang="es-ES" sz="2400" b="0" dirty="0">
                <a:latin typeface="Candara" panose="020E0502030303020204" pitchFamily="34" charset="0"/>
              </a:rPr>
            </a:br>
            <a:br>
              <a:rPr lang="es-ES" sz="2400" b="0" dirty="0">
                <a:latin typeface="Candara" panose="020E0502030303020204" pitchFamily="34" charset="0"/>
              </a:rPr>
            </a:br>
            <a:br>
              <a:rPr lang="es-ES" sz="2400" b="0" dirty="0">
                <a:latin typeface="Candara" panose="020E0502030303020204" pitchFamily="34" charset="0"/>
              </a:rPr>
            </a:br>
            <a:endParaRPr sz="2400" b="0" dirty="0">
              <a:latin typeface="Candara" panose="020E0502030303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22718"/>
            <a:ext cx="175196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  <a:latin typeface="Candara" panose="020E0502030303020204" pitchFamily="34" charset="0"/>
              </a:rPr>
              <a:t>Contexts</a:t>
            </a:r>
            <a:endParaRPr sz="320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877715"/>
            <a:ext cx="703580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000" b="1" dirty="0"/>
              <a:t>La sintaxis para acceder a un contexto dentro de </a:t>
            </a:r>
            <a:r>
              <a:rPr lang="es-ES" sz="2000" b="1" dirty="0" err="1"/>
              <a:t>workflows</a:t>
            </a:r>
            <a:r>
              <a:rPr lang="es-ES" sz="2000" b="1" dirty="0"/>
              <a:t> y acciones compuestas:</a:t>
            </a:r>
          </a:p>
          <a:p>
            <a:r>
              <a:rPr lang="es-ES" sz="2000" dirty="0"/>
              <a:t>${{ &lt;contexto&gt;.&lt;propiedad&gt; }}</a:t>
            </a:r>
          </a:p>
          <a:p>
            <a:br>
              <a:rPr lang="es-ES" sz="2000" dirty="0"/>
            </a:br>
            <a:endParaRPr lang="es-ES" sz="2000" dirty="0"/>
          </a:p>
          <a:p>
            <a:r>
              <a:rPr lang="es-ES" sz="2000" b="1" dirty="0"/>
              <a:t>Ejemplo:</a:t>
            </a:r>
          </a:p>
          <a:p>
            <a:r>
              <a:rPr lang="es-ES" sz="2000" dirty="0"/>
              <a:t>${{ </a:t>
            </a:r>
            <a:r>
              <a:rPr lang="es-ES" sz="2000" dirty="0" err="1"/>
              <a:t>steps.get</a:t>
            </a:r>
            <a:r>
              <a:rPr lang="es-ES" sz="2000" dirty="0"/>
              <a:t>-target-</a:t>
            </a:r>
            <a:r>
              <a:rPr lang="es-ES" sz="2000" dirty="0" err="1"/>
              <a:t>url.outputs.target_url</a:t>
            </a:r>
            <a:r>
              <a:rPr lang="es-ES" sz="2000" dirty="0"/>
              <a:t> }}</a:t>
            </a:r>
          </a:p>
          <a:p>
            <a:r>
              <a:rPr lang="es-ES" sz="2000" dirty="0"/>
              <a:t>${{ </a:t>
            </a:r>
            <a:r>
              <a:rPr lang="es-ES" sz="2000" dirty="0" err="1"/>
              <a:t>inputs.thename</a:t>
            </a:r>
            <a:r>
              <a:rPr lang="es-ES" sz="2000" dirty="0"/>
              <a:t> }}</a:t>
            </a:r>
          </a:p>
          <a:p>
            <a:br>
              <a:rPr lang="es-ES" sz="2000" dirty="0"/>
            </a:br>
            <a:endParaRPr lang="es-ES" sz="2000" dirty="0"/>
          </a:p>
          <a:p>
            <a:br>
              <a:rPr lang="es-ES" sz="2000" dirty="0"/>
            </a:br>
            <a:endParaRPr lang="es-ES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F7561B-B516-A2DA-4464-1E8D73D0018F}"/>
              </a:ext>
            </a:extLst>
          </p:cNvPr>
          <p:cNvSpPr txBox="1"/>
          <p:nvPr/>
        </p:nvSpPr>
        <p:spPr>
          <a:xfrm>
            <a:off x="3962400" y="3182581"/>
            <a:ext cx="4191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dirty="0">
                <a:latin typeface="Candara" panose="020E0502030303020204" pitchFamily="34" charset="0"/>
              </a:rPr>
              <a:t>- id: </a:t>
            </a:r>
            <a:r>
              <a:rPr lang="es-ES_tradnl" sz="1100" dirty="0" err="1">
                <a:latin typeface="Candara" panose="020E0502030303020204" pitchFamily="34" charset="0"/>
              </a:rPr>
              <a:t>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</a:t>
            </a:r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  run: echo "</a:t>
            </a:r>
            <a:r>
              <a:rPr lang="es-ES_tradnl" sz="1100" dirty="0" err="1">
                <a:latin typeface="Candara" panose="020E0502030303020204" pitchFamily="34" charset="0"/>
              </a:rPr>
              <a:t>target_url</a:t>
            </a:r>
            <a:r>
              <a:rPr lang="es-ES_tradnl" sz="1100" dirty="0">
                <a:latin typeface="Candara" panose="020E0502030303020204" pitchFamily="34" charset="0"/>
              </a:rPr>
              <a:t>=https://</a:t>
            </a:r>
            <a:r>
              <a:rPr lang="es-ES_tradnl" sz="1100" dirty="0" err="1">
                <a:latin typeface="Candara" panose="020E0502030303020204" pitchFamily="34" charset="0"/>
              </a:rPr>
              <a:t>example.com</a:t>
            </a:r>
            <a:r>
              <a:rPr lang="es-ES_tradnl" sz="1100" dirty="0">
                <a:latin typeface="Candara" panose="020E0502030303020204" pitchFamily="34" charset="0"/>
              </a:rPr>
              <a:t>" &gt;&gt; $GITHUB_OUTPUT</a:t>
            </a:r>
          </a:p>
          <a:p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- run: echo "La URL es ${{ </a:t>
            </a:r>
            <a:r>
              <a:rPr lang="es-ES_tradnl" sz="1100" dirty="0" err="1">
                <a:latin typeface="Candara" panose="020E0502030303020204" pitchFamily="34" charset="0"/>
              </a:rPr>
              <a:t>steps.get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url.outputs.target_url</a:t>
            </a:r>
            <a:r>
              <a:rPr lang="es-ES_tradnl" sz="1100" dirty="0">
                <a:latin typeface="Candara" panose="020E0502030303020204" pitchFamily="34" charset="0"/>
              </a:rPr>
              <a:t> }}"</a:t>
            </a:r>
          </a:p>
        </p:txBody>
      </p:sp>
      <p:pic>
        <p:nvPicPr>
          <p:cNvPr id="11266" name="Picture 2" descr="Diseño PNG Y SVG De Flecha De Rotación Derecha Para Camisetas">
            <a:extLst>
              <a:ext uri="{FF2B5EF4-FFF2-40B4-BE49-F238E27FC236}">
                <a16:creationId xmlns:a16="http://schemas.microsoft.com/office/drawing/2014/main" id="{A879245F-0F75-7BE3-0E89-C0356938F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797683">
            <a:off x="4980148" y="2198086"/>
            <a:ext cx="1047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4CBB8-4431-6702-59D9-920A400D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C02D22-E7F3-2934-B58E-E4B3C6BC4D8D}"/>
              </a:ext>
            </a:extLst>
          </p:cNvPr>
          <p:cNvSpPr/>
          <p:nvPr/>
        </p:nvSpPr>
        <p:spPr>
          <a:xfrm>
            <a:off x="1295401" y="2190750"/>
            <a:ext cx="2209800" cy="472440"/>
          </a:xfrm>
          <a:custGeom>
            <a:avLst/>
            <a:gdLst/>
            <a:ahLst/>
            <a:cxnLst/>
            <a:rect l="l" t="t" r="r" b="b"/>
            <a:pathLst>
              <a:path w="2478404" h="701039">
                <a:moveTo>
                  <a:pt x="2478246" y="701039"/>
                </a:moveTo>
                <a:lnTo>
                  <a:pt x="0" y="701039"/>
                </a:lnTo>
                <a:lnTo>
                  <a:pt x="0" y="0"/>
                </a:lnTo>
                <a:lnTo>
                  <a:pt x="2478246" y="0"/>
                </a:lnTo>
                <a:lnTo>
                  <a:pt x="2478246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7B295E6-0599-E6D7-342C-F255DA8929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43561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…y </a:t>
            </a:r>
            <a:r>
              <a:rPr lang="es-ES" dirty="0"/>
              <a:t>Gestión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3313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CAD9B-83BB-BAD4-907E-0386824E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3863CA1-B52E-F465-2B24-7CA307394D13}"/>
              </a:ext>
            </a:extLst>
          </p:cNvPr>
          <p:cNvSpPr txBox="1"/>
          <p:nvPr/>
        </p:nvSpPr>
        <p:spPr>
          <a:xfrm>
            <a:off x="444500" y="451318"/>
            <a:ext cx="27559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spc="-10" dirty="0">
                <a:latin typeface="Candara" panose="020E0502030303020204" pitchFamily="34" charset="0"/>
                <a:cs typeface="Arial"/>
              </a:rPr>
              <a:t>Configuración Dinámica</a:t>
            </a:r>
            <a:endParaRPr sz="3200" dirty="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5A7FC4-4C22-3287-DFCC-0486F38AA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33840" y="364678"/>
            <a:ext cx="5157760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+ </a:t>
            </a:r>
            <a:r>
              <a:rPr lang="es-ES" sz="200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Variables de Entorno (</a:t>
            </a:r>
            <a:r>
              <a:rPr lang="es-ES" sz="200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env</a:t>
            </a:r>
            <a:r>
              <a:rPr lang="es-ES" sz="200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)</a:t>
            </a:r>
            <a: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: Permiten definir valores reutilizables en todo el </a:t>
            </a:r>
            <a:r>
              <a:rPr lang="es-ES" sz="2000" b="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workflow</a:t>
            </a:r>
            <a: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 (ej. Nombre BBDD)</a:t>
            </a:r>
            <a:b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b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b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b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b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r>
              <a:rPr lang="es-ES" sz="2000" b="0" dirty="0">
                <a:latin typeface="Candara" panose="020E0502030303020204" pitchFamily="34" charset="0"/>
              </a:rPr>
              <a:t>+ </a:t>
            </a:r>
            <a:r>
              <a:rPr lang="es-ES" sz="2000" dirty="0">
                <a:latin typeface="Candara" panose="020E0502030303020204" pitchFamily="34" charset="0"/>
              </a:rPr>
              <a:t>Secretos (</a:t>
            </a:r>
            <a:r>
              <a:rPr lang="es-ES" sz="2000" dirty="0" err="1">
                <a:latin typeface="Candara" panose="020E0502030303020204" pitchFamily="34" charset="0"/>
              </a:rPr>
              <a:t>secrets</a:t>
            </a:r>
            <a:r>
              <a:rPr lang="es-ES" sz="2000" dirty="0">
                <a:latin typeface="Candara" panose="020E0502030303020204" pitchFamily="34" charset="0"/>
              </a:rPr>
              <a:t>)</a:t>
            </a:r>
            <a:r>
              <a:rPr lang="es-ES" sz="2000" b="0" dirty="0">
                <a:latin typeface="Candara" panose="020E0502030303020204" pitchFamily="34" charset="0"/>
              </a:rPr>
              <a:t> Datos sensibles que nunca deben de estar en el código (contraseñas, </a:t>
            </a:r>
            <a:r>
              <a:rPr lang="es-ES" sz="2000" b="0" dirty="0" err="1">
                <a:latin typeface="Candara" panose="020E0502030303020204" pitchFamily="34" charset="0"/>
              </a:rPr>
              <a:t>keys</a:t>
            </a:r>
            <a:r>
              <a:rPr lang="es-ES" sz="2000" b="0" dirty="0">
                <a:latin typeface="Candara" panose="020E0502030303020204" pitchFamily="34" charset="0"/>
              </a:rPr>
              <a:t>…) </a:t>
            </a:r>
            <a:r>
              <a:rPr lang="es-ES" sz="2000" b="0" dirty="0" err="1">
                <a:latin typeface="Candara" panose="020E0502030303020204" pitchFamily="34" charset="0"/>
              </a:rPr>
              <a:t>Github</a:t>
            </a:r>
            <a:r>
              <a:rPr lang="es-ES" sz="2000" b="0" dirty="0">
                <a:latin typeface="Candara" panose="020E0502030303020204" pitchFamily="34" charset="0"/>
              </a:rPr>
              <a:t> los enmascara directamente con ***</a:t>
            </a:r>
            <a:br>
              <a:rPr lang="es-ES" sz="2000" b="0" dirty="0">
                <a:latin typeface="Candara" panose="020E0502030303020204" pitchFamily="34" charset="0"/>
              </a:rPr>
            </a:br>
            <a:br>
              <a:rPr lang="es-ES" sz="2000" b="0" dirty="0">
                <a:latin typeface="Candara" panose="020E0502030303020204" pitchFamily="34" charset="0"/>
              </a:rPr>
            </a:br>
            <a:br>
              <a:rPr lang="es-ES" sz="2000" b="0" dirty="0">
                <a:latin typeface="Candara" panose="020E0502030303020204" pitchFamily="34" charset="0"/>
              </a:rPr>
            </a:br>
            <a:endParaRPr sz="2000" b="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A40432-3176-F384-D858-3B9B4A9F7312}"/>
              </a:ext>
            </a:extLst>
          </p:cNvPr>
          <p:cNvSpPr txBox="1"/>
          <p:nvPr/>
        </p:nvSpPr>
        <p:spPr>
          <a:xfrm>
            <a:off x="4419600" y="1462928"/>
            <a:ext cx="4191000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s-ES" sz="1100" dirty="0" err="1">
                <a:latin typeface="Candara" panose="020E0502030303020204" pitchFamily="34" charset="0"/>
              </a:rPr>
              <a:t>env</a:t>
            </a:r>
            <a:r>
              <a:rPr lang="es-ES" sz="1100" dirty="0">
                <a:latin typeface="Candara" panose="020E0502030303020204" pitchFamily="34" charset="0"/>
              </a:rPr>
              <a:t>:</a:t>
            </a:r>
          </a:p>
          <a:p>
            <a:pPr>
              <a:lnSpc>
                <a:spcPts val="1350"/>
              </a:lnSpc>
            </a:pPr>
            <a:r>
              <a:rPr lang="es-ES" sz="1100" dirty="0">
                <a:latin typeface="Candara" panose="020E0502030303020204" pitchFamily="34" charset="0"/>
              </a:rPr>
              <a:t>	GLOBAL_USER: "</a:t>
            </a:r>
            <a:r>
              <a:rPr lang="es-ES" sz="1100" dirty="0" err="1">
                <a:latin typeface="Candara" panose="020E0502030303020204" pitchFamily="34" charset="0"/>
              </a:rPr>
              <a:t>estudiante_edem</a:t>
            </a:r>
            <a:r>
              <a:rPr lang="es-ES" sz="1100" dirty="0">
                <a:latin typeface="Candara" panose="020E0502030303020204" pitchFamily="34" charset="0"/>
              </a:rPr>
              <a:t>"</a:t>
            </a:r>
          </a:p>
          <a:p>
            <a:pPr>
              <a:lnSpc>
                <a:spcPts val="1350"/>
              </a:lnSpc>
            </a:pP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>
                <a:latin typeface="Candara" panose="020E0502030303020204" pitchFamily="34" charset="0"/>
              </a:rPr>
              <a:t>run: echo "El usuario en Job 1 es $GLOBAL_USER"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762D4E-66E2-F321-013B-980AE91F8E82}"/>
              </a:ext>
            </a:extLst>
          </p:cNvPr>
          <p:cNvSpPr txBox="1"/>
          <p:nvPr/>
        </p:nvSpPr>
        <p:spPr>
          <a:xfrm>
            <a:off x="4569941" y="3790950"/>
            <a:ext cx="45843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run: </a:t>
            </a:r>
            <a:r>
              <a:rPr lang="es-ES" sz="1100" dirty="0" err="1">
                <a:latin typeface="Candara" panose="020E0502030303020204" pitchFamily="34" charset="0"/>
              </a:rPr>
              <a:t>login</a:t>
            </a:r>
            <a:r>
              <a:rPr lang="es-ES" sz="1100" dirty="0">
                <a:latin typeface="Candara" panose="020E0502030303020204" pitchFamily="34" charset="0"/>
              </a:rPr>
              <a:t> –</a:t>
            </a:r>
            <a:r>
              <a:rPr lang="es-ES" sz="1100" dirty="0" err="1">
                <a:latin typeface="Candara" panose="020E0502030303020204" pitchFamily="34" charset="0"/>
              </a:rPr>
              <a:t>pass</a:t>
            </a:r>
            <a:r>
              <a:rPr lang="es-ES" sz="1100" dirty="0">
                <a:latin typeface="Candara" panose="020E0502030303020204" pitchFamily="34" charset="0"/>
              </a:rPr>
              <a:t> ${{ </a:t>
            </a:r>
            <a:r>
              <a:rPr lang="es-ES" sz="1100" dirty="0" err="1">
                <a:latin typeface="Candara" panose="020E0502030303020204" pitchFamily="34" charset="0"/>
              </a:rPr>
              <a:t>secrets.DB_PASSWORD</a:t>
            </a:r>
            <a:r>
              <a:rPr lang="es-ES" sz="1100" dirty="0">
                <a:latin typeface="Candara" panose="020E0502030303020204" pitchFamily="34" charset="0"/>
              </a:rPr>
              <a:t> }}</a:t>
            </a:r>
            <a:endParaRPr lang="es-ES_tradnl" sz="1100" dirty="0"/>
          </a:p>
        </p:txBody>
      </p:sp>
      <p:pic>
        <p:nvPicPr>
          <p:cNvPr id="1026" name="Picture 2" descr="GitHub - BBVA/gitsec: gitsec: GIT Secret Discovery">
            <a:extLst>
              <a:ext uri="{FF2B5EF4-FFF2-40B4-BE49-F238E27FC236}">
                <a16:creationId xmlns:a16="http://schemas.microsoft.com/office/drawing/2014/main" id="{1904A90E-8DE9-FDC5-4AC3-31D204964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624110"/>
            <a:ext cx="1166840" cy="116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03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7858A-6D55-BF05-0A77-93749F28C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8150"/>
            <a:ext cx="2886504" cy="492443"/>
          </a:xfrm>
        </p:spPr>
        <p:txBody>
          <a:bodyPr/>
          <a:lstStyle/>
          <a:p>
            <a:r>
              <a:rPr lang="es-ES_tradnl" sz="3200" dirty="0">
                <a:latin typeface="Candara" panose="020E0502030303020204" pitchFamily="34" charset="0"/>
              </a:rPr>
              <a:t>Matrix </a:t>
            </a:r>
            <a:r>
              <a:rPr lang="es-ES_tradnl" sz="3200" dirty="0" err="1">
                <a:latin typeface="Candara" panose="020E0502030303020204" pitchFamily="34" charset="0"/>
              </a:rPr>
              <a:t>Strategy</a:t>
            </a:r>
            <a:endParaRPr lang="es-ES_tradnl" sz="3200" dirty="0">
              <a:latin typeface="Candara" panose="020E0502030303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447CA8-1D2D-26CE-6841-6ACBE3835324}"/>
              </a:ext>
            </a:extLst>
          </p:cNvPr>
          <p:cNvSpPr txBox="1"/>
          <p:nvPr/>
        </p:nvSpPr>
        <p:spPr>
          <a:xfrm>
            <a:off x="4114800" y="361950"/>
            <a:ext cx="4572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1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+ </a:t>
            </a:r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Ejecuta un mismo Job </a:t>
            </a:r>
            <a:r>
              <a:rPr lang="es-ES" sz="2100" b="1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múltiples</a:t>
            </a:r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 veces con diferentes configuraciones de forma simultánea.</a:t>
            </a:r>
          </a:p>
          <a:p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</a:rPr>
              <a:t>+ Muy utilizado para probar </a:t>
            </a:r>
            <a:r>
              <a:rPr lang="es-ES" sz="2100" b="1" spc="75" dirty="0">
                <a:solidFill>
                  <a:srgbClr val="000000"/>
                </a:solidFill>
                <a:latin typeface="Candara" panose="020E0502030303020204" pitchFamily="34" charset="0"/>
              </a:rPr>
              <a:t>compatibilidad de código </a:t>
            </a:r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</a:rPr>
              <a:t>entre versiones (Python o SO)</a:t>
            </a:r>
          </a:p>
          <a:p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</a:rPr>
              <a:t>+Automatiza la </a:t>
            </a:r>
            <a:r>
              <a:rPr lang="es-ES" sz="2100" b="1" spc="75" dirty="0">
                <a:solidFill>
                  <a:srgbClr val="000000"/>
                </a:solidFill>
                <a:latin typeface="Candara" panose="020E0502030303020204" pitchFamily="34" charset="0"/>
              </a:rPr>
              <a:t>redundancia</a:t>
            </a:r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</a:rPr>
              <a:t> y ahorra cientos de líneas de código de configuración en el archivo YAML</a:t>
            </a:r>
            <a:endParaRPr lang="es-ES_tradnl" sz="21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DF5F31-4A1B-7E2B-F5D0-0C1AFBB6B1DE}"/>
              </a:ext>
            </a:extLst>
          </p:cNvPr>
          <p:cNvSpPr txBox="1"/>
          <p:nvPr/>
        </p:nvSpPr>
        <p:spPr>
          <a:xfrm>
            <a:off x="4108622" y="4012109"/>
            <a:ext cx="67447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 err="1">
                <a:latin typeface="Candara" panose="020E0502030303020204" pitchFamily="34" charset="0"/>
              </a:rPr>
              <a:t>strategy</a:t>
            </a:r>
            <a:r>
              <a:rPr lang="es-ES" sz="1100" dirty="0">
                <a:latin typeface="Candara" panose="020E0502030303020204" pitchFamily="34" charset="0"/>
              </a:rPr>
              <a:t>:</a:t>
            </a: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>
                <a:latin typeface="Candara" panose="020E0502030303020204" pitchFamily="34" charset="0"/>
              </a:rPr>
              <a:t>  </a:t>
            </a:r>
            <a:r>
              <a:rPr lang="es-ES" sz="1100" dirty="0" err="1">
                <a:latin typeface="Candara" panose="020E0502030303020204" pitchFamily="34" charset="0"/>
              </a:rPr>
              <a:t>matrix</a:t>
            </a:r>
            <a:r>
              <a:rPr lang="es-ES" sz="1100" dirty="0">
                <a:latin typeface="Candara" panose="020E0502030303020204" pitchFamily="34" charset="0"/>
              </a:rPr>
              <a:t>:</a:t>
            </a: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>
                <a:latin typeface="Candara" panose="020E0502030303020204" pitchFamily="34" charset="0"/>
              </a:rPr>
              <a:t>    os: [</a:t>
            </a:r>
            <a:r>
              <a:rPr lang="es-ES" sz="1100" dirty="0" err="1">
                <a:latin typeface="Candara" panose="020E0502030303020204" pitchFamily="34" charset="0"/>
              </a:rPr>
              <a:t>ubuntu-latest</a:t>
            </a:r>
            <a:r>
              <a:rPr lang="es-ES" sz="1100" dirty="0">
                <a:latin typeface="Candara" panose="020E0502030303020204" pitchFamily="34" charset="0"/>
              </a:rPr>
              <a:t>, </a:t>
            </a:r>
            <a:r>
              <a:rPr lang="es-ES" sz="1100" dirty="0" err="1">
                <a:latin typeface="Candara" panose="020E0502030303020204" pitchFamily="34" charset="0"/>
              </a:rPr>
              <a:t>windows-latest</a:t>
            </a:r>
            <a:r>
              <a:rPr lang="es-ES" sz="1100" dirty="0">
                <a:latin typeface="Candara" panose="020E0502030303020204" pitchFamily="34" charset="0"/>
              </a:rPr>
              <a:t>, macos-</a:t>
            </a:r>
            <a:r>
              <a:rPr lang="es-ES" sz="1100" dirty="0" err="1">
                <a:latin typeface="Candara" panose="020E0502030303020204" pitchFamily="34" charset="0"/>
              </a:rPr>
              <a:t>latest</a:t>
            </a:r>
            <a:r>
              <a:rPr lang="es-ES" sz="1100" dirty="0">
                <a:latin typeface="Candara" panose="020E0502030303020204" pitchFamily="34" charset="0"/>
              </a:rPr>
              <a:t>]  # Definición de los SO</a:t>
            </a: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 err="1">
                <a:latin typeface="Candara" panose="020E0502030303020204" pitchFamily="34" charset="0"/>
              </a:rPr>
              <a:t>runs</a:t>
            </a:r>
            <a:r>
              <a:rPr lang="es-ES" sz="1100" dirty="0">
                <a:latin typeface="Candara" panose="020E0502030303020204" pitchFamily="34" charset="0"/>
              </a:rPr>
              <a:t>-on: ${{ </a:t>
            </a:r>
            <a:r>
              <a:rPr lang="es-ES" sz="1100" dirty="0" err="1">
                <a:latin typeface="Candara" panose="020E0502030303020204" pitchFamily="34" charset="0"/>
              </a:rPr>
              <a:t>matrix.os</a:t>
            </a:r>
            <a:r>
              <a:rPr lang="es-ES" sz="1100" dirty="0">
                <a:latin typeface="Candara" panose="020E0502030303020204" pitchFamily="34" charset="0"/>
              </a:rPr>
              <a:t> }}                              # Uso de la variable para elegir la máquina</a:t>
            </a:r>
            <a:endParaRPr lang="es-ES_tradnl" sz="1100" dirty="0">
              <a:latin typeface="Candara" panose="020E0502030303020204" pitchFamily="34" charset="0"/>
            </a:endParaRPr>
          </a:p>
        </p:txBody>
      </p:sp>
      <p:pic>
        <p:nvPicPr>
          <p:cNvPr id="2050" name="Picture 2" descr="Decisión - Iconos gratis de negocio">
            <a:extLst>
              <a:ext uri="{FF2B5EF4-FFF2-40B4-BE49-F238E27FC236}">
                <a16:creationId xmlns:a16="http://schemas.microsoft.com/office/drawing/2014/main" id="{AA512126-CDE7-D69A-3B5D-B01B290A5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08751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511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95401" y="2114550"/>
            <a:ext cx="1828799" cy="548640"/>
          </a:xfrm>
          <a:custGeom>
            <a:avLst/>
            <a:gdLst/>
            <a:ahLst/>
            <a:cxnLst/>
            <a:rect l="l" t="t" r="r" b="b"/>
            <a:pathLst>
              <a:path w="2129154" h="701039">
                <a:moveTo>
                  <a:pt x="2128634" y="701039"/>
                </a:moveTo>
                <a:lnTo>
                  <a:pt x="0" y="701039"/>
                </a:lnTo>
                <a:lnTo>
                  <a:pt x="0" y="0"/>
                </a:lnTo>
                <a:lnTo>
                  <a:pt x="2128634" y="0"/>
                </a:lnTo>
                <a:lnTo>
                  <a:pt x="2128634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0600" y="2050132"/>
            <a:ext cx="40049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…y outputs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51318"/>
            <a:ext cx="21463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>
                <a:latin typeface="Candara" panose="020E0502030303020204" pitchFamily="34" charset="0"/>
              </a:rPr>
              <a:t>Outputs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68649" y="1070418"/>
            <a:ext cx="491744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Datos que devolverá una acción o paso al completarse</a:t>
            </a:r>
          </a:p>
          <a:p>
            <a:endParaRPr lang="es-E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Las </a:t>
            </a:r>
            <a:r>
              <a:rPr lang="es-ES" dirty="0" err="1">
                <a:latin typeface="Candara" panose="020E0502030303020204" pitchFamily="34" charset="0"/>
              </a:rPr>
              <a:t>actions</a:t>
            </a:r>
            <a:r>
              <a:rPr lang="es-ES" dirty="0">
                <a:latin typeface="Candara" panose="020E0502030303020204" pitchFamily="34" charset="0"/>
              </a:rPr>
              <a:t>/</a:t>
            </a:r>
            <a:r>
              <a:rPr lang="es-ES" dirty="0" err="1">
                <a:latin typeface="Candara" panose="020E0502030303020204" pitchFamily="34" charset="0"/>
              </a:rPr>
              <a:t>steps</a:t>
            </a:r>
            <a:r>
              <a:rPr lang="es-ES" dirty="0">
                <a:latin typeface="Candara" panose="020E0502030303020204" pitchFamily="34" charset="0"/>
              </a:rPr>
              <a:t> que se ejecutan más adelante en un </a:t>
            </a:r>
            <a:r>
              <a:rPr lang="es-ES" dirty="0" err="1">
                <a:latin typeface="Candara" panose="020E0502030303020204" pitchFamily="34" charset="0"/>
              </a:rPr>
              <a:t>workflow</a:t>
            </a:r>
            <a:r>
              <a:rPr lang="es-ES" dirty="0">
                <a:latin typeface="Candara" panose="020E0502030303020204" pitchFamily="34" charset="0"/>
              </a:rPr>
              <a:t> pueden utilizar el conjunto de datos de salida (output) establecido en la </a:t>
            </a:r>
            <a:r>
              <a:rPr lang="es-ES" dirty="0" err="1">
                <a:latin typeface="Candara" panose="020E0502030303020204" pitchFamily="34" charset="0"/>
              </a:rPr>
              <a:t>action</a:t>
            </a:r>
            <a:r>
              <a:rPr lang="es-ES" dirty="0">
                <a:latin typeface="Candara" panose="020E0502030303020204" pitchFamily="34" charset="0"/>
              </a:rPr>
              <a:t>/step ejecutado anteriormente.</a:t>
            </a:r>
          </a:p>
          <a:p>
            <a:br>
              <a:rPr lang="es-ES" dirty="0">
                <a:latin typeface="Candara" panose="020E0502030303020204" pitchFamily="34" charset="0"/>
              </a:rPr>
            </a:br>
            <a:endParaRPr lang="es-ES" dirty="0">
              <a:latin typeface="Candara" panose="020E0502030303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DAAE66-63B0-5EAB-851B-56516F452BB4}"/>
              </a:ext>
            </a:extLst>
          </p:cNvPr>
          <p:cNvSpPr txBox="1"/>
          <p:nvPr/>
        </p:nvSpPr>
        <p:spPr>
          <a:xfrm>
            <a:off x="4114800" y="3943350"/>
            <a:ext cx="4191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dirty="0">
                <a:latin typeface="Candara" panose="020E0502030303020204" pitchFamily="34" charset="0"/>
              </a:rPr>
              <a:t>- id: </a:t>
            </a:r>
            <a:r>
              <a:rPr lang="es-ES_tradnl" sz="1100" dirty="0" err="1">
                <a:latin typeface="Candara" panose="020E0502030303020204" pitchFamily="34" charset="0"/>
              </a:rPr>
              <a:t>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</a:t>
            </a:r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  run: echo "</a:t>
            </a:r>
            <a:r>
              <a:rPr lang="es-ES_tradnl" sz="1100" dirty="0" err="1">
                <a:latin typeface="Candara" panose="020E0502030303020204" pitchFamily="34" charset="0"/>
              </a:rPr>
              <a:t>target_url</a:t>
            </a:r>
            <a:r>
              <a:rPr lang="es-ES_tradnl" sz="1100" dirty="0">
                <a:latin typeface="Candara" panose="020E0502030303020204" pitchFamily="34" charset="0"/>
              </a:rPr>
              <a:t>=https://</a:t>
            </a:r>
            <a:r>
              <a:rPr lang="es-ES_tradnl" sz="1100" dirty="0" err="1">
                <a:latin typeface="Candara" panose="020E0502030303020204" pitchFamily="34" charset="0"/>
              </a:rPr>
              <a:t>example.com</a:t>
            </a:r>
            <a:r>
              <a:rPr lang="es-ES_tradnl" sz="1100" dirty="0">
                <a:latin typeface="Candara" panose="020E0502030303020204" pitchFamily="34" charset="0"/>
              </a:rPr>
              <a:t>" &gt;&gt; $GITHUB_OUTPUT</a:t>
            </a:r>
          </a:p>
          <a:p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- run: echo "La URL es ${{ </a:t>
            </a:r>
            <a:r>
              <a:rPr lang="es-ES_tradnl" sz="1100" dirty="0" err="1">
                <a:latin typeface="Candara" panose="020E0502030303020204" pitchFamily="34" charset="0"/>
              </a:rPr>
              <a:t>steps.get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url.outputs.target_url</a:t>
            </a:r>
            <a:r>
              <a:rPr lang="es-ES_tradnl" sz="1100" dirty="0">
                <a:latin typeface="Candara" panose="020E0502030303020204" pitchFamily="34" charset="0"/>
              </a:rPr>
              <a:t> }}"</a:t>
            </a:r>
          </a:p>
        </p:txBody>
      </p:sp>
      <p:sp>
        <p:nvSpPr>
          <p:cNvPr id="5" name="Flecha arriba y abajo 4">
            <a:extLst>
              <a:ext uri="{FF2B5EF4-FFF2-40B4-BE49-F238E27FC236}">
                <a16:creationId xmlns:a16="http://schemas.microsoft.com/office/drawing/2014/main" id="{B965F976-3F5A-527E-2BFB-0E6A0F698D04}"/>
              </a:ext>
            </a:extLst>
          </p:cNvPr>
          <p:cNvSpPr/>
          <p:nvPr/>
        </p:nvSpPr>
        <p:spPr>
          <a:xfrm>
            <a:off x="6248400" y="3257550"/>
            <a:ext cx="228600" cy="76200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98918"/>
            <a:ext cx="1565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Outputs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56975" y="1191998"/>
            <a:ext cx="7387590" cy="334899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s-ES" sz="2100" b="1" dirty="0">
                <a:latin typeface="Arial"/>
                <a:cs typeface="Arial"/>
              </a:rPr>
              <a:t>Establecer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lang="es-ES" sz="2100" b="1" spc="-20" dirty="0">
                <a:latin typeface="Arial"/>
                <a:cs typeface="Arial"/>
              </a:rPr>
              <a:t>un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output: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4653915" algn="l"/>
                <a:tab pos="5133975" algn="l"/>
              </a:tabLst>
            </a:pPr>
            <a:r>
              <a:rPr sz="2100" dirty="0">
                <a:latin typeface="Courier New"/>
                <a:cs typeface="Courier New"/>
              </a:rPr>
              <a:t>echo</a:t>
            </a:r>
            <a:r>
              <a:rPr sz="2100" spc="-105" dirty="0">
                <a:latin typeface="Courier New"/>
                <a:cs typeface="Courier New"/>
              </a:rPr>
              <a:t> </a:t>
            </a:r>
            <a:r>
              <a:rPr sz="2100" dirty="0">
                <a:latin typeface="Courier New"/>
                <a:cs typeface="Courier New"/>
              </a:rPr>
              <a:t>"</a:t>
            </a:r>
            <a:r>
              <a:rPr sz="2100" dirty="0">
                <a:solidFill>
                  <a:srgbClr val="067D17"/>
                </a:solidFill>
                <a:latin typeface="Courier New"/>
                <a:cs typeface="Courier New"/>
              </a:rPr>
              <a:t>&lt;output</a:t>
            </a:r>
            <a:r>
              <a:rPr sz="2100" spc="-10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067D17"/>
                </a:solidFill>
                <a:latin typeface="Courier New"/>
                <a:cs typeface="Courier New"/>
              </a:rPr>
              <a:t>name&gt;=&lt;value&gt;</a:t>
            </a:r>
            <a:r>
              <a:rPr sz="2100" spc="-10" dirty="0">
                <a:latin typeface="Courier New"/>
                <a:cs typeface="Courier New"/>
              </a:rPr>
              <a:t>"</a:t>
            </a:r>
            <a:r>
              <a:rPr sz="2100" dirty="0">
                <a:latin typeface="Courier New"/>
                <a:cs typeface="Courier New"/>
              </a:rPr>
              <a:t>	</a:t>
            </a:r>
            <a:r>
              <a:rPr sz="2100" spc="-25" dirty="0">
                <a:solidFill>
                  <a:srgbClr val="145CC6"/>
                </a:solidFill>
                <a:latin typeface="Courier New"/>
                <a:cs typeface="Courier New"/>
              </a:rPr>
              <a:t>&gt;&gt;</a:t>
            </a:r>
            <a:r>
              <a:rPr sz="2100" dirty="0">
                <a:solidFill>
                  <a:srgbClr val="145CC6"/>
                </a:solidFill>
                <a:latin typeface="Courier New"/>
                <a:cs typeface="Courier New"/>
              </a:rPr>
              <a:t>	</a:t>
            </a:r>
            <a:r>
              <a:rPr sz="2100" spc="-10" dirty="0">
                <a:latin typeface="Courier New"/>
                <a:cs typeface="Courier New"/>
              </a:rPr>
              <a:t>$GITHUB_OUTPUT</a:t>
            </a:r>
            <a:endParaRPr sz="21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lang="es-ES" sz="2100" b="1" spc="-25" dirty="0">
                <a:latin typeface="Arial"/>
                <a:cs typeface="Arial"/>
              </a:rPr>
              <a:t>o</a:t>
            </a:r>
            <a:endParaRPr sz="2100" dirty="0">
              <a:latin typeface="Arial"/>
              <a:cs typeface="Arial"/>
            </a:endParaRPr>
          </a:p>
          <a:p>
            <a:pPr marL="12700" marR="805180">
              <a:lnSpc>
                <a:spcPct val="159700"/>
              </a:lnSpc>
            </a:pPr>
            <a:r>
              <a:rPr sz="2100" dirty="0">
                <a:solidFill>
                  <a:srgbClr val="0033B3"/>
                </a:solidFill>
                <a:latin typeface="Courier New"/>
                <a:cs typeface="Courier New"/>
              </a:rPr>
              <a:t>const</a:t>
            </a:r>
            <a:r>
              <a:rPr sz="2100" spc="-55" dirty="0">
                <a:solidFill>
                  <a:srgbClr val="0033B3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48F8F"/>
                </a:solidFill>
                <a:latin typeface="Courier New"/>
                <a:cs typeface="Courier New"/>
              </a:rPr>
              <a:t>core</a:t>
            </a:r>
            <a:r>
              <a:rPr sz="2100" spc="-55" dirty="0">
                <a:solidFill>
                  <a:srgbClr val="248F8F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80808"/>
                </a:solidFill>
                <a:latin typeface="Courier New"/>
                <a:cs typeface="Courier New"/>
              </a:rPr>
              <a:t>=</a:t>
            </a:r>
            <a:r>
              <a:rPr sz="21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require(</a:t>
            </a:r>
            <a:r>
              <a:rPr sz="2100" spc="-10" dirty="0">
                <a:solidFill>
                  <a:srgbClr val="067D17"/>
                </a:solidFill>
                <a:latin typeface="Courier New"/>
                <a:cs typeface="Courier New"/>
              </a:rPr>
              <a:t>'@actions/core'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); </a:t>
            </a:r>
            <a:r>
              <a:rPr sz="2100" spc="-10" dirty="0">
                <a:solidFill>
                  <a:srgbClr val="248F8F"/>
                </a:solidFill>
                <a:latin typeface="Courier New"/>
                <a:cs typeface="Courier New"/>
              </a:rPr>
              <a:t>core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.setOutput(</a:t>
            </a:r>
            <a:r>
              <a:rPr sz="2100" spc="-10" dirty="0">
                <a:solidFill>
                  <a:srgbClr val="067D17"/>
                </a:solidFill>
                <a:latin typeface="Courier New"/>
                <a:cs typeface="Courier New"/>
              </a:rPr>
              <a:t>"&lt;output</a:t>
            </a:r>
            <a:r>
              <a:rPr sz="2100" spc="-14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67D17"/>
                </a:solidFill>
                <a:latin typeface="Courier New"/>
                <a:cs typeface="Courier New"/>
              </a:rPr>
              <a:t>name&gt;"</a:t>
            </a:r>
            <a:r>
              <a:rPr sz="2100" dirty="0">
                <a:solidFill>
                  <a:srgbClr val="080808"/>
                </a:solidFill>
                <a:latin typeface="Courier New"/>
                <a:cs typeface="Courier New"/>
              </a:rPr>
              <a:t>,</a:t>
            </a:r>
            <a:r>
              <a:rPr sz="2100" spc="-1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&lt;value&gt;); </a:t>
            </a:r>
            <a:r>
              <a:rPr lang="es-ES" sz="2100" b="1" spc="-10" dirty="0">
                <a:latin typeface="Arial"/>
                <a:cs typeface="Arial"/>
              </a:rPr>
              <a:t>Usar</a:t>
            </a:r>
            <a:r>
              <a:rPr sz="2100" b="1" spc="-75" dirty="0">
                <a:latin typeface="Arial"/>
                <a:cs typeface="Arial"/>
              </a:rPr>
              <a:t> </a:t>
            </a:r>
            <a:r>
              <a:rPr lang="es-ES" sz="2100" b="1" dirty="0">
                <a:latin typeface="Arial"/>
                <a:cs typeface="Arial"/>
              </a:rPr>
              <a:t>ese</a:t>
            </a:r>
            <a:r>
              <a:rPr sz="2100" b="1" spc="-75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output: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100" dirty="0">
                <a:latin typeface="Courier New"/>
                <a:cs typeface="Courier New"/>
              </a:rPr>
              <a:t>${{</a:t>
            </a:r>
            <a:r>
              <a:rPr sz="2100" spc="45" dirty="0">
                <a:latin typeface="Courier New"/>
                <a:cs typeface="Courier New"/>
              </a:rPr>
              <a:t> </a:t>
            </a:r>
            <a:r>
              <a:rPr sz="2100" spc="-25" dirty="0">
                <a:latin typeface="Courier New"/>
                <a:cs typeface="Courier New"/>
              </a:rPr>
              <a:t>steps.&lt;step-id&gt;.outputs.&lt;output-</a:t>
            </a:r>
            <a:r>
              <a:rPr sz="2100" dirty="0">
                <a:latin typeface="Courier New"/>
                <a:cs typeface="Courier New"/>
              </a:rPr>
              <a:t>name&gt;</a:t>
            </a:r>
            <a:r>
              <a:rPr sz="2100" spc="50" dirty="0">
                <a:latin typeface="Courier New"/>
                <a:cs typeface="Courier New"/>
              </a:rPr>
              <a:t> </a:t>
            </a:r>
            <a:r>
              <a:rPr sz="2100" spc="-25" dirty="0">
                <a:latin typeface="Courier New"/>
                <a:cs typeface="Courier New"/>
              </a:rPr>
              <a:t>}}</a:t>
            </a:r>
            <a:endParaRPr sz="21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D140A-09AB-5A47-73B2-4652CA99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76" y="232712"/>
            <a:ext cx="2886504" cy="1169551"/>
          </a:xfrm>
        </p:spPr>
        <p:txBody>
          <a:bodyPr/>
          <a:lstStyle/>
          <a:p>
            <a:r>
              <a:rPr lang="es-ES_tradnl" dirty="0">
                <a:latin typeface="Candara" panose="020E0502030303020204" pitchFamily="34" charset="0"/>
              </a:rPr>
              <a:t>Output desde</a:t>
            </a:r>
            <a:br>
              <a:rPr lang="es-ES_tradnl" dirty="0">
                <a:latin typeface="Candara" panose="020E0502030303020204" pitchFamily="34" charset="0"/>
              </a:rPr>
            </a:br>
            <a:r>
              <a:rPr lang="es-ES_tradnl" dirty="0">
                <a:latin typeface="Candara" panose="020E0502030303020204" pitchFamily="34" charset="0"/>
              </a:rPr>
              <a:t>JavaScript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8374B9-77BC-9480-FC0B-66D9A5C93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925" y="232712"/>
            <a:ext cx="4876800" cy="4801314"/>
          </a:xfrm>
        </p:spPr>
        <p:txBody>
          <a:bodyPr/>
          <a:lstStyle/>
          <a:p>
            <a:r>
              <a:rPr lang="es-ES" sz="1200" b="0" dirty="0">
                <a:latin typeface="Candara" panose="020E0502030303020204" pitchFamily="34" charset="0"/>
              </a:rPr>
              <a:t>Se usa el paquete oficial @</a:t>
            </a:r>
            <a:r>
              <a:rPr lang="es-ES" sz="1200" b="0" dirty="0" err="1">
                <a:latin typeface="Candara" panose="020E0502030303020204" pitchFamily="34" charset="0"/>
              </a:rPr>
              <a:t>actions</a:t>
            </a:r>
            <a:r>
              <a:rPr lang="es-ES" sz="1200" b="0" dirty="0">
                <a:latin typeface="Candara" panose="020E0502030303020204" pitchFamily="34" charset="0"/>
              </a:rPr>
              <a:t>/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 de GitHub.</a:t>
            </a:r>
          </a:p>
          <a:p>
            <a:endParaRPr lang="es-ES" sz="1200" b="0" dirty="0">
              <a:latin typeface="Candara" panose="020E0502030303020204" pitchFamily="34" charset="0"/>
            </a:endParaRPr>
          </a:p>
          <a:p>
            <a:pPr rtl="0"/>
            <a:r>
              <a:rPr lang="es-ES" sz="1200" b="0" dirty="0" err="1">
                <a:latin typeface="Candara" panose="020E0502030303020204" pitchFamily="34" charset="0"/>
              </a:rPr>
              <a:t>const</a:t>
            </a:r>
            <a:r>
              <a:rPr lang="es-ES" sz="1200" b="0" dirty="0">
                <a:latin typeface="Candara" panose="020E0502030303020204" pitchFamily="34" charset="0"/>
              </a:rPr>
              <a:t> 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 = </a:t>
            </a:r>
            <a:r>
              <a:rPr lang="es-ES" sz="1200" b="0" dirty="0" err="1">
                <a:latin typeface="Candara" panose="020E0502030303020204" pitchFamily="34" charset="0"/>
              </a:rPr>
              <a:t>require</a:t>
            </a:r>
            <a:r>
              <a:rPr lang="es-ES" sz="1200" b="0" dirty="0">
                <a:latin typeface="Candara" panose="020E0502030303020204" pitchFamily="34" charset="0"/>
              </a:rPr>
              <a:t>('@</a:t>
            </a:r>
            <a:r>
              <a:rPr lang="es-ES" sz="1200" b="0" dirty="0" err="1">
                <a:latin typeface="Candara" panose="020E0502030303020204" pitchFamily="34" charset="0"/>
              </a:rPr>
              <a:t>actions</a:t>
            </a:r>
            <a:r>
              <a:rPr lang="es-ES" sz="1200" b="0" dirty="0">
                <a:latin typeface="Candara" panose="020E0502030303020204" pitchFamily="34" charset="0"/>
              </a:rPr>
              <a:t>/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'); </a:t>
            </a:r>
            <a:r>
              <a:rPr lang="es-ES" sz="1200" b="0" dirty="0" err="1">
                <a:latin typeface="Candara" panose="020E0502030303020204" pitchFamily="34" charset="0"/>
              </a:rPr>
              <a:t>core.setOutput</a:t>
            </a:r>
            <a:r>
              <a:rPr lang="es-ES" sz="1200" b="0" dirty="0">
                <a:latin typeface="Candara" panose="020E0502030303020204" pitchFamily="34" charset="0"/>
              </a:rPr>
              <a:t>("saludo", "Hola Mundo"); </a:t>
            </a:r>
          </a:p>
          <a:p>
            <a:pPr rtl="0"/>
            <a:endParaRPr lang="es-ES" sz="1200" b="0" dirty="0">
              <a:latin typeface="Candara" panose="020E0502030303020204" pitchFamily="34" charset="0"/>
            </a:endParaRPr>
          </a:p>
          <a:p>
            <a:r>
              <a:rPr lang="es-ES" sz="1200" b="0" dirty="0">
                <a:latin typeface="Candara" panose="020E0502030303020204" pitchFamily="34" charset="0"/>
              </a:rPr>
              <a:t>Explicación de cada parte:</a:t>
            </a:r>
          </a:p>
          <a:p>
            <a:pPr>
              <a:buFont typeface="+mj-lt"/>
              <a:buAutoNum type="arabicPeriod"/>
            </a:pPr>
            <a:r>
              <a:rPr lang="es-ES" sz="1200" b="0" dirty="0" err="1">
                <a:latin typeface="Candara" panose="020E0502030303020204" pitchFamily="34" charset="0"/>
              </a:rPr>
              <a:t>const</a:t>
            </a:r>
            <a:r>
              <a:rPr lang="es-ES" sz="1200" b="0" dirty="0">
                <a:latin typeface="Candara" panose="020E0502030303020204" pitchFamily="34" charset="0"/>
              </a:rPr>
              <a:t> 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 = </a:t>
            </a:r>
            <a:r>
              <a:rPr lang="es-ES" sz="1200" b="0" dirty="0" err="1">
                <a:latin typeface="Candara" panose="020E0502030303020204" pitchFamily="34" charset="0"/>
              </a:rPr>
              <a:t>require</a:t>
            </a:r>
            <a:r>
              <a:rPr lang="es-ES" sz="1200" b="0" dirty="0">
                <a:latin typeface="Candara" panose="020E0502030303020204" pitchFamily="34" charset="0"/>
              </a:rPr>
              <a:t>('@</a:t>
            </a:r>
            <a:r>
              <a:rPr lang="es-ES" sz="1200" b="0" dirty="0" err="1">
                <a:latin typeface="Candara" panose="020E0502030303020204" pitchFamily="34" charset="0"/>
              </a:rPr>
              <a:t>actions</a:t>
            </a:r>
            <a:r>
              <a:rPr lang="es-ES" sz="1200" b="0" dirty="0">
                <a:latin typeface="Candara" panose="020E0502030303020204" pitchFamily="34" charset="0"/>
              </a:rPr>
              <a:t>/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');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 err="1">
                <a:latin typeface="Candara" panose="020E0502030303020204" pitchFamily="34" charset="0"/>
              </a:rPr>
              <a:t>require</a:t>
            </a:r>
            <a:r>
              <a:rPr lang="es-ES" sz="1200" dirty="0">
                <a:latin typeface="Candara" panose="020E0502030303020204" pitchFamily="34" charset="0"/>
              </a:rPr>
              <a:t>('@</a:t>
            </a:r>
            <a:r>
              <a:rPr lang="es-ES" sz="1200" dirty="0" err="1">
                <a:latin typeface="Candara" panose="020E0502030303020204" pitchFamily="34" charset="0"/>
              </a:rPr>
              <a:t>actions</a:t>
            </a:r>
            <a:r>
              <a:rPr lang="es-ES" sz="1200" dirty="0">
                <a:latin typeface="Candara" panose="020E0502030303020204" pitchFamily="34" charset="0"/>
              </a:rPr>
              <a:t>/</a:t>
            </a:r>
            <a:r>
              <a:rPr lang="es-ES" sz="1200" dirty="0" err="1">
                <a:latin typeface="Candara" panose="020E0502030303020204" pitchFamily="34" charset="0"/>
              </a:rPr>
              <a:t>core</a:t>
            </a:r>
            <a:r>
              <a:rPr lang="es-ES" sz="1200" dirty="0">
                <a:latin typeface="Candara" panose="020E0502030303020204" pitchFamily="34" charset="0"/>
              </a:rPr>
              <a:t>') → importa la librería oficial de GitHub </a:t>
            </a:r>
            <a:r>
              <a:rPr lang="es-ES" sz="1200" dirty="0" err="1">
                <a:latin typeface="Candara" panose="020E0502030303020204" pitchFamily="34" charset="0"/>
              </a:rPr>
              <a:t>Actions</a:t>
            </a:r>
            <a:r>
              <a:rPr lang="es-ES" sz="1200" dirty="0">
                <a:latin typeface="Candara" panose="020E0502030303020204" pitchFamily="34" charset="0"/>
              </a:rPr>
              <a:t> para </a:t>
            </a:r>
            <a:r>
              <a:rPr lang="es-ES" sz="1200" dirty="0" err="1">
                <a:latin typeface="Candara" panose="020E0502030303020204" pitchFamily="34" charset="0"/>
              </a:rPr>
              <a:t>Node.js</a:t>
            </a:r>
            <a:r>
              <a:rPr lang="es-ES" sz="1200" dirty="0">
                <a:latin typeface="Candara" panose="020E0502030303020204" pitchFamily="34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 err="1">
                <a:latin typeface="Candara" panose="020E0502030303020204" pitchFamily="34" charset="0"/>
              </a:rPr>
              <a:t>const</a:t>
            </a:r>
            <a:r>
              <a:rPr lang="es-ES" sz="1200" dirty="0">
                <a:latin typeface="Candara" panose="020E0502030303020204" pitchFamily="34" charset="0"/>
              </a:rPr>
              <a:t> </a:t>
            </a:r>
            <a:r>
              <a:rPr lang="es-ES" sz="1200" dirty="0" err="1">
                <a:latin typeface="Candara" panose="020E0502030303020204" pitchFamily="34" charset="0"/>
              </a:rPr>
              <a:t>core</a:t>
            </a:r>
            <a:r>
              <a:rPr lang="es-ES" sz="1200" dirty="0">
                <a:latin typeface="Candara" panose="020E0502030303020204" pitchFamily="34" charset="0"/>
              </a:rPr>
              <a:t> = ... → guarda esa librería en una variable llamada </a:t>
            </a:r>
            <a:r>
              <a:rPr lang="es-ES" sz="1200" dirty="0" err="1">
                <a:latin typeface="Candara" panose="020E0502030303020204" pitchFamily="34" charset="0"/>
              </a:rPr>
              <a:t>core</a:t>
            </a:r>
            <a:r>
              <a:rPr lang="es-ES" sz="1200" dirty="0">
                <a:latin typeface="Candara" panose="020E0502030303020204" pitchFamily="34" charset="0"/>
              </a:rPr>
              <a:t>.</a:t>
            </a:r>
          </a:p>
          <a:p>
            <a:pPr lvl="1"/>
            <a:endParaRPr lang="es-ES" sz="120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200" b="0" dirty="0" err="1">
                <a:latin typeface="Candara" panose="020E0502030303020204" pitchFamily="34" charset="0"/>
              </a:rPr>
              <a:t>core.setOutput</a:t>
            </a:r>
            <a:r>
              <a:rPr lang="es-ES" sz="1200" b="0" dirty="0">
                <a:latin typeface="Candara" panose="020E0502030303020204" pitchFamily="34" charset="0"/>
              </a:rPr>
              <a:t>("saludo", "Hola Mundo");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>
                <a:latin typeface="Candara" panose="020E0502030303020204" pitchFamily="34" charset="0"/>
              </a:rPr>
              <a:t>Llama a la función </a:t>
            </a:r>
            <a:r>
              <a:rPr lang="es-ES" sz="1200" dirty="0" err="1">
                <a:latin typeface="Candara" panose="020E0502030303020204" pitchFamily="34" charset="0"/>
              </a:rPr>
              <a:t>setOutput</a:t>
            </a:r>
            <a:r>
              <a:rPr lang="es-ES" sz="1200" dirty="0">
                <a:latin typeface="Candara" panose="020E0502030303020204" pitchFamily="34" charset="0"/>
              </a:rPr>
              <a:t> de esa librería.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>
                <a:latin typeface="Candara" panose="020E0502030303020204" pitchFamily="34" charset="0"/>
              </a:rPr>
              <a:t>"saludo" → nombre del output.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>
                <a:latin typeface="Candara" panose="020E0502030303020204" pitchFamily="34" charset="0"/>
              </a:rPr>
              <a:t>"Hola Mundo" → valor del output que queremos compartir con otros </a:t>
            </a:r>
            <a:r>
              <a:rPr lang="es-ES" sz="1200" dirty="0" err="1">
                <a:latin typeface="Candara" panose="020E0502030303020204" pitchFamily="34" charset="0"/>
              </a:rPr>
              <a:t>steps</a:t>
            </a:r>
            <a:r>
              <a:rPr lang="es-ES" sz="1200" dirty="0">
                <a:latin typeface="Candara" panose="020E0502030303020204" pitchFamily="34" charset="0"/>
              </a:rPr>
              <a:t>.</a:t>
            </a:r>
          </a:p>
          <a:p>
            <a:pPr lvl="1"/>
            <a:endParaRPr lang="es-ES" sz="1200" dirty="0">
              <a:latin typeface="Candara" panose="020E0502030303020204" pitchFamily="34" charset="0"/>
            </a:endParaRPr>
          </a:p>
          <a:p>
            <a:r>
              <a:rPr lang="es-ES" sz="1200" b="0" dirty="0">
                <a:latin typeface="Candara" panose="020E0502030303020204" pitchFamily="34" charset="0"/>
              </a:rPr>
              <a:t>Ejemplo de uso en </a:t>
            </a:r>
            <a:r>
              <a:rPr lang="es-ES" sz="1200" b="0" dirty="0" err="1">
                <a:latin typeface="Candara" panose="020E0502030303020204" pitchFamily="34" charset="0"/>
              </a:rPr>
              <a:t>workflow</a:t>
            </a:r>
            <a:r>
              <a:rPr lang="es-ES" sz="1200" b="0" dirty="0">
                <a:latin typeface="Candara" panose="020E0502030303020204" pitchFamily="34" charset="0"/>
              </a:rPr>
              <a:t>:</a:t>
            </a:r>
          </a:p>
          <a:p>
            <a:pPr marL="171450" indent="-171450" rtl="0">
              <a:buFontTx/>
              <a:buChar char="-"/>
            </a:pPr>
            <a:r>
              <a:rPr lang="es-ES" sz="1200" b="0" dirty="0">
                <a:latin typeface="Candara" panose="020E0502030303020204" pitchFamily="34" charset="0"/>
              </a:rPr>
              <a:t>uses: ./mi-</a:t>
            </a:r>
            <a:r>
              <a:rPr lang="es-ES" sz="1200" b="0" dirty="0" err="1">
                <a:latin typeface="Candara" panose="020E0502030303020204" pitchFamily="34" charset="0"/>
              </a:rPr>
              <a:t>action</a:t>
            </a:r>
            <a:r>
              <a:rPr lang="es-ES" sz="1200" b="0" dirty="0">
                <a:latin typeface="Candara" panose="020E0502030303020204" pitchFamily="34" charset="0"/>
              </a:rPr>
              <a:t> </a:t>
            </a:r>
          </a:p>
          <a:p>
            <a:pPr rtl="0"/>
            <a:r>
              <a:rPr lang="es-ES" sz="1200" b="0" dirty="0">
                <a:latin typeface="Candara" panose="020E0502030303020204" pitchFamily="34" charset="0"/>
              </a:rPr>
              <a:t>      id: </a:t>
            </a:r>
            <a:r>
              <a:rPr lang="es-ES" sz="1200" b="0" dirty="0" err="1">
                <a:latin typeface="Candara" panose="020E0502030303020204" pitchFamily="34" charset="0"/>
              </a:rPr>
              <a:t>mi_accion</a:t>
            </a:r>
            <a:r>
              <a:rPr lang="es-ES" sz="1200" b="0" dirty="0">
                <a:latin typeface="Candara" panose="020E0502030303020204" pitchFamily="34" charset="0"/>
              </a:rPr>
              <a:t> - run: echo "${{ </a:t>
            </a:r>
            <a:r>
              <a:rPr lang="es-ES" sz="1200" b="0" dirty="0" err="1">
                <a:latin typeface="Candara" panose="020E0502030303020204" pitchFamily="34" charset="0"/>
              </a:rPr>
              <a:t>steps.mi_accion.outputs.saludo</a:t>
            </a:r>
            <a:r>
              <a:rPr lang="es-ES" sz="1200" b="0" dirty="0">
                <a:latin typeface="Candara" panose="020E0502030303020204" pitchFamily="34" charset="0"/>
              </a:rPr>
              <a:t> }}" </a:t>
            </a:r>
          </a:p>
          <a:p>
            <a:pPr rtl="0"/>
            <a:endParaRPr lang="es-ES" sz="1200" b="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b="0" dirty="0">
                <a:latin typeface="Candara" panose="020E0502030303020204" pitchFamily="34" charset="0"/>
              </a:rPr>
              <a:t>Esto imprimiría: Hola Mundo!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b="0" dirty="0">
                <a:latin typeface="Candara" panose="020E0502030303020204" pitchFamily="34" charset="0"/>
              </a:rPr>
              <a:t>Funciona igual que la versión de </a:t>
            </a:r>
            <a:r>
              <a:rPr lang="es-ES" sz="1200" b="0" dirty="0" err="1">
                <a:latin typeface="Candara" panose="020E0502030303020204" pitchFamily="34" charset="0"/>
              </a:rPr>
              <a:t>shell</a:t>
            </a:r>
            <a:r>
              <a:rPr lang="es-ES" sz="1200" b="0" dirty="0">
                <a:latin typeface="Candara" panose="020E0502030303020204" pitchFamily="34" charset="0"/>
              </a:rPr>
              <a:t>, pero es más limpia y estándar para acciones en JavaScript.</a:t>
            </a:r>
          </a:p>
          <a:p>
            <a:endParaRPr lang="es-ES_tradnl" sz="1200" b="0" dirty="0">
              <a:latin typeface="Candara" panose="020E0502030303020204" pitchFamily="34" charset="0"/>
            </a:endParaRPr>
          </a:p>
        </p:txBody>
      </p:sp>
      <p:pic>
        <p:nvPicPr>
          <p:cNvPr id="13314" name="Picture 2" descr="javascript logo png, javascript icon transparent png ...">
            <a:extLst>
              <a:ext uri="{FF2B5EF4-FFF2-40B4-BE49-F238E27FC236}">
                <a16:creationId xmlns:a16="http://schemas.microsoft.com/office/drawing/2014/main" id="{289E70C2-0184-6AE9-6015-8BD398F6F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90750"/>
            <a:ext cx="196215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2635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88423-1AEF-D2F7-4322-48DA0AEF0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5074"/>
            <a:ext cx="2886504" cy="584775"/>
          </a:xfrm>
        </p:spPr>
        <p:txBody>
          <a:bodyPr/>
          <a:lstStyle/>
          <a:p>
            <a:r>
              <a:rPr lang="es-ES_tradnl" dirty="0" err="1">
                <a:latin typeface="Candara" panose="020E0502030303020204" pitchFamily="34" charset="0"/>
              </a:rPr>
              <a:t>Artifacts</a:t>
            </a:r>
            <a:endParaRPr lang="es-ES_tradnl" dirty="0">
              <a:latin typeface="Candara" panose="020E0502030303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6E1A61-71B8-F6EE-46E2-DB6122813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43400" y="275074"/>
            <a:ext cx="4238384" cy="1723549"/>
          </a:xfrm>
        </p:spPr>
        <p:txBody>
          <a:bodyPr/>
          <a:lstStyle/>
          <a:p>
            <a:r>
              <a:rPr lang="es-ES_tradnl" sz="1600" b="0" dirty="0">
                <a:latin typeface="Candara" panose="020E0502030303020204" pitchFamily="34" charset="0"/>
              </a:rPr>
              <a:t>En este caso, son archivos completos (reportes .</a:t>
            </a:r>
            <a:r>
              <a:rPr lang="es-ES_tradnl" sz="1600" b="0" dirty="0" err="1">
                <a:latin typeface="Candara" panose="020E0502030303020204" pitchFamily="34" charset="0"/>
              </a:rPr>
              <a:t>txt</a:t>
            </a:r>
            <a:r>
              <a:rPr lang="es-ES_tradnl" sz="1600" b="0" dirty="0">
                <a:latin typeface="Candara" panose="020E0502030303020204" pitchFamily="34" charset="0"/>
              </a:rPr>
              <a:t>, binarios, logs…) que se suben al almacenamiento de </a:t>
            </a:r>
            <a:r>
              <a:rPr lang="es-ES_tradnl" sz="1600" b="0" dirty="0" err="1">
                <a:latin typeface="Candara" panose="020E0502030303020204" pitchFamily="34" charset="0"/>
              </a:rPr>
              <a:t>Github</a:t>
            </a:r>
            <a:r>
              <a:rPr lang="es-ES_tradnl" sz="1600" b="0" dirty="0">
                <a:latin typeface="Candara" panose="020E0502030303020204" pitchFamily="34" charset="0"/>
              </a:rPr>
              <a:t> para ser usados por otros Jobs o descargados por el usuario</a:t>
            </a:r>
          </a:p>
          <a:p>
            <a:endParaRPr lang="es-ES_tradnl" sz="1600" b="0" dirty="0">
              <a:latin typeface="Candara" panose="020E0502030303020204" pitchFamily="34" charset="0"/>
            </a:endParaRPr>
          </a:p>
          <a:p>
            <a:r>
              <a:rPr lang="es-ES_tradnl" sz="1600" b="0" dirty="0">
                <a:latin typeface="Candara" panose="020E0502030303020204" pitchFamily="34" charset="0"/>
              </a:rPr>
              <a:t>Se utiliza una Action como </a:t>
            </a:r>
            <a:r>
              <a:rPr lang="es-ES_tradnl" sz="1600" b="0" dirty="0" err="1">
                <a:latin typeface="Candara" panose="020E0502030303020204" pitchFamily="34" charset="0"/>
              </a:rPr>
              <a:t>upload-artifact</a:t>
            </a:r>
            <a:r>
              <a:rPr lang="es-ES_tradnl" sz="1600" b="0" dirty="0">
                <a:latin typeface="Candara" panose="020E0502030303020204" pitchFamily="34" charset="0"/>
              </a:rPr>
              <a:t> / </a:t>
            </a:r>
            <a:r>
              <a:rPr lang="es-ES_tradnl" sz="1600" b="0" dirty="0" err="1">
                <a:latin typeface="Candara" panose="020E0502030303020204" pitchFamily="34" charset="0"/>
              </a:rPr>
              <a:t>download-artifact</a:t>
            </a:r>
            <a:r>
              <a:rPr lang="es-ES_tradnl" sz="1600" b="0" dirty="0">
                <a:latin typeface="Candara" panose="020E0502030303020204" pitchFamily="34" charset="0"/>
              </a:rPr>
              <a:t> para poder llamarlos.</a:t>
            </a:r>
          </a:p>
        </p:txBody>
      </p:sp>
      <p:pic>
        <p:nvPicPr>
          <p:cNvPr id="5" name="Imagen 4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6E19BE9B-DBBF-E2D7-B7BC-E554A7140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251146"/>
            <a:ext cx="5486400" cy="2705724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2BBD459-7C1D-FBD8-0494-2E1BD66871D9}"/>
              </a:ext>
            </a:extLst>
          </p:cNvPr>
          <p:cNvCxnSpPr/>
          <p:nvPr/>
        </p:nvCxnSpPr>
        <p:spPr>
          <a:xfrm>
            <a:off x="609600" y="2647950"/>
            <a:ext cx="2362200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108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3300" y="2119375"/>
            <a:ext cx="1898900" cy="597599"/>
          </a:xfrm>
          <a:custGeom>
            <a:avLst/>
            <a:gdLst/>
            <a:ahLst/>
            <a:cxnLst/>
            <a:rect l="l" t="t" r="r" b="b"/>
            <a:pathLst>
              <a:path w="2213610" h="701039">
                <a:moveTo>
                  <a:pt x="2213336" y="701039"/>
                </a:moveTo>
                <a:lnTo>
                  <a:pt x="0" y="701039"/>
                </a:lnTo>
                <a:lnTo>
                  <a:pt x="0" y="0"/>
                </a:lnTo>
                <a:lnTo>
                  <a:pt x="2213336" y="0"/>
                </a:lnTo>
                <a:lnTo>
                  <a:pt x="2213336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478726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Outputs</a:t>
            </a:r>
            <a:r>
              <a:rPr dirty="0"/>
              <a:t> </a:t>
            </a:r>
            <a:r>
              <a:rPr lang="es-ES" dirty="0">
                <a:solidFill>
                  <a:schemeClr val="bg1"/>
                </a:solidFill>
              </a:rPr>
              <a:t>de</a:t>
            </a:r>
            <a:r>
              <a:rPr lang="es-ES" dirty="0"/>
              <a:t> </a:t>
            </a:r>
            <a:r>
              <a:rPr dirty="0" err="1">
                <a:solidFill>
                  <a:schemeClr val="bg1"/>
                </a:solidFill>
              </a:rPr>
              <a:t>ejemplo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68893"/>
            <a:ext cx="1565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Outputs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555523" y="1423657"/>
            <a:ext cx="7819390" cy="3017520"/>
          </a:xfrm>
          <a:custGeom>
            <a:avLst/>
            <a:gdLst/>
            <a:ahLst/>
            <a:cxnLst/>
            <a:rect l="l" t="t" r="r" b="b"/>
            <a:pathLst>
              <a:path w="7819390" h="3017520">
                <a:moveTo>
                  <a:pt x="7819390" y="2194560"/>
                </a:moveTo>
                <a:lnTo>
                  <a:pt x="3429558" y="2194560"/>
                </a:lnTo>
                <a:lnTo>
                  <a:pt x="3429558" y="1920240"/>
                </a:lnTo>
                <a:lnTo>
                  <a:pt x="1920544" y="1920240"/>
                </a:lnTo>
                <a:lnTo>
                  <a:pt x="1920544" y="1645920"/>
                </a:lnTo>
                <a:lnTo>
                  <a:pt x="4801374" y="1645920"/>
                </a:lnTo>
                <a:lnTo>
                  <a:pt x="4801374" y="1371600"/>
                </a:lnTo>
                <a:lnTo>
                  <a:pt x="2743644" y="1371600"/>
                </a:lnTo>
                <a:lnTo>
                  <a:pt x="2743644" y="1097280"/>
                </a:lnTo>
                <a:lnTo>
                  <a:pt x="1371815" y="1097280"/>
                </a:lnTo>
                <a:lnTo>
                  <a:pt x="1371815" y="822960"/>
                </a:lnTo>
                <a:lnTo>
                  <a:pt x="3566731" y="822960"/>
                </a:lnTo>
                <a:lnTo>
                  <a:pt x="3566731" y="548640"/>
                </a:lnTo>
                <a:lnTo>
                  <a:pt x="4527016" y="548640"/>
                </a:lnTo>
                <a:lnTo>
                  <a:pt x="4527016" y="274320"/>
                </a:lnTo>
                <a:lnTo>
                  <a:pt x="1646186" y="274320"/>
                </a:lnTo>
                <a:lnTo>
                  <a:pt x="1646186" y="0"/>
                </a:lnTo>
                <a:lnTo>
                  <a:pt x="0" y="0"/>
                </a:lnTo>
                <a:lnTo>
                  <a:pt x="0" y="274320"/>
                </a:lnTo>
                <a:lnTo>
                  <a:pt x="0" y="548640"/>
                </a:lnTo>
                <a:lnTo>
                  <a:pt x="0" y="3017520"/>
                </a:lnTo>
                <a:lnTo>
                  <a:pt x="7133476" y="3017520"/>
                </a:lnTo>
                <a:lnTo>
                  <a:pt x="7133476" y="2743200"/>
                </a:lnTo>
                <a:lnTo>
                  <a:pt x="6859117" y="2743200"/>
                </a:lnTo>
                <a:lnTo>
                  <a:pt x="6859117" y="2468880"/>
                </a:lnTo>
                <a:lnTo>
                  <a:pt x="7819390" y="2468880"/>
                </a:lnTo>
                <a:lnTo>
                  <a:pt x="7819390" y="2194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2825" y="1127485"/>
            <a:ext cx="784352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561340" marR="3296285">
              <a:lnSpc>
                <a:spcPct val="100000"/>
              </a:lnSpc>
              <a:tabLst>
                <a:tab pos="1384300" algn="l"/>
              </a:tabLst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	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1800" spc="-3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18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 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id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1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get-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endParaRPr sz="1800">
              <a:latin typeface="Courier New"/>
              <a:cs typeface="Courier New"/>
            </a:endParaRPr>
          </a:p>
          <a:p>
            <a:pPr marL="1109980" marR="3021965">
              <a:lnSpc>
                <a:spcPct val="100000"/>
              </a:lnSpc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Grab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current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time 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|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curTime=$(date)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"currenttime=${curTime}"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&gt;&gt;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$GITHUB_OUTPUT</a:t>
            </a:r>
            <a:endParaRPr sz="180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from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early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1800" spc="-1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is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18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steps.get-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time.outputs.currenttime</a:t>
            </a:r>
            <a:r>
              <a:rPr sz="1800" spc="-4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}}"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800" y="709649"/>
            <a:ext cx="1640839" cy="40068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10" dirty="0">
                <a:latin typeface="Courier New"/>
                <a:cs typeface="Courier New"/>
              </a:rPr>
              <a:t>outputs.yaml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68893"/>
            <a:ext cx="1565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Outputs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555523" y="1423657"/>
            <a:ext cx="7819390" cy="3017520"/>
          </a:xfrm>
          <a:custGeom>
            <a:avLst/>
            <a:gdLst/>
            <a:ahLst/>
            <a:cxnLst/>
            <a:rect l="l" t="t" r="r" b="b"/>
            <a:pathLst>
              <a:path w="7819390" h="3017520">
                <a:moveTo>
                  <a:pt x="7819390" y="2194560"/>
                </a:moveTo>
                <a:lnTo>
                  <a:pt x="3429558" y="2194560"/>
                </a:lnTo>
                <a:lnTo>
                  <a:pt x="3429558" y="1920240"/>
                </a:lnTo>
                <a:lnTo>
                  <a:pt x="1920544" y="1920240"/>
                </a:lnTo>
                <a:lnTo>
                  <a:pt x="1920544" y="1645920"/>
                </a:lnTo>
                <a:lnTo>
                  <a:pt x="4801374" y="1645920"/>
                </a:lnTo>
                <a:lnTo>
                  <a:pt x="4801374" y="1371600"/>
                </a:lnTo>
                <a:lnTo>
                  <a:pt x="2743644" y="1371600"/>
                </a:lnTo>
                <a:lnTo>
                  <a:pt x="2743644" y="1097280"/>
                </a:lnTo>
                <a:lnTo>
                  <a:pt x="1371815" y="1097280"/>
                </a:lnTo>
                <a:lnTo>
                  <a:pt x="1371815" y="822960"/>
                </a:lnTo>
                <a:lnTo>
                  <a:pt x="3566731" y="822960"/>
                </a:lnTo>
                <a:lnTo>
                  <a:pt x="3566731" y="548640"/>
                </a:lnTo>
                <a:lnTo>
                  <a:pt x="4527016" y="548640"/>
                </a:lnTo>
                <a:lnTo>
                  <a:pt x="4527016" y="274320"/>
                </a:lnTo>
                <a:lnTo>
                  <a:pt x="1646186" y="274320"/>
                </a:lnTo>
                <a:lnTo>
                  <a:pt x="1646186" y="0"/>
                </a:lnTo>
                <a:lnTo>
                  <a:pt x="0" y="0"/>
                </a:lnTo>
                <a:lnTo>
                  <a:pt x="0" y="274320"/>
                </a:lnTo>
                <a:lnTo>
                  <a:pt x="0" y="548640"/>
                </a:lnTo>
                <a:lnTo>
                  <a:pt x="0" y="3017520"/>
                </a:lnTo>
                <a:lnTo>
                  <a:pt x="7133476" y="3017520"/>
                </a:lnTo>
                <a:lnTo>
                  <a:pt x="7133476" y="2743200"/>
                </a:lnTo>
                <a:lnTo>
                  <a:pt x="6859117" y="2743200"/>
                </a:lnTo>
                <a:lnTo>
                  <a:pt x="6859117" y="2468880"/>
                </a:lnTo>
                <a:lnTo>
                  <a:pt x="7819390" y="2468880"/>
                </a:lnTo>
                <a:lnTo>
                  <a:pt x="7819390" y="2194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2825" y="1127485"/>
            <a:ext cx="784352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561340" marR="3296285">
              <a:lnSpc>
                <a:spcPct val="100000"/>
              </a:lnSpc>
              <a:tabLst>
                <a:tab pos="1384300" algn="l"/>
              </a:tabLst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	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1800" spc="-3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18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 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id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1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get-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endParaRPr sz="1800" dirty="0">
              <a:latin typeface="Courier New"/>
              <a:cs typeface="Courier New"/>
            </a:endParaRPr>
          </a:p>
          <a:p>
            <a:pPr marL="1109980" marR="3021965">
              <a:lnSpc>
                <a:spcPct val="100000"/>
              </a:lnSpc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Grab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current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time 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|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curTime=$(date)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"currenttime=${curTime}"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&gt;&gt;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$GITHUB_OUTPUT</a:t>
            </a:r>
            <a:endParaRPr sz="1800" dirty="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from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early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1800" spc="-1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is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18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steps.get-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time.outputs.currenttime</a:t>
            </a:r>
            <a:r>
              <a:rPr sz="1800" spc="-4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}}"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800" y="709649"/>
            <a:ext cx="1640839" cy="40068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10" dirty="0">
                <a:latin typeface="Courier New"/>
                <a:cs typeface="Courier New"/>
              </a:rPr>
              <a:t>outputs.yaml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0DACF2-3E94-67AE-BF5C-131EAA1B12E9}"/>
              </a:ext>
            </a:extLst>
          </p:cNvPr>
          <p:cNvSpPr txBox="1"/>
          <p:nvPr/>
        </p:nvSpPr>
        <p:spPr>
          <a:xfrm>
            <a:off x="2116336" y="741002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9234E9E-5862-2D56-850B-750C62914927}"/>
              </a:ext>
            </a:extLst>
          </p:cNvPr>
          <p:cNvSpPr txBox="1"/>
          <p:nvPr/>
        </p:nvSpPr>
        <p:spPr>
          <a:xfrm>
            <a:off x="4038600" y="3181350"/>
            <a:ext cx="3886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50" dirty="0">
                <a:latin typeface="Candara" panose="020E0502030303020204" pitchFamily="34" charset="0"/>
              </a:rPr>
              <a:t>Te da la fecha y hora actual y la guardas como </a:t>
            </a:r>
            <a:r>
              <a:rPr lang="es-ES_tradnl" sz="1050" dirty="0" err="1">
                <a:latin typeface="Candara" panose="020E0502030303020204" pitchFamily="34" charset="0"/>
              </a:rPr>
              <a:t>curTime</a:t>
            </a:r>
            <a:r>
              <a:rPr lang="es-ES_tradnl" sz="1050" dirty="0">
                <a:latin typeface="Candara" panose="020E0502030303020204" pitchFamily="34" charset="0"/>
              </a:rPr>
              <a:t>, y luego la exportas como </a:t>
            </a:r>
            <a:r>
              <a:rPr lang="es-ES_tradnl" sz="1050" b="1" dirty="0" err="1">
                <a:latin typeface="Candara" panose="020E0502030303020204" pitchFamily="34" charset="0"/>
              </a:rPr>
              <a:t>currenttime</a:t>
            </a:r>
            <a:endParaRPr lang="es-ES_tradnl" sz="1050" b="1" dirty="0">
              <a:latin typeface="Candara" panose="020E0502030303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B2E0D9-59E4-13EC-8B7E-7E7DB25444EB}"/>
              </a:ext>
            </a:extLst>
          </p:cNvPr>
          <p:cNvSpPr txBox="1"/>
          <p:nvPr/>
        </p:nvSpPr>
        <p:spPr>
          <a:xfrm>
            <a:off x="2286000" y="4469615"/>
            <a:ext cx="51816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Entras en el contexto de </a:t>
            </a:r>
            <a:r>
              <a:rPr lang="es-ES" sz="1050" dirty="0" err="1">
                <a:latin typeface="Candara" panose="020E0502030303020204" pitchFamily="34" charset="0"/>
              </a:rPr>
              <a:t>steps</a:t>
            </a:r>
            <a:r>
              <a:rPr lang="es-ES" sz="1050" dirty="0">
                <a:latin typeface="Candara" panose="020E0502030303020204" pitchFamily="34" charset="0"/>
              </a:rPr>
              <a:t>, accedes al step </a:t>
            </a:r>
            <a:r>
              <a:rPr lang="es-ES" sz="1050" dirty="0" err="1">
                <a:latin typeface="Candara" panose="020E0502030303020204" pitchFamily="34" charset="0"/>
              </a:rPr>
              <a:t>get</a:t>
            </a:r>
            <a:r>
              <a:rPr lang="es-ES" sz="1050" dirty="0">
                <a:latin typeface="Candara" panose="020E0502030303020204" pitchFamily="34" charset="0"/>
              </a:rPr>
              <a:t>-time, luego a los outputs generados en ese step y específicamente al </a:t>
            </a:r>
            <a:r>
              <a:rPr lang="es-ES" sz="1050" b="1" dirty="0">
                <a:latin typeface="Candara" panose="020E0502030303020204" pitchFamily="34" charset="0"/>
              </a:rPr>
              <a:t>output</a:t>
            </a:r>
            <a:r>
              <a:rPr lang="es-ES" sz="1050" dirty="0">
                <a:latin typeface="Candara" panose="020E0502030303020204" pitchFamily="34" charset="0"/>
              </a:rPr>
              <a:t> llamado </a:t>
            </a:r>
            <a:r>
              <a:rPr lang="es-ES" sz="1050" dirty="0" err="1">
                <a:latin typeface="Candara" panose="020E0502030303020204" pitchFamily="34" charset="0"/>
              </a:rPr>
              <a:t>currenttime</a:t>
            </a:r>
            <a:r>
              <a:rPr lang="es-ES" sz="1050" dirty="0">
                <a:latin typeface="Candara" panose="020E0502030303020204" pitchFamily="34" charset="0"/>
              </a:rPr>
              <a:t>, y finalmente lo muestras por pantalla con echo en el siguiente step.</a:t>
            </a:r>
            <a:endParaRPr lang="es-ES_tradnl" sz="10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7150" y="1123950"/>
            <a:ext cx="4522350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1600" b="0" dirty="0">
                <a:latin typeface="Candara" panose="020E0502030303020204" pitchFamily="34" charset="0"/>
              </a:rPr>
              <a:t>Tres tipos de acciones personalizadas: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Docker: ejecuta código en un contenedor.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JavaScript: usa </a:t>
            </a:r>
            <a:r>
              <a:rPr lang="es-ES" sz="1600" b="0" dirty="0" err="1">
                <a:latin typeface="Candara" panose="020E0502030303020204" pitchFamily="34" charset="0"/>
              </a:rPr>
              <a:t>Node.js</a:t>
            </a:r>
            <a:r>
              <a:rPr lang="es-ES" sz="1600" b="0" dirty="0">
                <a:latin typeface="Candara" panose="020E0502030303020204" pitchFamily="34" charset="0"/>
              </a:rPr>
              <a:t> y @</a:t>
            </a:r>
            <a:r>
              <a:rPr lang="es-ES" sz="1600" b="0" dirty="0" err="1">
                <a:latin typeface="Candara" panose="020E0502030303020204" pitchFamily="34" charset="0"/>
              </a:rPr>
              <a:t>actions</a:t>
            </a:r>
            <a:r>
              <a:rPr lang="es-ES" sz="1600" b="0" dirty="0">
                <a:latin typeface="Candara" panose="020E0502030303020204" pitchFamily="34" charset="0"/>
              </a:rPr>
              <a:t>/</a:t>
            </a:r>
            <a:r>
              <a:rPr lang="es-ES" sz="1600" b="0" dirty="0" err="1">
                <a:latin typeface="Candara" panose="020E0502030303020204" pitchFamily="34" charset="0"/>
              </a:rPr>
              <a:t>core</a:t>
            </a:r>
            <a:r>
              <a:rPr lang="es-ES" sz="1600" b="0" dirty="0">
                <a:latin typeface="Candara" panose="020E0502030303020204" pitchFamily="34" charset="0"/>
              </a:rPr>
              <a:t>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Composite: combina múltiples pasos en una sola acción.</a:t>
            </a:r>
            <a:br>
              <a:rPr lang="es-ES" sz="1600" b="0" dirty="0">
                <a:latin typeface="Candara" panose="020E0502030303020204" pitchFamily="34" charset="0"/>
              </a:rPr>
            </a:b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Almacenamiento: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Guardadas en un repositorio.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Ubicadas en un directorio propio dentro del repo.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Reutilizables en varios </a:t>
            </a:r>
            <a:r>
              <a:rPr lang="es-ES" sz="1600" b="0" dirty="0" err="1">
                <a:latin typeface="Candara" panose="020E0502030303020204" pitchFamily="34" charset="0"/>
              </a:rPr>
              <a:t>workflows</a:t>
            </a:r>
            <a:r>
              <a:rPr lang="es-ES" sz="1600" b="0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451318"/>
            <a:ext cx="1841500" cy="9988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4"/>
              </a:spcBef>
            </a:pPr>
            <a:r>
              <a:rPr sz="3200" b="1" spc="-75" dirty="0">
                <a:latin typeface="Candara" panose="020E0502030303020204" pitchFamily="34" charset="0"/>
                <a:cs typeface="Arial"/>
              </a:rPr>
              <a:t>Custom </a:t>
            </a:r>
            <a:r>
              <a:rPr sz="3200" b="1" spc="-10" dirty="0">
                <a:latin typeface="Candara" panose="020E0502030303020204" pitchFamily="34" charset="0"/>
                <a:cs typeface="Arial"/>
              </a:rPr>
              <a:t>actions</a:t>
            </a:r>
            <a:endParaRPr sz="3200" dirty="0">
              <a:latin typeface="Candara" panose="020E0502030303020204" pitchFamily="34" charset="0"/>
              <a:cs typeface="Arial"/>
            </a:endParaRPr>
          </a:p>
        </p:txBody>
      </p:sp>
      <p:pic>
        <p:nvPicPr>
          <p:cNvPr id="14338" name="Picture 2" descr="Docker Logo and symbol, meaning, history, PNG, brand">
            <a:extLst>
              <a:ext uri="{FF2B5EF4-FFF2-40B4-BE49-F238E27FC236}">
                <a16:creationId xmlns:a16="http://schemas.microsoft.com/office/drawing/2014/main" id="{3A8DE0B5-9890-80D4-46DC-6C38733B8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96" y="2175381"/>
            <a:ext cx="274320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726055" cy="61106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Resumen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98462" rIns="0" bIns="0" rtlCol="0">
            <a:spAutoFit/>
          </a:bodyPr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GitHub Actions?</a:t>
            </a:r>
          </a:p>
          <a:p>
            <a:r>
              <a:rPr dirty="0" err="1"/>
              <a:t>Componentes</a:t>
            </a:r>
            <a:r>
              <a:rPr dirty="0"/>
              <a:t> de GitHub Actions</a:t>
            </a:r>
          </a:p>
          <a:p>
            <a:r>
              <a:rPr dirty="0" err="1"/>
              <a:t>Componentes</a:t>
            </a:r>
            <a:r>
              <a:rPr dirty="0"/>
              <a:t> de a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trabajo</a:t>
            </a:r>
            <a:endParaRPr dirty="0"/>
          </a:p>
          <a:p>
            <a:r>
              <a:rPr dirty="0"/>
              <a:t>Built </a:t>
            </a:r>
            <a:r>
              <a:rPr dirty="0" err="1"/>
              <a:t>nuestro</a:t>
            </a:r>
            <a:r>
              <a:rPr dirty="0"/>
              <a:t> primer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trabajo</a:t>
            </a:r>
            <a:endParaRPr dirty="0"/>
          </a:p>
          <a:p>
            <a:r>
              <a:rPr dirty="0" err="1"/>
              <a:t>Componentes</a:t>
            </a:r>
            <a:r>
              <a:rPr dirty="0"/>
              <a:t> de a </a:t>
            </a:r>
            <a:r>
              <a:rPr dirty="0" err="1"/>
              <a:t>cusam</a:t>
            </a:r>
            <a:r>
              <a:rPr dirty="0"/>
              <a:t> </a:t>
            </a:r>
            <a:r>
              <a:rPr dirty="0" err="1"/>
              <a:t>acción</a:t>
            </a:r>
            <a:endParaRPr dirty="0"/>
          </a:p>
          <a:p>
            <a:r>
              <a:rPr dirty="0"/>
              <a:t>Built </a:t>
            </a:r>
            <a:r>
              <a:rPr dirty="0" err="1"/>
              <a:t>nuestro</a:t>
            </a:r>
            <a:r>
              <a:rPr dirty="0"/>
              <a:t> primer </a:t>
            </a:r>
            <a:r>
              <a:rPr dirty="0" err="1"/>
              <a:t>cusam</a:t>
            </a:r>
            <a:r>
              <a:rPr dirty="0"/>
              <a:t> </a:t>
            </a:r>
            <a:r>
              <a:rPr dirty="0" err="1"/>
              <a:t>acción</a:t>
            </a:r>
            <a:endParaRPr dirty="0"/>
          </a:p>
          <a:p>
            <a:r>
              <a:rPr dirty="0" err="1"/>
              <a:t>Advertencias</a:t>
            </a:r>
            <a:r>
              <a:rPr dirty="0"/>
              <a:t> y gotchas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57172" y="1837462"/>
            <a:ext cx="2800350" cy="2282190"/>
            <a:chOff x="257172" y="1837462"/>
            <a:chExt cx="2800350" cy="228219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172" y="1837462"/>
              <a:ext cx="2800025" cy="22821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197" y="2018437"/>
              <a:ext cx="2399975" cy="1882124"/>
            </a:xfrm>
            <a:prstGeom prst="rect">
              <a:avLst/>
            </a:prstGeom>
          </p:spPr>
        </p:pic>
      </p:grpSp>
      <p:sp>
        <p:nvSpPr>
          <p:cNvPr id="11" name="object 7">
            <a:extLst>
              <a:ext uri="{FF2B5EF4-FFF2-40B4-BE49-F238E27FC236}">
                <a16:creationId xmlns:a16="http://schemas.microsoft.com/office/drawing/2014/main" id="{02D0290F-2ACD-9C8B-134F-0EFA994220A8}"/>
              </a:ext>
            </a:extLst>
          </p:cNvPr>
          <p:cNvSpPr txBox="1">
            <a:spLocks/>
          </p:cNvSpPr>
          <p:nvPr/>
        </p:nvSpPr>
        <p:spPr>
          <a:xfrm>
            <a:off x="4275574" y="831531"/>
            <a:ext cx="3818254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800" b="1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¿Qué es GitHub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Actions</a:t>
            </a:r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?</a:t>
            </a: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Componentes de GitHub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Actions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Componentes de a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workflow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Crear nuestro primer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workflow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Componentes de una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custom</a:t>
            </a:r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Crear nuestro primer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custom</a:t>
            </a:r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Advertencias y trucos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2918</TotalTime>
  <Words>2446</Words>
  <Application>Microsoft Macintosh PowerPoint</Application>
  <PresentationFormat>Presentación en pantalla (16:9)</PresentationFormat>
  <Paragraphs>328</Paragraphs>
  <Slides>45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0" baseType="lpstr">
      <vt:lpstr>Aptos</vt:lpstr>
      <vt:lpstr>Arial</vt:lpstr>
      <vt:lpstr>Candara</vt:lpstr>
      <vt:lpstr>Courier New</vt:lpstr>
      <vt:lpstr>Office Theme</vt:lpstr>
      <vt:lpstr>Presentación de PowerPoint</vt:lpstr>
      <vt:lpstr>Contenido</vt:lpstr>
      <vt:lpstr>¿Qué es GitHub Actions?</vt:lpstr>
      <vt:lpstr>GitHub Actions</vt:lpstr>
      <vt:lpstr>Componentes de the GitHub</vt:lpstr>
      <vt:lpstr>GitHub Actions plataform</vt:lpstr>
      <vt:lpstr>Presentación de PowerPoint</vt:lpstr>
      <vt:lpstr>Los componentes</vt:lpstr>
      <vt:lpstr>GitHub Actions plataform</vt:lpstr>
      <vt:lpstr>GitHub Actions plataform</vt:lpstr>
      <vt:lpstr>GitHub Actions plataform</vt:lpstr>
      <vt:lpstr>GitHub Actions plataform</vt:lpstr>
      <vt:lpstr>GitHub Actions plataform</vt:lpstr>
      <vt:lpstr>GitHub Actions plataform</vt:lpstr>
      <vt:lpstr>GitHub Actions plataform</vt:lpstr>
      <vt:lpstr>Our First Workflow</vt:lpstr>
      <vt:lpstr>Our First Workflow</vt:lpstr>
      <vt:lpstr>Profundizando en los componentes del workflow</vt:lpstr>
      <vt:lpstr>Workflow components</vt:lpstr>
      <vt:lpstr>Workflow components</vt:lpstr>
      <vt:lpstr>Nuestro segundo workflow</vt:lpstr>
      <vt:lpstr>second.yaml</vt:lpstr>
      <vt:lpstr>second.yaml</vt:lpstr>
      <vt:lpstr>Hablemos de …        inputs</vt:lpstr>
      <vt:lpstr>Inputs</vt:lpstr>
      <vt:lpstr>+ inputs.&lt;input_id&gt;.description  lo que se le mostrará al usuario</vt:lpstr>
      <vt:lpstr>Nuestro tercer workflow</vt:lpstr>
      <vt:lpstr>third.yaml</vt:lpstr>
      <vt:lpstr>third.yaml</vt:lpstr>
      <vt:lpstr>…y Contexts</vt:lpstr>
      <vt:lpstr>+ Proporciona acceso a información sobre ejecuciones de workflows, variables, runners, jobs y steps. + Expuesto como un objeto que contiene propiedades, que pueden ser cadenas u otros objetos + Doce tipos de contextos + Los tipos de contextos disponibles dependerán del contexto en el que se acceda a ellos   </vt:lpstr>
      <vt:lpstr>Contexts</vt:lpstr>
      <vt:lpstr>…y Gestión</vt:lpstr>
      <vt:lpstr>+ Variables de Entorno (env): Permiten definir valores reutilizables en todo el workflow (ej. Nombre BBDD)     + Secretos (secrets) Datos sensibles que nunca deben de estar en el código (contraseñas, keys…) Github los enmascara directamente con ***   </vt:lpstr>
      <vt:lpstr>Matrix Strategy</vt:lpstr>
      <vt:lpstr>…y outputs</vt:lpstr>
      <vt:lpstr>Outputs</vt:lpstr>
      <vt:lpstr>Outputs</vt:lpstr>
      <vt:lpstr>Output desde JavaScript</vt:lpstr>
      <vt:lpstr>Artifacts</vt:lpstr>
      <vt:lpstr>Outputs de ejemplo</vt:lpstr>
      <vt:lpstr>Outputs</vt:lpstr>
      <vt:lpstr>Outputs</vt:lpstr>
      <vt:lpstr>Tres tipos de acciones personalizadas: Docker: ejecuta código en un contenedor. JavaScript: usa Node.js y @actions/core. Composite: combina múltiples pasos en una sola acción.  Almacenamiento: Guardadas en un repositorio. Ubicadas en un directorio propio dentro del repo. Reutilizables en varios workflows.</vt:lpstr>
      <vt:lpstr>Resumen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your first GitHub action - DrupalCampFL2024</dc:title>
  <cp:lastModifiedBy>Nacho Reyes</cp:lastModifiedBy>
  <cp:revision>8</cp:revision>
  <dcterms:created xsi:type="dcterms:W3CDTF">2025-03-28T18:41:24Z</dcterms:created>
  <dcterms:modified xsi:type="dcterms:W3CDTF">2026-02-10T16:00:10Z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2025-03-28T00:00:00Z</vt:filetime>
  </property>
  <property fmtid="{D5CDD505-2E9C-101B-9397-08002B2CF9AE}" pid="3" name="Creator">
    <vt:lpwstr>Google</vt:lpwstr>
  </property>
  <property fmtid="{D5CDD505-2E9C-101B-9397-08002B2CF9AE}" pid="4" name="LastSaved">
    <vt:filetime>2025-03-28T00:00:00Z</vt:filetime>
  </property>
</Properties>
</file>